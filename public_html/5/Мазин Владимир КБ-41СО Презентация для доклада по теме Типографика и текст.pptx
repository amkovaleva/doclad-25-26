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72" r:id="rId1"/>
  </p:sldMasterIdLst>
  <p:notesMasterIdLst>
    <p:notesMasterId r:id="rId16"/>
  </p:notesMasterIdLst>
  <p:sldIdLst>
    <p:sldId id="256" r:id="rId2"/>
    <p:sldId id="257" r:id="rId3"/>
    <p:sldId id="279" r:id="rId4"/>
    <p:sldId id="280" r:id="rId5"/>
    <p:sldId id="278" r:id="rId6"/>
    <p:sldId id="292" r:id="rId7"/>
    <p:sldId id="285" r:id="rId8"/>
    <p:sldId id="286" r:id="rId9"/>
    <p:sldId id="287" r:id="rId10"/>
    <p:sldId id="288" r:id="rId11"/>
    <p:sldId id="289" r:id="rId12"/>
    <p:sldId id="293" r:id="rId13"/>
    <p:sldId id="290" r:id="rId14"/>
    <p:sldId id="29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5DCB97E-9642-49DA-886B-81A5B4E40808}">
          <p14:sldIdLst>
            <p14:sldId id="256"/>
            <p14:sldId id="257"/>
            <p14:sldId id="279"/>
            <p14:sldId id="280"/>
            <p14:sldId id="278"/>
            <p14:sldId id="292"/>
            <p14:sldId id="285"/>
            <p14:sldId id="286"/>
            <p14:sldId id="287"/>
            <p14:sldId id="288"/>
            <p14:sldId id="289"/>
            <p14:sldId id="293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D06A"/>
    <a:srgbClr val="72A7E8"/>
    <a:srgbClr val="4F92E3"/>
    <a:srgbClr val="9BB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84963" autoAdjust="0"/>
  </p:normalViewPr>
  <p:slideViewPr>
    <p:cSldViewPr snapToGrid="0">
      <p:cViewPr varScale="1">
        <p:scale>
          <a:sx n="109" d="100"/>
          <a:sy n="109" d="100"/>
        </p:scale>
        <p:origin x="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CB742-AF6B-4554-9E00-4A1828EE04E4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F3693-6A64-49DF-A392-2B8EB58981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029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3693-6A64-49DF-A392-2B8EB589813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032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3693-6A64-49DF-A392-2B8EB589813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542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3693-6A64-49DF-A392-2B8EB589813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577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3693-6A64-49DF-A392-2B8EB589813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943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3693-6A64-49DF-A392-2B8EB589813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260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3693-6A64-49DF-A392-2B8EB589813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509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3693-6A64-49DF-A392-2B8EB589813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530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F3693-6A64-49DF-A392-2B8EB589813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746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F3693-6A64-49DF-A392-2B8EB589813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003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F3693-6A64-49DF-A392-2B8EB589813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351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F3693-6A64-49DF-A392-2B8EB589813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722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F3693-6A64-49DF-A392-2B8EB589813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665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F3693-6A64-49DF-A392-2B8EB589813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2579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endParaRPr lang="ru-RU" sz="1200" b="0" dirty="0" smtClean="0">
              <a:solidFill>
                <a:srgbClr val="00B05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F3693-6A64-49DF-A392-2B8EB589813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0542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BCD4-1A98-41B4-A389-E1D705F5A17E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61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D196-79BB-43E8-B8FC-BE9911C9BD91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50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E73F-CDAA-4A69-9D85-C7F4C653AD1E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71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5F108-53DA-4743-B480-40D88B87166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656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35AE-F0EE-47CD-8EE4-02386E85889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56243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1640-C4F3-43DB-A551-C26E2B7F4AAB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69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0E76-9936-484A-9247-E6B508CC8CB3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603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FEA5-9AAD-444D-B435-28FEB4F51481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21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2968-82F9-40BA-891D-DDC1428B1205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262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71E6-ABED-4F9F-9F45-20433B98C40C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253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33AE9-68EE-4876-AC6D-66663ADD0157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48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735AE-F0EE-47CD-8EE4-02386E85889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39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845852" y="2239780"/>
            <a:ext cx="10884023" cy="898068"/>
          </a:xfrm>
        </p:spPr>
        <p:txBody>
          <a:bodyPr>
            <a:normAutofit/>
          </a:bodyPr>
          <a:lstStyle/>
          <a:p>
            <a:r>
              <a:rPr lang="ru-RU" sz="4400" b="1" dirty="0" err="1">
                <a:latin typeface="+mn-lt"/>
                <a:cs typeface="Arial" panose="020B0604020202020204" pitchFamily="34" charset="0"/>
              </a:rPr>
              <a:t>Типографика</a:t>
            </a:r>
            <a:r>
              <a:rPr lang="ru-RU" sz="4400" b="1" dirty="0">
                <a:latin typeface="+mn-lt"/>
                <a:cs typeface="Arial" panose="020B0604020202020204" pitchFamily="34" charset="0"/>
              </a:rPr>
              <a:t> и текст в CSS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22393" y="5070172"/>
            <a:ext cx="3502332" cy="1257733"/>
          </a:xfrm>
        </p:spPr>
        <p:txBody>
          <a:bodyPr>
            <a:normAutofit/>
          </a:bodyPr>
          <a:lstStyle/>
          <a:p>
            <a:pPr algn="r"/>
            <a:r>
              <a:rPr lang="ru-RU" sz="2000" dirty="0" smtClean="0"/>
              <a:t>Доклад подготовил</a:t>
            </a:r>
            <a:r>
              <a:rPr lang="en-US" sz="2000" dirty="0" smtClean="0"/>
              <a:t>:</a:t>
            </a:r>
          </a:p>
          <a:p>
            <a:pPr algn="r"/>
            <a:r>
              <a:rPr lang="ru-RU" sz="2000" dirty="0" smtClean="0"/>
              <a:t>Студент </a:t>
            </a:r>
            <a:r>
              <a:rPr lang="ru-RU" sz="2000" dirty="0"/>
              <a:t>группы </a:t>
            </a:r>
            <a:r>
              <a:rPr lang="ru-RU" sz="2000" dirty="0" smtClean="0"/>
              <a:t>КБ-</a:t>
            </a:r>
            <a:r>
              <a:rPr lang="en-US" sz="2000" dirty="0" smtClean="0"/>
              <a:t>4</a:t>
            </a:r>
            <a:r>
              <a:rPr lang="ru-RU" sz="2000" dirty="0" smtClean="0"/>
              <a:t>1СО</a:t>
            </a:r>
            <a:endParaRPr lang="ru-RU" sz="2000" b="1" dirty="0"/>
          </a:p>
          <a:p>
            <a:pPr algn="r"/>
            <a:r>
              <a:rPr lang="ru-RU" sz="2000" dirty="0"/>
              <a:t>В.А. </a:t>
            </a:r>
            <a:r>
              <a:rPr lang="ru-RU" sz="2000" dirty="0" smtClean="0"/>
              <a:t>Мазин</a:t>
            </a:r>
          </a:p>
          <a:p>
            <a:pPr algn="r"/>
            <a:endParaRPr lang="ru-RU" sz="2000" b="1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b="1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95092" cy="686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8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9320" y="852805"/>
            <a:ext cx="3693160" cy="74231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Единицы </a:t>
            </a:r>
            <a:r>
              <a:rPr lang="ru-RU" sz="2800" b="1" dirty="0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измерения</a:t>
            </a:r>
            <a:r>
              <a:rPr lang="en-US" sz="2800" b="1" dirty="0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:</a:t>
            </a:r>
            <a:endParaRPr lang="ru-RU" sz="2800" b="1" dirty="0">
              <a:solidFill>
                <a:srgbClr val="22222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09320" y="1666440"/>
            <a:ext cx="6273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Абсолютные: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px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(пиксели) — для </a:t>
            </a:r>
            <a:r>
              <a:rPr lang="ru-RU" altLang="ru-RU" sz="2000" dirty="0" smtClean="0">
                <a:solidFill>
                  <a:srgbClr val="222222"/>
                </a:solidFill>
                <a:cs typeface="Arial" panose="020B0604020202020204" pitchFamily="34" charset="0"/>
              </a:rPr>
              <a:t>экранов.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b="1" dirty="0" smtClean="0">
                <a:solidFill>
                  <a:srgbClr val="222222"/>
                </a:solidFill>
                <a:cs typeface="Arial" panose="020B0604020202020204" pitchFamily="34" charset="0"/>
              </a:rPr>
              <a:t>Относительные</a:t>
            </a:r>
            <a:r>
              <a:rPr lang="ru-RU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: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em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(относительно размера шрифта родителя),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rem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(относительно размера шрифта корневого элемента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html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), % (проценты</a:t>
            </a:r>
            <a:r>
              <a:rPr lang="ru-RU" altLang="ru-RU" sz="2000" dirty="0" smtClean="0">
                <a:solidFill>
                  <a:srgbClr val="222222"/>
                </a:solidFill>
                <a:cs typeface="Arial" panose="020B0604020202020204" pitchFamily="34" charset="0"/>
              </a:rPr>
              <a:t>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 smtClean="0">
                <a:solidFill>
                  <a:srgbClr val="222222"/>
                </a:solidFill>
                <a:cs typeface="Arial" panose="020B0604020202020204" pitchFamily="34" charset="0"/>
              </a:rPr>
              <a:t>Пример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font-size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 16px;,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margin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 1.5em;.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516" y="680277"/>
            <a:ext cx="3916883" cy="270621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237" y="3694070"/>
            <a:ext cx="8039162" cy="261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1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635197" y="1803878"/>
            <a:ext cx="111053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Суть: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Определяет гарнитуру шрифта.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Правила: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Указывается список через запятую. Последним в списке должно идти ключевое слово (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serif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(с засечками),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sans-serif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(без засечек),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monospace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(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моноширинный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)).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Пример: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font-family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 '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Open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Sans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',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Arial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,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sans-serif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;</a:t>
            </a: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635197" y="911813"/>
            <a:ext cx="3693160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2800" b="1" dirty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Свойство </a:t>
            </a:r>
            <a:r>
              <a:rPr lang="ru-RU" altLang="ru-RU" sz="2800" b="1" dirty="0" err="1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font-family</a:t>
            </a:r>
            <a:r>
              <a:rPr lang="en-US" altLang="ru-RU" sz="2800" b="1" dirty="0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:</a:t>
            </a:r>
            <a:r>
              <a:rPr lang="ru-RU" altLang="ru-RU" sz="2800" b="1" dirty="0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endParaRPr lang="ru-RU" altLang="ru-RU" sz="2800" b="1" dirty="0">
              <a:solidFill>
                <a:srgbClr val="22222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374" y="3644337"/>
            <a:ext cx="6477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9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41057" y="1811547"/>
            <a:ext cx="682430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Суть: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Размер шрифта.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Значения: 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Любые единицы измерения (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px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,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em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,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rem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, %), ключевые слова (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small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,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medium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,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large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Пример: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font-size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 1.2rem;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866197" y="1138244"/>
            <a:ext cx="3693160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2800" b="1" dirty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Свойство </a:t>
            </a:r>
            <a:r>
              <a:rPr lang="en-US" altLang="ru-RU" sz="2800" b="1" dirty="0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font-size:</a:t>
            </a:r>
            <a:r>
              <a:rPr lang="ru-RU" altLang="ru-RU" sz="2800" b="1" dirty="0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endParaRPr lang="ru-RU" altLang="ru-RU" sz="2800" b="1" dirty="0">
              <a:solidFill>
                <a:srgbClr val="22222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713" y="3718660"/>
            <a:ext cx="2791399" cy="285164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774" y="772472"/>
            <a:ext cx="3822603" cy="274515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903" y="3718661"/>
            <a:ext cx="2381196" cy="285164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4890" y="3670500"/>
            <a:ext cx="2041487" cy="294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39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623515" y="769599"/>
            <a:ext cx="5532120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2800" b="1" dirty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Свойство </a:t>
            </a:r>
            <a:r>
              <a:rPr lang="ru-RU" altLang="ru-RU" sz="2800" b="1" dirty="0" err="1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font-weight</a:t>
            </a:r>
            <a:r>
              <a:rPr lang="en-US" altLang="ru-RU" sz="2800" b="1" dirty="0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:</a:t>
            </a:r>
            <a:r>
              <a:rPr lang="ru-RU" altLang="ru-RU" sz="2800" b="1" dirty="0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endParaRPr lang="ru-RU" altLang="ru-RU" sz="2800" b="1" dirty="0">
              <a:solidFill>
                <a:srgbClr val="22222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23515" y="1321083"/>
            <a:ext cx="974498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Суть: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/>
            </a:r>
            <a:b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Жирность (насыщенность) шрифта.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Значения: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Цифровые (100-900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):</a:t>
            </a:r>
            <a:endParaRPr lang="en-US" altLang="ru-RU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100 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—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Thin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 (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тонкий)</a:t>
            </a:r>
            <a:endParaRPr lang="en-US" altLang="ru-RU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300 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—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Light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 (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светлый)</a:t>
            </a:r>
            <a:endParaRPr lang="en-US" altLang="ru-RU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400 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—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Normal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 (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обычный)</a:t>
            </a:r>
            <a:endParaRPr lang="en-US" altLang="ru-RU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500 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—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Medium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 (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средний)</a:t>
            </a:r>
            <a:endParaRPr lang="en-US" altLang="ru-RU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700 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—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Bold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 (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жирный)</a:t>
            </a:r>
            <a:endParaRPr lang="en-US" altLang="ru-RU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900 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—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Black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 (очень жирный)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Ключевые </a:t>
            </a:r>
            <a:r>
              <a:rPr lang="ru-RU" altLang="ru-RU" b="1" dirty="0" smtClean="0">
                <a:solidFill>
                  <a:srgbClr val="222222"/>
                </a:solidFill>
                <a:cs typeface="Arial" panose="020B0604020202020204" pitchFamily="34" charset="0"/>
              </a:rPr>
              <a:t>слова:</a:t>
            </a:r>
            <a:endParaRPr lang="en-US" altLang="ru-RU" b="1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 smtClean="0">
                <a:solidFill>
                  <a:srgbClr val="222222"/>
                </a:solidFill>
                <a:cs typeface="Arial" panose="020B0604020202020204" pitchFamily="34" charset="0"/>
              </a:rPr>
              <a:t>normal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= 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400</a:t>
            </a:r>
            <a:endParaRPr lang="en-US" altLang="ru-RU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 smtClean="0">
                <a:solidFill>
                  <a:srgbClr val="222222"/>
                </a:solidFill>
                <a:cs typeface="Arial" panose="020B0604020202020204" pitchFamily="34" charset="0"/>
              </a:rPr>
              <a:t>bold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= 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700</a:t>
            </a:r>
            <a:endParaRPr lang="en-US" altLang="ru-RU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 smtClean="0">
                <a:solidFill>
                  <a:srgbClr val="222222"/>
                </a:solidFill>
                <a:cs typeface="Arial" panose="020B0604020202020204" pitchFamily="34" charset="0"/>
              </a:rPr>
              <a:t>bolder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жирнее, чем у 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родителя</a:t>
            </a:r>
            <a:endParaRPr lang="en-US" altLang="ru-RU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 smtClean="0">
                <a:solidFill>
                  <a:srgbClr val="222222"/>
                </a:solidFill>
                <a:cs typeface="Arial" panose="020B0604020202020204" pitchFamily="34" charset="0"/>
              </a:rPr>
              <a:t>lighter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светлее, чем у родителя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Важно: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/>
            </a:r>
            <a:b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Не все шрифты поддерживают все 9 градаций. Если для шрифта нет нужной жирности, браузер попытается имитировать ее (иногда получается некрасиво).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800" y="1432401"/>
            <a:ext cx="4369905" cy="260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85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695076" y="1050738"/>
            <a:ext cx="113113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Суть: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/>
            </a:r>
            <a:b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Наклонное начертание текста (курсив).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Значения: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normal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обычное начертание (по умолчанию).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italic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курсив. Используется специальный начертание шрифта, если оно есть.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oblique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наклонное начертание. Браузер просто наклоняет обычные буквы.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Разница 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между </a:t>
            </a:r>
            <a:r>
              <a:rPr lang="ru-RU" altLang="ru-RU" dirty="0" err="1" smtClean="0">
                <a:solidFill>
                  <a:srgbClr val="222222"/>
                </a:solidFill>
                <a:cs typeface="Arial" panose="020B0604020202020204" pitchFamily="34" charset="0"/>
              </a:rPr>
              <a:t>italic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 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и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oblique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:</a:t>
            </a:r>
            <a:b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На практике разница почти не видна, и 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oblique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используется редко. Обычно используют 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italic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695076" y="475401"/>
            <a:ext cx="5532120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2800" b="1" dirty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Свойство </a:t>
            </a:r>
            <a:r>
              <a:rPr lang="ru-RU" altLang="ru-RU" sz="2800" b="1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font-style</a:t>
            </a:r>
            <a:r>
              <a:rPr lang="en-US" altLang="ru-RU" sz="2800" b="1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:</a:t>
            </a:r>
            <a:r>
              <a:rPr lang="ru-RU" altLang="ru-RU" sz="2800" b="1" dirty="0" smtClean="0">
                <a:solidFill>
                  <a:srgbClr val="222222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endParaRPr lang="ru-RU" altLang="ru-RU" sz="2800" b="1" dirty="0">
              <a:solidFill>
                <a:srgbClr val="22222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800" y="3555740"/>
            <a:ext cx="7617663" cy="291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8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851673" y="1790111"/>
            <a:ext cx="782828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Зачем нужно?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/>
            </a:r>
            <a:b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Чтобы задать несколько свойств шрифта в одной строке. Экономит место и делает код чище.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Синтаксис: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font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: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font-style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font-weight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font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-size/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line-height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font-family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Важные </a:t>
            </a:r>
            <a:r>
              <a:rPr lang="ru-RU" altLang="ru-RU" b="1" dirty="0" smtClean="0">
                <a:solidFill>
                  <a:srgbClr val="222222"/>
                </a:solidFill>
                <a:cs typeface="Arial" panose="020B0604020202020204" pitchFamily="34" charset="0"/>
              </a:rPr>
              <a:t>правила:</a:t>
            </a:r>
            <a:endParaRPr lang="en-US" altLang="ru-RU" b="1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Обязательны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два свойства: 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font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-size и 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font-family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. Если их нет, правило не 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сработает.</a:t>
            </a:r>
            <a:endParaRPr lang="en-US" altLang="ru-RU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Порядок 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важен! Сначала стиль и жирность (можно менять местами), потом размер, потом 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семейство.</a:t>
            </a:r>
            <a:endParaRPr lang="en-US" altLang="ru-RU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line-height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указывается через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слэш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 после 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font-size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851673" y="1119358"/>
            <a:ext cx="6629239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2800" b="1" dirty="0">
                <a:solidFill>
                  <a:srgbClr val="0F1115"/>
                </a:solidFill>
                <a:latin typeface="+mn-lt"/>
              </a:rPr>
              <a:t>Универсальное свойство </a:t>
            </a:r>
            <a:r>
              <a:rPr lang="ru-RU" altLang="ru-RU" sz="2800" b="1" dirty="0" err="1">
                <a:solidFill>
                  <a:srgbClr val="0F1115"/>
                </a:solidFill>
                <a:latin typeface="+mn-lt"/>
              </a:rPr>
              <a:t>font</a:t>
            </a:r>
            <a:r>
              <a:rPr lang="en-US" altLang="ru-RU" sz="2800" b="1" dirty="0">
                <a:solidFill>
                  <a:srgbClr val="0F1115"/>
                </a:solidFill>
                <a:latin typeface="+mn-lt"/>
              </a:rPr>
              <a:t>:</a:t>
            </a:r>
            <a:r>
              <a:rPr lang="ru-RU" altLang="ru-RU" sz="2800" b="1" dirty="0">
                <a:solidFill>
                  <a:srgbClr val="0F1115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54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38660" y="1033366"/>
            <a:ext cx="693885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Суть: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/>
            </a:r>
            <a:b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Расстояние между базовыми линиями строк. Простыми словами — отступ между строками текста.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 smtClean="0">
                <a:solidFill>
                  <a:srgbClr val="222222"/>
                </a:solidFill>
                <a:cs typeface="Arial" panose="020B0604020202020204" pitchFamily="34" charset="0"/>
              </a:rPr>
              <a:t>Зачем нужно?</a:t>
            </a: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/>
            </a:r>
            <a:b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Текст с маленьким line-height плохо читается (строки слипаются). Слишком большим — тоже плохо (теряется связь между строками). Золотая середина — 1.4–1.6.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 smtClean="0">
                <a:solidFill>
                  <a:srgbClr val="222222"/>
                </a:solidFill>
                <a:cs typeface="Arial" panose="020B0604020202020204" pitchFamily="34" charset="0"/>
              </a:rPr>
              <a:t>Способы задания: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smtClean="0">
                <a:solidFill>
                  <a:srgbClr val="222222"/>
                </a:solidFill>
                <a:cs typeface="Arial" panose="020B0604020202020204" pitchFamily="34" charset="0"/>
              </a:rPr>
              <a:t>Без 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единиц (множитель): line-height: 1.5; — идеальный вариант для текста. Высота строки будет в 1.5 раза больше размера шрифта.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В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px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: line-height: 20px; — жестко фиксируем.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В 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em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: line-height: 1.5em; — зависит от шрифта элемента.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В %: line-height: 150%; — аналогично множителю, но считается от размера шрифта.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738660" y="291051"/>
            <a:ext cx="6629239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2800" b="1" dirty="0">
                <a:solidFill>
                  <a:srgbClr val="0F1115"/>
                </a:solidFill>
                <a:latin typeface="+mn-lt"/>
              </a:rPr>
              <a:t>Межстрочный интервал </a:t>
            </a:r>
            <a:r>
              <a:rPr lang="ru-RU" altLang="ru-RU" sz="2800" b="1" dirty="0" smtClean="0">
                <a:solidFill>
                  <a:srgbClr val="0F1115"/>
                </a:solidFill>
                <a:latin typeface="+mn-lt"/>
              </a:rPr>
              <a:t>line-height</a:t>
            </a:r>
            <a:r>
              <a:rPr lang="en-US" altLang="ru-RU" sz="2800" b="1" dirty="0" smtClean="0">
                <a:solidFill>
                  <a:srgbClr val="0F1115"/>
                </a:solidFill>
                <a:latin typeface="quote-cjk-patch"/>
              </a:rPr>
              <a:t>:</a:t>
            </a:r>
            <a:r>
              <a:rPr lang="ru-RU" altLang="ru-RU" sz="2800" b="1" dirty="0" smtClean="0">
                <a:solidFill>
                  <a:srgbClr val="0F1115"/>
                </a:solidFill>
                <a:latin typeface="quote-cjk-patch"/>
              </a:rPr>
              <a:t> </a:t>
            </a:r>
            <a:endParaRPr lang="ru-RU" altLang="ru-RU" sz="2800" b="1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217" y="291051"/>
            <a:ext cx="3529245" cy="179654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053" y="2226582"/>
            <a:ext cx="34575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9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44059" y="1446600"/>
            <a:ext cx="1036054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Суть: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/>
            </a:r>
            <a:b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Выравнивает текст внутри блочного элемента (например, внутри &lt;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div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&gt;, &lt;p&gt;, &lt;h1&gt;).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Значения: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left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по левому краю (по умолчанию для языков с письмом слева направо).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right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по правому краю.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center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по центру.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justify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по ширине (выравнивание по левому и правому краю одновременно за счет растягивания пробелов).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Особенности 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justify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:</a:t>
            </a:r>
            <a:b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Хорошо смотрится в книгах и газетах, но в вебе на узких колонках могут появиться огромные дыры между словами. Для веба его используют с осторожностью.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744060" y="759945"/>
            <a:ext cx="7617238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2800" b="1" dirty="0">
                <a:solidFill>
                  <a:srgbClr val="0F1115"/>
                </a:solidFill>
                <a:latin typeface="+mn-lt"/>
              </a:rPr>
              <a:t>Горизонтальное выравнивание </a:t>
            </a:r>
            <a:r>
              <a:rPr lang="ru-RU" altLang="ru-RU" sz="2800" b="1" dirty="0" err="1">
                <a:solidFill>
                  <a:srgbClr val="0F1115"/>
                </a:solidFill>
                <a:latin typeface="+mn-lt"/>
              </a:rPr>
              <a:t>text-align</a:t>
            </a:r>
            <a:r>
              <a:rPr lang="en-US" altLang="ru-RU" sz="2800" b="1" dirty="0">
                <a:solidFill>
                  <a:srgbClr val="0F1115"/>
                </a:solidFill>
                <a:latin typeface="+mn-lt"/>
              </a:rPr>
              <a:t>:</a:t>
            </a:r>
            <a:r>
              <a:rPr lang="ru-RU" altLang="ru-RU" sz="2800" b="1" dirty="0">
                <a:solidFill>
                  <a:srgbClr val="0F1115"/>
                </a:solidFill>
                <a:latin typeface="+mn-lt"/>
              </a:rPr>
              <a:t>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18" y="4658483"/>
            <a:ext cx="99536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62171" y="1122922"/>
            <a:ext cx="559587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Суть: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/>
            </a:r>
            <a:b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Выравнивает строчные (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inline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) или строчно-блочные (</a:t>
            </a: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inline-block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) элементы относительно друг друга или родительского текста.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Где чаще всего используется: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В таблицах (для выравнивания содержимого ячеек).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Для выравнивания иконки рядом с текстом.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Основные значения: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baseline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(по умолчанию) — по базовой линии текста.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t</a:t>
            </a:r>
            <a:r>
              <a:rPr lang="ru-RU" altLang="ru-RU" dirty="0" err="1" smtClean="0">
                <a:solidFill>
                  <a:srgbClr val="222222"/>
                </a:solidFill>
                <a:cs typeface="Arial" panose="020B0604020202020204" pitchFamily="34" charset="0"/>
              </a:rPr>
              <a:t>op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по верхнему краю самого высокого элемента в строке.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middle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по середине (обычно используется для выравнивания иконок с текстом).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bottom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по нижнему краю.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62171" y="380607"/>
            <a:ext cx="8209108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2800" b="1" dirty="0">
                <a:solidFill>
                  <a:srgbClr val="0F1115"/>
                </a:solidFill>
                <a:latin typeface="+mn-lt"/>
              </a:rPr>
              <a:t>Вертикальное выравнивание </a:t>
            </a:r>
            <a:r>
              <a:rPr lang="ru-RU" altLang="ru-RU" sz="2800" b="1" dirty="0" err="1">
                <a:solidFill>
                  <a:srgbClr val="0F1115"/>
                </a:solidFill>
                <a:latin typeface="+mn-lt"/>
              </a:rPr>
              <a:t>vertical-align</a:t>
            </a:r>
            <a:r>
              <a:rPr lang="en-US" altLang="ru-RU" sz="2800" b="1" dirty="0">
                <a:solidFill>
                  <a:srgbClr val="0F1115"/>
                </a:solidFill>
                <a:latin typeface="+mn-lt"/>
              </a:rPr>
              <a:t>:</a:t>
            </a:r>
            <a:r>
              <a:rPr lang="ru-RU" altLang="ru-RU" sz="2800" b="1" dirty="0">
                <a:solidFill>
                  <a:srgbClr val="0F1115"/>
                </a:solidFill>
                <a:latin typeface="+mn-lt"/>
              </a:rPr>
              <a:t>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r="25493"/>
          <a:stretch/>
        </p:blipFill>
        <p:spPr>
          <a:xfrm>
            <a:off x="6458042" y="1122922"/>
            <a:ext cx="5360148" cy="527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8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95135" y="1789008"/>
            <a:ext cx="65601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Суть:</a:t>
            </a:r>
            <a:b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Добавляет линии и украшения к тексту.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Значения: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none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убирает все линии (чаще всего используется для убирания подчеркивания у ссылок).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underline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подчеркивание.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overline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надчеркивание (линия сверху).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line-through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зачеркивание (как в ценниках со скидкой).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95135" y="947100"/>
            <a:ext cx="8209108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sz="2800" b="1" dirty="0">
                <a:solidFill>
                  <a:srgbClr val="0F1115"/>
                </a:solidFill>
                <a:latin typeface="+mn-lt"/>
              </a:rPr>
              <a:t>Декорация </a:t>
            </a:r>
            <a:r>
              <a:rPr lang="en-US" sz="2800" b="1" dirty="0" smtClean="0">
                <a:solidFill>
                  <a:srgbClr val="0F1115"/>
                </a:solidFill>
                <a:latin typeface="+mn-lt"/>
              </a:rPr>
              <a:t>text-decoration</a:t>
            </a:r>
            <a:r>
              <a:rPr kumimoji="0" lang="en-US" altLang="ru-RU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:</a:t>
            </a:r>
            <a:r>
              <a:rPr kumimoji="0" lang="ru-RU" altLang="ru-RU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</a:t>
            </a:r>
            <a:endParaRPr kumimoji="0" lang="ru-RU" altLang="ru-RU" sz="2800" b="1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310" y="1119628"/>
            <a:ext cx="4681089" cy="404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3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95135" y="1404573"/>
            <a:ext cx="57243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Суть: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/>
            </a:r>
            <a:b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</a:b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Изменяет регистр букв без изменения самого HTML-кода. Полезно для заголовков, кнопок, где нужны все заглавные.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222222"/>
                </a:solidFill>
                <a:cs typeface="Arial" panose="020B0604020202020204" pitchFamily="34" charset="0"/>
              </a:rPr>
              <a:t>Значения: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none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оставляет как есть.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uppercase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все буквы заглавные (ПРИМЕР).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lowercase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все буквы строчные (пример).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dirty="0" err="1">
                <a:solidFill>
                  <a:srgbClr val="222222"/>
                </a:solidFill>
                <a:cs typeface="Arial" panose="020B0604020202020204" pitchFamily="34" charset="0"/>
              </a:rPr>
              <a:t>capitalize</a:t>
            </a:r>
            <a:r>
              <a:rPr lang="ru-RU" altLang="ru-RU" dirty="0">
                <a:solidFill>
                  <a:srgbClr val="222222"/>
                </a:solidFill>
                <a:cs typeface="Arial" panose="020B0604020202020204" pitchFamily="34" charset="0"/>
              </a:rPr>
              <a:t> — каждое слово начинается с заглавной буквы (Каждое Слово С Заглавной).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95135" y="777334"/>
            <a:ext cx="8209108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sz="2800" b="1" dirty="0">
                <a:solidFill>
                  <a:srgbClr val="0F1115"/>
                </a:solidFill>
                <a:latin typeface="+mn-lt"/>
              </a:rPr>
              <a:t>Регистр текста </a:t>
            </a:r>
            <a:r>
              <a:rPr lang="en-US" sz="2800" b="1" dirty="0" smtClean="0">
                <a:solidFill>
                  <a:srgbClr val="0F1115"/>
                </a:solidFill>
                <a:latin typeface="+mn-lt"/>
              </a:rPr>
              <a:t>text-transform</a:t>
            </a:r>
            <a:r>
              <a:rPr kumimoji="0" lang="en-US" altLang="ru-RU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:</a:t>
            </a:r>
            <a:r>
              <a:rPr kumimoji="0" lang="ru-RU" altLang="ru-RU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</a:t>
            </a:r>
            <a:endParaRPr kumimoji="0" lang="ru-RU" altLang="ru-RU" sz="2800" b="1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844"/>
            <a:ext cx="65" cy="46288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2046" rIns="0" bIns="9204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444" y="440587"/>
            <a:ext cx="5380539" cy="5867309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5" y="4450521"/>
            <a:ext cx="4247469" cy="196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7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05355" y="1339115"/>
            <a:ext cx="641143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word-wrap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(или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overflow-wrap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):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normal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|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break-word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(длинные слова переносятся, если не помещаются в контейнер).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hyphens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none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|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manual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| 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auto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(включает автоматическую расстановку переносов по правилам языка, требуется указание языка в HTML: &lt;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html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lang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="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ru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"&gt;).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95135" y="596800"/>
            <a:ext cx="8209108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sz="2800" b="1" dirty="0">
                <a:solidFill>
                  <a:srgbClr val="0F1115"/>
                </a:solidFill>
                <a:latin typeface="+mn-lt"/>
              </a:rPr>
              <a:t>Переносы слов</a:t>
            </a:r>
            <a:r>
              <a:rPr lang="en-US" altLang="ru-RU" sz="2800" b="1" dirty="0">
                <a:solidFill>
                  <a:srgbClr val="0F1115"/>
                </a:solidFill>
                <a:latin typeface="+mn-lt"/>
              </a:rPr>
              <a:t>:</a:t>
            </a:r>
            <a:r>
              <a:rPr lang="ru-RU" altLang="ru-RU" sz="2800" b="1" dirty="0">
                <a:solidFill>
                  <a:srgbClr val="0F1115"/>
                </a:solidFill>
                <a:latin typeface="+mn-lt"/>
              </a:rPr>
              <a:t>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793" y="670117"/>
            <a:ext cx="4544373" cy="215635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793" y="2949350"/>
            <a:ext cx="4551973" cy="215748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891" y="3776414"/>
            <a:ext cx="5903748" cy="220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448816" y="6307896"/>
            <a:ext cx="551167" cy="3778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95135" y="1502261"/>
            <a:ext cx="782828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Суть: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Подключение нестандартных шрифтов с сервера.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Синтаксис:</a:t>
            </a:r>
            <a:r>
              <a:rPr lang="en-US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 </a:t>
            </a:r>
            <a:endParaRPr lang="en-US" altLang="ru-RU" sz="2000" b="1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smtClean="0">
                <a:solidFill>
                  <a:srgbClr val="222222"/>
                </a:solidFill>
                <a:cs typeface="Arial" panose="020B0604020202020204" pitchFamily="34" charset="0"/>
              </a:rPr>
              <a:t>@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font-face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 { </a:t>
            </a:r>
            <a:endParaRPr lang="en-US" altLang="ru-RU" sz="2000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 smtClean="0">
                <a:solidFill>
                  <a:srgbClr val="222222"/>
                </a:solidFill>
                <a:cs typeface="Arial" panose="020B0604020202020204" pitchFamily="34" charset="0"/>
              </a:rPr>
              <a:t>	</a:t>
            </a:r>
            <a:r>
              <a:rPr lang="ru-RU" altLang="ru-RU" sz="2000" dirty="0" err="1" smtClean="0">
                <a:solidFill>
                  <a:srgbClr val="222222"/>
                </a:solidFill>
                <a:cs typeface="Arial" panose="020B0604020202020204" pitchFamily="34" charset="0"/>
              </a:rPr>
              <a:t>font-family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 '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Montserrat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'; </a:t>
            </a:r>
            <a:endParaRPr lang="en-US" altLang="ru-RU" sz="2000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	</a:t>
            </a:r>
            <a:r>
              <a:rPr lang="ru-RU" altLang="ru-RU" sz="2000" dirty="0" err="1" smtClean="0">
                <a:solidFill>
                  <a:srgbClr val="222222"/>
                </a:solidFill>
                <a:cs typeface="Arial" panose="020B0604020202020204" pitchFamily="34" charset="0"/>
              </a:rPr>
              <a:t>src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url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('montserrat-regular.woff2')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format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('woff2'); </a:t>
            </a:r>
            <a:endParaRPr lang="en-US" altLang="ru-RU" sz="2000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	</a:t>
            </a:r>
            <a:r>
              <a:rPr lang="ru-RU" altLang="ru-RU" sz="2000" dirty="0" err="1" smtClean="0">
                <a:solidFill>
                  <a:srgbClr val="222222"/>
                </a:solidFill>
                <a:cs typeface="Arial" panose="020B0604020202020204" pitchFamily="34" charset="0"/>
              </a:rPr>
              <a:t>font-weight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 400;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font-style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normal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;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font-display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swap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; </a:t>
            </a:r>
            <a:endParaRPr lang="en-US" altLang="ru-RU" sz="2000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smtClean="0">
                <a:solidFill>
                  <a:srgbClr val="383A42"/>
                </a:solidFill>
                <a:latin typeface="Menlo"/>
              </a:rPr>
              <a:t>}</a:t>
            </a:r>
            <a:r>
              <a:rPr lang="ru-RU" altLang="ru-RU" dirty="0" smtClean="0"/>
              <a:t> </a:t>
            </a:r>
            <a:endParaRPr lang="en-US" altLang="ru-RU" dirty="0" smtClean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Использование шрифта</a:t>
            </a:r>
            <a:r>
              <a:rPr lang="en-US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body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 {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font-family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: '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Montserrat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',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Arial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, </a:t>
            </a:r>
            <a:r>
              <a:rPr lang="ru-RU" altLang="ru-RU" sz="2000" dirty="0" err="1">
                <a:solidFill>
                  <a:srgbClr val="222222"/>
                </a:solidFill>
                <a:cs typeface="Arial" panose="020B0604020202020204" pitchFamily="34" charset="0"/>
              </a:rPr>
              <a:t>sans-serif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; } </a:t>
            </a:r>
            <a:endParaRPr lang="ru-RU" altLang="ru-RU" sz="2000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b="1" dirty="0">
                <a:solidFill>
                  <a:srgbClr val="222222"/>
                </a:solidFill>
                <a:cs typeface="Arial" panose="020B0604020202020204" pitchFamily="34" charset="0"/>
              </a:rPr>
              <a:t>Форматы: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 </a:t>
            </a:r>
            <a:r>
              <a:rPr lang="ru-RU" altLang="ru-RU" sz="2000" dirty="0" smtClean="0">
                <a:solidFill>
                  <a:srgbClr val="222222"/>
                </a:solidFill>
                <a:cs typeface="Arial" panose="020B0604020202020204" pitchFamily="34" charset="0"/>
              </a:rPr>
              <a:t>WOFF2, </a:t>
            </a:r>
            <a:r>
              <a:rPr lang="ru-RU" altLang="ru-RU" sz="2000" dirty="0">
                <a:solidFill>
                  <a:srgbClr val="222222"/>
                </a:solidFill>
                <a:cs typeface="Arial" panose="020B0604020202020204" pitchFamily="34" charset="0"/>
              </a:rPr>
              <a:t>WOFF, TTF</a:t>
            </a:r>
            <a:r>
              <a:rPr lang="ru-RU" altLang="ru-RU" sz="2000" dirty="0" smtClean="0">
                <a:solidFill>
                  <a:srgbClr val="222222"/>
                </a:solidFill>
                <a:cs typeface="Arial" panose="020B0604020202020204" pitchFamily="34" charset="0"/>
              </a:rPr>
              <a:t>.</a:t>
            </a:r>
            <a:endParaRPr lang="en-US" altLang="ru-RU" sz="2000" dirty="0" smtClean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ru-RU" altLang="ru-RU" sz="2000" dirty="0">
              <a:solidFill>
                <a:srgbClr val="222222"/>
              </a:solidFill>
              <a:cs typeface="Arial" panose="020B0604020202020204" pitchFamily="34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95135" y="839459"/>
            <a:ext cx="8209108" cy="742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2800" b="1" dirty="0">
                <a:solidFill>
                  <a:srgbClr val="0F1115"/>
                </a:solidFill>
                <a:latin typeface="+mn-lt"/>
              </a:rPr>
              <a:t>Веб-шрифты @</a:t>
            </a:r>
            <a:r>
              <a:rPr lang="ru-RU" altLang="ru-RU" sz="2800" b="1" dirty="0" err="1">
                <a:solidFill>
                  <a:srgbClr val="0F1115"/>
                </a:solidFill>
                <a:latin typeface="+mn-lt"/>
              </a:rPr>
              <a:t>font-face</a:t>
            </a:r>
            <a:r>
              <a:rPr lang="en-US" altLang="ru-RU" sz="2800" b="1" dirty="0">
                <a:solidFill>
                  <a:srgbClr val="0F1115"/>
                </a:solidFill>
                <a:latin typeface="+mn-lt"/>
              </a:rPr>
              <a:t>:</a:t>
            </a:r>
            <a:endParaRPr lang="ru-RU" altLang="ru-RU" sz="2800" b="1" dirty="0">
              <a:solidFill>
                <a:srgbClr val="0F1115"/>
              </a:solidFill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737" y="885224"/>
            <a:ext cx="3727024" cy="1234073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5" y="4870779"/>
            <a:ext cx="8138152" cy="134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4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2113</TotalTime>
  <Words>95</Words>
  <Application>Microsoft Office PowerPoint</Application>
  <PresentationFormat>Широкоэкранный</PresentationFormat>
  <Paragraphs>144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Menlo</vt:lpstr>
      <vt:lpstr>quote-cjk-patch</vt:lpstr>
      <vt:lpstr>Тема Office</vt:lpstr>
      <vt:lpstr>Типографика и текст в CSS</vt:lpstr>
      <vt:lpstr>Единицы измерения: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Генераторы псевдослучайных чисел</dc:title>
  <dc:creator>vladi</dc:creator>
  <cp:lastModifiedBy>Пользователь Windows</cp:lastModifiedBy>
  <cp:revision>170</cp:revision>
  <dcterms:created xsi:type="dcterms:W3CDTF">2025-05-10T10:39:06Z</dcterms:created>
  <dcterms:modified xsi:type="dcterms:W3CDTF">2026-03-11T21:06:17Z</dcterms:modified>
</cp:coreProperties>
</file>