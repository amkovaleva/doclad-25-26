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Lst>
  <p:sldSz cy="5143500" cx="9144000"/>
  <p:notesSz cx="6858000" cy="9144000"/>
  <p:embeddedFontLst>
    <p:embeddedFont>
      <p:font typeface="Nunito"/>
      <p:regular r:id="rId79"/>
      <p:bold r:id="rId80"/>
      <p:italic r:id="rId81"/>
      <p:boldItalic r:id="rId82"/>
    </p:embeddedFont>
    <p:embeddedFont>
      <p:font typeface="Nunito Black"/>
      <p:bold r:id="rId83"/>
      <p:boldItalic r:id="rId8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844C903-6187-492E-80BA-186675CCD9A1}">
  <a:tblStyle styleId="{B844C903-6187-492E-80BA-186675CCD9A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9577998-B902-4363-BD42-2B2995AA7EB3}"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NunitoBlack-boldItalic.fntdata"/><Relationship Id="rId83" Type="http://schemas.openxmlformats.org/officeDocument/2006/relationships/font" Target="fonts/NunitoBlack-bold.fntdata"/><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Nunito-bold.fntdata"/><Relationship Id="rId82" Type="http://schemas.openxmlformats.org/officeDocument/2006/relationships/font" Target="fonts/Nunito-boldItalic.fntdata"/><Relationship Id="rId81" Type="http://schemas.openxmlformats.org/officeDocument/2006/relationships/font" Target="fonts/Nuni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font" Target="fonts/Nunito-regular.fntdata"/><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cc1f87b9c7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cc1f87b9c7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cd2b3fc678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cd2b3fc67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cd2b3fc67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cd2b3fc67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cd2b3fc67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cd2b3fc67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cd2b3fc678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cd2b3fc678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cd2b3fc67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cd2b3fc67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cc1fc13279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cc1fc13279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cd2b3fc678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cd2b3fc678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cc1fc13279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cc1fc13279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cc1fc13279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cc1fc13279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cd2b3fc678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cd2b3fc678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cf8b6ef51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cf8b6ef51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cd2b3fc678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cd2b3fc678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cd2b3fc678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cd2b3fc678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cd2b3fc678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cd2b3fc678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cf8b6ef51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cf8b6ef51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cd2b3fc678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cd2b3fc678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cd2b3fc678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cd2b3fc678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86d4baa0d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86d4baa0d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ccdb96a05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ccdb96a05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cc1fc13279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cc1fc13279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86d4baa0d9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86d4baa0d9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86d4baa0d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86d4baa0d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ccdb96a058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ccdb96a058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86d4baa0d9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86d4baa0d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86d4baa0d9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86d4baa0d9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86d4baa0d9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86d4baa0d9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86d4baa0d9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86d4baa0d9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ccdb96a058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ccdb96a058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86d4baa0d9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86d4baa0d9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86d4baa0d9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86d4baa0d9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86d4baa0d9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86d4baa0d9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86d4baa0d9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86d4baa0d9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ccdb96a058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ccdb96a058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86d4baa0d9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86d4baa0d9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86d4baa0d9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86d4baa0d9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86d4baa0d9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86d4baa0d9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86d4baa0d9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86d4baa0d9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86d4baa0d9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86d4baa0d9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86d4baa0d9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86d4baa0d9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ccdb96a058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ccdb96a058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86d4baa0d9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86d4baa0d9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cf8b6ef51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cf8b6ef51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86d4baa0d9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86d4baa0d9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86d4baa0d9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86d4baa0d9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86d4baa0d9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86d4baa0d9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86d4baa0d9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86d4baa0d9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86d4baa0d9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86d4baa0d9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86d4baa0d9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386d4baa0d9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86d4baa0d9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86d4baa0d9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86d4baa0d9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86d4baa0d9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86d4baa0d9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86d4baa0d9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86d4baa0d9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386d4baa0d9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cf8b6ef519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cf8b6ef51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86d4baa0d9_0_2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86d4baa0d9_0_2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86d4baa0d9_0_2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86d4baa0d9_0_2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86d4baa0d9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86d4baa0d9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86d4baa0d9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86d4baa0d9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cf8b6ef519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3cf8b6ef519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cf8b6ef519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cf8b6ef519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86d4baa0d9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86d4baa0d9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86d4baa0d9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86d4baa0d9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86d4baa0d9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86d4baa0d9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cf8b6ef519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3cf8b6ef519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86d4baa0d9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86d4baa0d9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86d4baa0d9_0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86d4baa0d9_0_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86d4baa0d9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86d4baa0d9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86d4baa0d9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386d4baa0d9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ccdb96a058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ccdb96a058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86d4baa0d9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86d4baa0d9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ccdb96a058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ccdb96a058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6.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roblaplaca.com/examples/bezierBuilder/"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gi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8.gi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7.gi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4.gi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5.gif"/></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ru">
                <a:solidFill>
                  <a:srgbClr val="000000"/>
                </a:solidFill>
                <a:latin typeface="Nunito Black"/>
                <a:ea typeface="Nunito Black"/>
                <a:cs typeface="Nunito Black"/>
                <a:sym typeface="Nunito Black"/>
              </a:rPr>
              <a:t>Трансформации и анимации </a:t>
            </a:r>
            <a:endParaRPr>
              <a:solidFill>
                <a:srgbClr val="000000"/>
              </a:solidFill>
              <a:latin typeface="Nunito Black"/>
              <a:ea typeface="Nunito Black"/>
              <a:cs typeface="Nunito Black"/>
              <a:sym typeface="Nunito Black"/>
            </a:endParaRPr>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fontScale="40000"/>
          </a:bodyPr>
          <a:lstStyle/>
          <a:p>
            <a:pPr indent="0" lvl="0" marL="0" rtl="0" algn="ctr">
              <a:spcBef>
                <a:spcPts val="0"/>
              </a:spcBef>
              <a:spcAft>
                <a:spcPts val="0"/>
              </a:spcAft>
              <a:buNone/>
            </a:pPr>
            <a:r>
              <a:rPr lang="ru" sz="3800">
                <a:solidFill>
                  <a:srgbClr val="000000"/>
                </a:solidFill>
                <a:latin typeface="Arial"/>
                <a:ea typeface="Arial"/>
                <a:cs typeface="Arial"/>
                <a:sym typeface="Arial"/>
              </a:rPr>
              <a:t>Докладчики: Волкова Анастасия, Немчанинов Руслан</a:t>
            </a:r>
            <a:endParaRPr sz="3800">
              <a:solidFill>
                <a:srgbClr val="000000"/>
              </a:solidFill>
              <a:latin typeface="Arial"/>
              <a:ea typeface="Arial"/>
              <a:cs typeface="Arial"/>
              <a:sym typeface="Arial"/>
            </a:endParaRPr>
          </a:p>
          <a:p>
            <a:pPr indent="0" lvl="0" marL="0" rtl="0" algn="ctr">
              <a:spcBef>
                <a:spcPts val="0"/>
              </a:spcBef>
              <a:spcAft>
                <a:spcPts val="0"/>
              </a:spcAft>
              <a:buNone/>
            </a:pPr>
            <a:r>
              <a:t/>
            </a:r>
            <a:endParaRPr/>
          </a:p>
        </p:txBody>
      </p:sp>
      <p:sp>
        <p:nvSpPr>
          <p:cNvPr id="130" name="Google Shape;130;p13"/>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a: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4"/>
          <p:cNvSpPr txBox="1"/>
          <p:nvPr>
            <p:ph type="title"/>
          </p:nvPr>
        </p:nvSpPr>
        <p:spPr>
          <a:xfrm>
            <a:off x="819150" y="845600"/>
            <a:ext cx="7505700" cy="954600"/>
          </a:xfrm>
          <a:prstGeom prst="rect">
            <a:avLst/>
          </a:prstGeom>
          <a:ln>
            <a:noFill/>
          </a:ln>
        </p:spPr>
        <p:txBody>
          <a:bodyPr anchorCtr="0" anchor="t" bIns="91425" lIns="91425" spcFirstLastPara="1" rIns="91425" wrap="square" tIns="91425">
            <a:normAutofit/>
          </a:bodyPr>
          <a:lstStyle/>
          <a:p>
            <a:pPr indent="-412750" lvl="0" marL="457200" rtl="0" algn="l">
              <a:lnSpc>
                <a:spcPct val="115000"/>
              </a:lnSpc>
              <a:spcBef>
                <a:spcPts val="1400"/>
              </a:spcBef>
              <a:spcAft>
                <a:spcPts val="0"/>
              </a:spcAft>
              <a:buClr>
                <a:srgbClr val="000000"/>
              </a:buClr>
              <a:buSzPts val="2900"/>
              <a:buAutoNum type="arabicPeriod"/>
            </a:pPr>
            <a:r>
              <a:rPr b="1" lang="ru" sz="2900">
                <a:solidFill>
                  <a:srgbClr val="000000"/>
                </a:solidFill>
              </a:rPr>
              <a:t>CSS ТРАНСФОРМАЦИИ </a:t>
            </a:r>
            <a:r>
              <a:rPr b="1" lang="ru" sz="2900">
                <a:solidFill>
                  <a:srgbClr val="000000"/>
                </a:solidFill>
                <a:highlight>
                  <a:srgbClr val="D5A6BD"/>
                </a:highlight>
              </a:rPr>
              <a:t>(transform)</a:t>
            </a:r>
            <a:endParaRPr b="1" sz="4600">
              <a:highlight>
                <a:srgbClr val="D5A6BD"/>
              </a:highlight>
            </a:endParaRPr>
          </a:p>
        </p:txBody>
      </p:sp>
      <p:sp>
        <p:nvSpPr>
          <p:cNvPr id="136" name="Google Shape;136;p14"/>
          <p:cNvSpPr txBox="1"/>
          <p:nvPr>
            <p:ph idx="1" type="body"/>
          </p:nvPr>
        </p:nvSpPr>
        <p:spPr>
          <a:xfrm>
            <a:off x="401025" y="1628400"/>
            <a:ext cx="8363700" cy="31632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ru" sz="1500">
                <a:solidFill>
                  <a:srgbClr val="303030"/>
                </a:solidFill>
                <a:highlight>
                  <a:srgbClr val="FFFFFF"/>
                </a:highlight>
                <a:latin typeface="Arial"/>
                <a:ea typeface="Arial"/>
                <a:cs typeface="Arial"/>
                <a:sym typeface="Arial"/>
              </a:rPr>
              <a:t>Модель визуального форматирования CSS описывает систему координат внутри каждого позиционированного элемента. Система координат является точкой отсчета для свойств смещения. Положение и размеры в этом координатном пространстве можно рассматривать как заданные в пикселях, относительно точки отсчета, с положительными значениями, идущими вправо и вниз. Это координатное пространство можно изменить с помощью свойства </a:t>
            </a:r>
            <a:r>
              <a:rPr lang="ru" sz="1500">
                <a:solidFill>
                  <a:srgbClr val="303030"/>
                </a:solidFill>
                <a:highlight>
                  <a:srgbClr val="D5A6BD"/>
                </a:highlight>
                <a:latin typeface="Arial"/>
                <a:ea typeface="Arial"/>
                <a:cs typeface="Arial"/>
                <a:sym typeface="Arial"/>
              </a:rPr>
              <a:t>transform.</a:t>
            </a:r>
            <a:endParaRPr sz="1500">
              <a:solidFill>
                <a:srgbClr val="303030"/>
              </a:solidFill>
              <a:highlight>
                <a:srgbClr val="D5A6BD"/>
              </a:highlight>
              <a:latin typeface="Arial"/>
              <a:ea typeface="Arial"/>
              <a:cs typeface="Arial"/>
              <a:sym typeface="Arial"/>
            </a:endParaRPr>
          </a:p>
          <a:p>
            <a:pPr indent="0" lvl="0" marL="0" rtl="0" algn="just">
              <a:spcBef>
                <a:spcPts val="1100"/>
              </a:spcBef>
              <a:spcAft>
                <a:spcPts val="1100"/>
              </a:spcAft>
              <a:buNone/>
            </a:pPr>
            <a:r>
              <a:rPr b="1" lang="ru" sz="1500">
                <a:solidFill>
                  <a:srgbClr val="303030"/>
                </a:solidFill>
                <a:highlight>
                  <a:srgbClr val="FFFFFF"/>
                </a:highlight>
                <a:latin typeface="Arial"/>
                <a:ea typeface="Arial"/>
                <a:cs typeface="Arial"/>
                <a:sym typeface="Arial"/>
              </a:rPr>
              <a:t>CSS-трансформации</a:t>
            </a:r>
            <a:r>
              <a:rPr lang="ru" sz="1500">
                <a:solidFill>
                  <a:srgbClr val="303030"/>
                </a:solidFill>
                <a:highlight>
                  <a:srgbClr val="FFFFFF"/>
                </a:highlight>
                <a:latin typeface="Arial"/>
                <a:ea typeface="Arial"/>
                <a:cs typeface="Arial"/>
                <a:sym typeface="Arial"/>
              </a:rPr>
              <a:t> позволяют сдвигать, поворачивать и масштабировать элементы. Трансформации преобразовывают элемент, не затрагивая остальные элементы веб-страницы, т.е. другие элементы не сдвигаются относительно него.</a:t>
            </a:r>
            <a:endParaRPr sz="1500">
              <a:solidFill>
                <a:srgbClr val="303030"/>
              </a:solidFill>
              <a:highlight>
                <a:srgbClr val="FFFFFF"/>
              </a:highlight>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5"/>
          <p:cNvSpPr txBox="1"/>
          <p:nvPr>
            <p:ph type="title"/>
          </p:nvPr>
        </p:nvSpPr>
        <p:spPr>
          <a:xfrm>
            <a:off x="819150" y="845600"/>
            <a:ext cx="7505700" cy="954600"/>
          </a:xfrm>
          <a:prstGeom prst="rect">
            <a:avLst/>
          </a:prstGeom>
          <a:ln>
            <a:noFill/>
          </a:ln>
        </p:spPr>
        <p:txBody>
          <a:bodyPr anchorCtr="0" anchor="t" bIns="91425" lIns="91425" spcFirstLastPara="1" rIns="91425" wrap="square" tIns="91425">
            <a:normAutofit/>
          </a:bodyPr>
          <a:lstStyle/>
          <a:p>
            <a:pPr indent="-412750" lvl="0" marL="457200" rtl="0" algn="l">
              <a:lnSpc>
                <a:spcPct val="115000"/>
              </a:lnSpc>
              <a:spcBef>
                <a:spcPts val="1400"/>
              </a:spcBef>
              <a:spcAft>
                <a:spcPts val="0"/>
              </a:spcAft>
              <a:buClr>
                <a:srgbClr val="000000"/>
              </a:buClr>
              <a:buSzPts val="2900"/>
              <a:buAutoNum type="arabicPeriod"/>
            </a:pPr>
            <a:r>
              <a:rPr b="1" lang="ru" sz="2900">
                <a:solidFill>
                  <a:srgbClr val="000000"/>
                </a:solidFill>
              </a:rPr>
              <a:t>CSS ТРАНСФОРМАЦИИ </a:t>
            </a:r>
            <a:r>
              <a:rPr b="1" lang="ru" sz="2900">
                <a:solidFill>
                  <a:srgbClr val="000000"/>
                </a:solidFill>
                <a:highlight>
                  <a:srgbClr val="D5A6BD"/>
                </a:highlight>
              </a:rPr>
              <a:t>(transform)</a:t>
            </a:r>
            <a:endParaRPr b="1" sz="4600">
              <a:highlight>
                <a:srgbClr val="D5A6BD"/>
              </a:highlight>
            </a:endParaRPr>
          </a:p>
        </p:txBody>
      </p:sp>
      <p:sp>
        <p:nvSpPr>
          <p:cNvPr id="142" name="Google Shape;142;p15"/>
          <p:cNvSpPr txBox="1"/>
          <p:nvPr>
            <p:ph idx="1" type="body"/>
          </p:nvPr>
        </p:nvSpPr>
        <p:spPr>
          <a:xfrm>
            <a:off x="401025" y="1628400"/>
            <a:ext cx="8363700" cy="3163200"/>
          </a:xfrm>
          <a:prstGeom prst="rect">
            <a:avLst/>
          </a:prstGeom>
        </p:spPr>
        <p:txBody>
          <a:bodyPr anchorCtr="0" anchor="t" bIns="91425" lIns="91425" spcFirstLastPara="1" rIns="91425" wrap="square" tIns="91425">
            <a:noAutofit/>
          </a:bodyPr>
          <a:lstStyle/>
          <a:p>
            <a:pPr indent="0" lvl="0" marL="0" rtl="0" algn="just">
              <a:spcBef>
                <a:spcPts val="0"/>
              </a:spcBef>
              <a:spcAft>
                <a:spcPts val="1100"/>
              </a:spcAft>
              <a:buNone/>
            </a:pPr>
            <a:r>
              <a:rPr lang="ru" sz="1500">
                <a:solidFill>
                  <a:srgbClr val="303030"/>
                </a:solidFill>
                <a:latin typeface="Arial"/>
                <a:ea typeface="Arial"/>
                <a:cs typeface="Arial"/>
                <a:sym typeface="Arial"/>
              </a:rPr>
              <a:t>Трансформированным считается элемент с любым установленным значением свойства </a:t>
            </a:r>
            <a:r>
              <a:rPr lang="ru" sz="1500">
                <a:solidFill>
                  <a:srgbClr val="303030"/>
                </a:solidFill>
                <a:highlight>
                  <a:srgbClr val="D5A6BD"/>
                </a:highlight>
                <a:latin typeface="Arial"/>
                <a:ea typeface="Arial"/>
                <a:cs typeface="Arial"/>
                <a:sym typeface="Arial"/>
              </a:rPr>
              <a:t>transform</a:t>
            </a:r>
            <a:r>
              <a:rPr lang="ru" sz="1500">
                <a:solidFill>
                  <a:srgbClr val="303030"/>
                </a:solidFill>
                <a:latin typeface="Arial"/>
                <a:ea typeface="Arial"/>
                <a:cs typeface="Arial"/>
                <a:sym typeface="Arial"/>
              </a:rPr>
              <a:t>, отличным от none.</a:t>
            </a:r>
            <a:br>
              <a:rPr lang="ru" sz="1500">
                <a:solidFill>
                  <a:srgbClr val="303030"/>
                </a:solidFill>
                <a:latin typeface="Arial"/>
                <a:ea typeface="Arial"/>
                <a:cs typeface="Arial"/>
                <a:sym typeface="Arial"/>
              </a:rPr>
            </a:br>
            <a:br>
              <a:rPr lang="ru" sz="1500">
                <a:solidFill>
                  <a:srgbClr val="303030"/>
                </a:solidFill>
                <a:latin typeface="Arial"/>
                <a:ea typeface="Arial"/>
                <a:cs typeface="Arial"/>
                <a:sym typeface="Arial"/>
              </a:rPr>
            </a:br>
            <a:r>
              <a:rPr lang="ru" sz="1500">
                <a:solidFill>
                  <a:srgbClr val="303030"/>
                </a:solidFill>
                <a:latin typeface="Arial"/>
                <a:ea typeface="Arial"/>
                <a:cs typeface="Arial"/>
                <a:sym typeface="Arial"/>
              </a:rPr>
              <a:t>Существуют два вида CSS-трансформаций – </a:t>
            </a:r>
            <a:r>
              <a:rPr b="1" lang="ru" sz="1500">
                <a:solidFill>
                  <a:srgbClr val="303030"/>
                </a:solidFill>
                <a:latin typeface="Arial"/>
                <a:ea typeface="Arial"/>
                <a:cs typeface="Arial"/>
                <a:sym typeface="Arial"/>
              </a:rPr>
              <a:t>2D</a:t>
            </a:r>
            <a:r>
              <a:rPr lang="ru" sz="1500">
                <a:solidFill>
                  <a:srgbClr val="303030"/>
                </a:solidFill>
                <a:latin typeface="Arial"/>
                <a:ea typeface="Arial"/>
                <a:cs typeface="Arial"/>
                <a:sym typeface="Arial"/>
              </a:rPr>
              <a:t> и </a:t>
            </a:r>
            <a:r>
              <a:rPr b="1" lang="ru" sz="1500">
                <a:solidFill>
                  <a:srgbClr val="303030"/>
                </a:solidFill>
                <a:latin typeface="Arial"/>
                <a:ea typeface="Arial"/>
                <a:cs typeface="Arial"/>
                <a:sym typeface="Arial"/>
              </a:rPr>
              <a:t>3D</a:t>
            </a:r>
            <a:r>
              <a:rPr lang="ru" sz="1500">
                <a:solidFill>
                  <a:srgbClr val="303030"/>
                </a:solidFill>
                <a:latin typeface="Arial"/>
                <a:ea typeface="Arial"/>
                <a:cs typeface="Arial"/>
                <a:sym typeface="Arial"/>
              </a:rPr>
              <a:t>. </a:t>
            </a:r>
            <a:r>
              <a:rPr b="1" lang="ru" sz="1500">
                <a:solidFill>
                  <a:srgbClr val="303030"/>
                </a:solidFill>
                <a:latin typeface="Arial"/>
                <a:ea typeface="Arial"/>
                <a:cs typeface="Arial"/>
                <a:sym typeface="Arial"/>
              </a:rPr>
              <a:t>2D-трансформации</a:t>
            </a:r>
            <a:r>
              <a:rPr lang="ru" sz="1500">
                <a:solidFill>
                  <a:srgbClr val="303030"/>
                </a:solidFill>
                <a:latin typeface="Arial"/>
                <a:ea typeface="Arial"/>
                <a:cs typeface="Arial"/>
                <a:sym typeface="Arial"/>
              </a:rPr>
              <a:t> преобразовывают элементы в двумерном пространстве с помощью 2D-матрицы преобразований. Эта матрица применяется для вычисления новых координат объекта, на основе значений свойств </a:t>
            </a:r>
            <a:r>
              <a:rPr lang="ru" sz="1500">
                <a:solidFill>
                  <a:srgbClr val="303030"/>
                </a:solidFill>
                <a:highlight>
                  <a:srgbClr val="D5A6BD"/>
                </a:highlight>
                <a:latin typeface="Arial"/>
                <a:ea typeface="Arial"/>
                <a:cs typeface="Arial"/>
                <a:sym typeface="Arial"/>
              </a:rPr>
              <a:t>transform </a:t>
            </a:r>
            <a:r>
              <a:rPr lang="ru" sz="1500">
                <a:solidFill>
                  <a:srgbClr val="303030"/>
                </a:solidFill>
                <a:latin typeface="Arial"/>
                <a:ea typeface="Arial"/>
                <a:cs typeface="Arial"/>
                <a:sym typeface="Arial"/>
              </a:rPr>
              <a:t>и </a:t>
            </a:r>
            <a:r>
              <a:rPr lang="ru" sz="1500">
                <a:solidFill>
                  <a:srgbClr val="303030"/>
                </a:solidFill>
                <a:highlight>
                  <a:srgbClr val="D5A6BD"/>
                </a:highlight>
                <a:latin typeface="Arial"/>
                <a:ea typeface="Arial"/>
                <a:cs typeface="Arial"/>
                <a:sym typeface="Arial"/>
              </a:rPr>
              <a:t>transform-origin</a:t>
            </a:r>
            <a:r>
              <a:rPr lang="ru" sz="1500">
                <a:solidFill>
                  <a:srgbClr val="303030"/>
                </a:solidFill>
                <a:latin typeface="Arial"/>
                <a:ea typeface="Arial"/>
                <a:cs typeface="Arial"/>
                <a:sym typeface="Arial"/>
              </a:rPr>
              <a:t>. Преобразования влияют только на визуальный рендеринг. В отношении макета страницы они могут отразиться на переполнении содержимого блока. По умолчанию точка трансформации находится в центре элемента.</a:t>
            </a:r>
            <a:endParaRPr sz="1500">
              <a:solidFill>
                <a:srgbClr val="30303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6"/>
          <p:cNvSpPr txBox="1"/>
          <p:nvPr>
            <p:ph type="title"/>
          </p:nvPr>
        </p:nvSpPr>
        <p:spPr>
          <a:xfrm>
            <a:off x="529275" y="845600"/>
            <a:ext cx="7795500" cy="954600"/>
          </a:xfrm>
          <a:prstGeom prst="rect">
            <a:avLst/>
          </a:prstGeom>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1.1. </a:t>
            </a:r>
            <a:r>
              <a:rPr b="1" lang="ru" sz="2800">
                <a:solidFill>
                  <a:srgbClr val="303030"/>
                </a:solidFill>
                <a:highlight>
                  <a:srgbClr val="FFFFFF"/>
                </a:highlight>
              </a:rPr>
              <a:t>Функции 2D-трансформации: свойство </a:t>
            </a:r>
            <a:r>
              <a:rPr b="1" lang="ru" sz="2800">
                <a:solidFill>
                  <a:srgbClr val="303030"/>
                </a:solidFill>
                <a:highlight>
                  <a:srgbClr val="D5A6BD"/>
                </a:highlight>
              </a:rPr>
              <a:t>transform</a:t>
            </a:r>
            <a:endParaRPr b="1" sz="2800">
              <a:solidFill>
                <a:srgbClr val="303030"/>
              </a:solidFill>
              <a:highlight>
                <a:srgbClr val="D5A6BD"/>
              </a:highlight>
            </a:endParaRPr>
          </a:p>
          <a:p>
            <a:pPr indent="0" lvl="0" marL="0" rtl="0" algn="l">
              <a:lnSpc>
                <a:spcPct val="115000"/>
              </a:lnSpc>
              <a:spcBef>
                <a:spcPts val="1400"/>
              </a:spcBef>
              <a:spcAft>
                <a:spcPts val="400"/>
              </a:spcAft>
              <a:buNone/>
            </a:pPr>
            <a:r>
              <a:t/>
            </a:r>
            <a:endParaRPr b="1" sz="2900">
              <a:solidFill>
                <a:srgbClr val="000000"/>
              </a:solidFill>
            </a:endParaRPr>
          </a:p>
        </p:txBody>
      </p:sp>
      <p:sp>
        <p:nvSpPr>
          <p:cNvPr id="148" name="Google Shape;148;p16"/>
          <p:cNvSpPr txBox="1"/>
          <p:nvPr>
            <p:ph idx="1" type="body"/>
          </p:nvPr>
        </p:nvSpPr>
        <p:spPr>
          <a:xfrm>
            <a:off x="401025" y="2141325"/>
            <a:ext cx="8363700" cy="1367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ru" sz="1500">
                <a:solidFill>
                  <a:srgbClr val="303030"/>
                </a:solidFill>
                <a:highlight>
                  <a:srgbClr val="FFFFFF"/>
                </a:highlight>
                <a:latin typeface="Arial"/>
                <a:ea typeface="Arial"/>
                <a:cs typeface="Arial"/>
                <a:sym typeface="Arial"/>
              </a:rPr>
              <a:t>Свойство </a:t>
            </a:r>
            <a:r>
              <a:rPr lang="ru" sz="1500">
                <a:solidFill>
                  <a:srgbClr val="303030"/>
                </a:solidFill>
                <a:highlight>
                  <a:srgbClr val="D5A6BD"/>
                </a:highlight>
                <a:latin typeface="Arial"/>
                <a:ea typeface="Arial"/>
                <a:cs typeface="Arial"/>
                <a:sym typeface="Arial"/>
              </a:rPr>
              <a:t>transform </a:t>
            </a:r>
            <a:r>
              <a:rPr lang="ru" sz="1500">
                <a:solidFill>
                  <a:srgbClr val="303030"/>
                </a:solidFill>
                <a:highlight>
                  <a:srgbClr val="FFFFFF"/>
                </a:highlight>
                <a:latin typeface="Arial"/>
                <a:ea typeface="Arial"/>
                <a:cs typeface="Arial"/>
                <a:sym typeface="Arial"/>
              </a:rPr>
              <a:t>задает</a:t>
            </a:r>
            <a:r>
              <a:rPr lang="ru" sz="1500">
                <a:solidFill>
                  <a:srgbClr val="303030"/>
                </a:solidFill>
                <a:highlight>
                  <a:srgbClr val="FFFFFF"/>
                </a:highlight>
                <a:latin typeface="Arial"/>
                <a:ea typeface="Arial"/>
                <a:cs typeface="Arial"/>
                <a:sym typeface="Arial"/>
              </a:rPr>
              <a:t> вид преобразования элемента. Свойство описывается с помощью </a:t>
            </a:r>
            <a:r>
              <a:rPr b="1" lang="ru" sz="1500">
                <a:solidFill>
                  <a:srgbClr val="303030"/>
                </a:solidFill>
                <a:highlight>
                  <a:srgbClr val="FFFFFF"/>
                </a:highlight>
                <a:latin typeface="Arial"/>
                <a:ea typeface="Arial"/>
                <a:cs typeface="Arial"/>
                <a:sym typeface="Arial"/>
              </a:rPr>
              <a:t>функций трансформации</a:t>
            </a:r>
            <a:r>
              <a:rPr lang="ru" sz="1500">
                <a:solidFill>
                  <a:srgbClr val="303030"/>
                </a:solidFill>
                <a:highlight>
                  <a:srgbClr val="FFFFFF"/>
                </a:highlight>
                <a:latin typeface="Arial"/>
                <a:ea typeface="Arial"/>
                <a:cs typeface="Arial"/>
                <a:sym typeface="Arial"/>
              </a:rPr>
              <a:t>, которые смещают элемент относительно его текущего положения на странице или изменяют его первоначальные размеры и форму.</a:t>
            </a:r>
            <a:endParaRPr sz="1500">
              <a:solidFill>
                <a:srgbClr val="303030"/>
              </a:solidFill>
              <a:highlight>
                <a:srgbClr val="FFFFFF"/>
              </a:highlight>
              <a:latin typeface="Arial"/>
              <a:ea typeface="Arial"/>
              <a:cs typeface="Arial"/>
              <a:sym typeface="Arial"/>
            </a:endParaRPr>
          </a:p>
          <a:p>
            <a:pPr indent="0" lvl="0" marL="0" rtl="0" algn="just">
              <a:spcBef>
                <a:spcPts val="1100"/>
              </a:spcBef>
              <a:spcAft>
                <a:spcPts val="0"/>
              </a:spcAft>
              <a:buNone/>
            </a:pPr>
            <a:r>
              <a:rPr b="1" lang="ru" sz="1500">
                <a:solidFill>
                  <a:srgbClr val="303030"/>
                </a:solidFill>
                <a:highlight>
                  <a:srgbClr val="FFFFFF"/>
                </a:highlight>
                <a:latin typeface="Arial"/>
                <a:ea typeface="Arial"/>
                <a:cs typeface="Arial"/>
                <a:sym typeface="Arial"/>
              </a:rPr>
              <a:t>Свойство не наследуется.</a:t>
            </a:r>
            <a:endParaRPr b="1" sz="1500">
              <a:solidFill>
                <a:srgbClr val="303030"/>
              </a:solidFill>
              <a:highlight>
                <a:srgbClr val="FFFFFF"/>
              </a:highlight>
              <a:latin typeface="Arial"/>
              <a:ea typeface="Arial"/>
              <a:cs typeface="Arial"/>
              <a:sym typeface="Arial"/>
            </a:endParaRPr>
          </a:p>
          <a:p>
            <a:pPr indent="0" lvl="0" marL="0" rtl="0" algn="just">
              <a:spcBef>
                <a:spcPts val="1100"/>
              </a:spcBef>
              <a:spcAft>
                <a:spcPts val="1100"/>
              </a:spcAft>
              <a:buNone/>
            </a:pPr>
            <a:r>
              <a:t/>
            </a:r>
            <a:endParaRPr sz="1500">
              <a:solidFill>
                <a:srgbClr val="303030"/>
              </a:solidFill>
              <a:latin typeface="Arial"/>
              <a:ea typeface="Arial"/>
              <a:cs typeface="Arial"/>
              <a:sym typeface="Arial"/>
            </a:endParaRPr>
          </a:p>
        </p:txBody>
      </p:sp>
      <p:sp>
        <p:nvSpPr>
          <p:cNvPr id="149" name="Google Shape;149;p16"/>
          <p:cNvSpPr/>
          <p:nvPr/>
        </p:nvSpPr>
        <p:spPr>
          <a:xfrm flipH="1">
            <a:off x="1731350" y="3598500"/>
            <a:ext cx="5551500" cy="1020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sz="900">
              <a:solidFill>
                <a:srgbClr val="232326"/>
              </a:solidFill>
            </a:endParaRPr>
          </a:p>
          <a:p>
            <a:pPr indent="457200" lvl="0" marL="0" rtl="0" algn="l">
              <a:lnSpc>
                <a:spcPct val="135714"/>
              </a:lnSpc>
              <a:spcBef>
                <a:spcPts val="1200"/>
              </a:spcBef>
              <a:spcAft>
                <a:spcPts val="0"/>
              </a:spcAft>
              <a:buNone/>
            </a:pPr>
            <a:r>
              <a:rPr lang="ru" sz="1350">
                <a:solidFill>
                  <a:srgbClr val="232326"/>
                </a:solidFill>
              </a:rPr>
              <a:t>selector {</a:t>
            </a:r>
            <a:endParaRPr sz="1350">
              <a:solidFill>
                <a:srgbClr val="232326"/>
              </a:solidFill>
            </a:endParaRPr>
          </a:p>
          <a:p>
            <a:pPr indent="0" lvl="0" marL="0" rtl="0" algn="l">
              <a:lnSpc>
                <a:spcPct val="135714"/>
              </a:lnSpc>
              <a:spcBef>
                <a:spcPts val="0"/>
              </a:spcBef>
              <a:spcAft>
                <a:spcPts val="0"/>
              </a:spcAft>
              <a:buNone/>
            </a:pPr>
            <a:r>
              <a:rPr lang="ru" sz="1350">
                <a:solidFill>
                  <a:srgbClr val="232326"/>
                </a:solidFill>
              </a:rPr>
              <a:t>  	</a:t>
            </a:r>
            <a:r>
              <a:rPr lang="ru" sz="1350">
                <a:solidFill>
                  <a:srgbClr val="232326"/>
                </a:solidFill>
                <a:highlight>
                  <a:srgbClr val="D5A6BD"/>
                </a:highlight>
              </a:rPr>
              <a:t>transform</a:t>
            </a:r>
            <a:r>
              <a:rPr lang="ru" sz="1350">
                <a:solidFill>
                  <a:srgbClr val="232326"/>
                </a:solidFill>
              </a:rPr>
              <a:t>: none | &lt;transform-function&gt; [&lt;transform-function&gt;...];</a:t>
            </a:r>
            <a:endParaRPr sz="1350">
              <a:solidFill>
                <a:srgbClr val="232326"/>
              </a:solidFill>
            </a:endParaRPr>
          </a:p>
          <a:p>
            <a:pPr indent="457200" lvl="0" marL="0" rtl="0" algn="l">
              <a:lnSpc>
                <a:spcPct val="135714"/>
              </a:lnSpc>
              <a:spcBef>
                <a:spcPts val="0"/>
              </a:spcBef>
              <a:spcAft>
                <a:spcPts val="0"/>
              </a:spcAft>
              <a:buNone/>
            </a:pPr>
            <a:r>
              <a:rPr lang="ru" sz="1350">
                <a:solidFill>
                  <a:srgbClr val="232326"/>
                </a:solidFill>
              </a:rPr>
              <a:t>}</a:t>
            </a:r>
            <a:endParaRPr sz="1350">
              <a:solidFill>
                <a:srgbClr val="232326"/>
              </a:solidFill>
            </a:endParaRPr>
          </a:p>
          <a:p>
            <a:pPr indent="0" lvl="0" marL="0" rtl="0" algn="l">
              <a:lnSpc>
                <a:spcPct val="115000"/>
              </a:lnSpc>
              <a:spcBef>
                <a:spcPts val="0"/>
              </a:spcBef>
              <a:spcAft>
                <a:spcPts val="1200"/>
              </a:spcAft>
              <a:buNone/>
            </a:pPr>
            <a:r>
              <a:t/>
            </a:r>
            <a:endParaRPr sz="1200">
              <a:solidFill>
                <a:srgbClr val="F7F8FC"/>
              </a:solidFill>
              <a:highlight>
                <a:srgbClr val="232326"/>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7"/>
          <p:cNvSpPr txBox="1"/>
          <p:nvPr>
            <p:ph type="title"/>
          </p:nvPr>
        </p:nvSpPr>
        <p:spPr>
          <a:xfrm>
            <a:off x="543525" y="603400"/>
            <a:ext cx="7795500" cy="954600"/>
          </a:xfrm>
          <a:prstGeom prst="rect">
            <a:avLst/>
          </a:prstGeom>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1.1. </a:t>
            </a:r>
            <a:r>
              <a:rPr b="1" lang="ru" sz="2800">
                <a:solidFill>
                  <a:srgbClr val="303030"/>
                </a:solidFill>
                <a:highlight>
                  <a:srgbClr val="FFFFFF"/>
                </a:highlight>
              </a:rPr>
              <a:t>Функции 2D-трансформации: свойство </a:t>
            </a:r>
            <a:r>
              <a:rPr b="1" lang="ru" sz="2800">
                <a:solidFill>
                  <a:srgbClr val="303030"/>
                </a:solidFill>
                <a:highlight>
                  <a:srgbClr val="D5A6BD"/>
                </a:highlight>
              </a:rPr>
              <a:t>transform</a:t>
            </a:r>
            <a:endParaRPr b="1" sz="2800">
              <a:solidFill>
                <a:srgbClr val="303030"/>
              </a:solidFill>
              <a:highlight>
                <a:srgbClr val="D5A6BD"/>
              </a:highlight>
            </a:endParaRPr>
          </a:p>
          <a:p>
            <a:pPr indent="0" lvl="0" marL="0" rtl="0" algn="l">
              <a:lnSpc>
                <a:spcPct val="115000"/>
              </a:lnSpc>
              <a:spcBef>
                <a:spcPts val="1400"/>
              </a:spcBef>
              <a:spcAft>
                <a:spcPts val="400"/>
              </a:spcAft>
              <a:buNone/>
            </a:pPr>
            <a:r>
              <a:t/>
            </a:r>
            <a:endParaRPr b="1" sz="2900">
              <a:solidFill>
                <a:srgbClr val="000000"/>
              </a:solidFill>
            </a:endParaRPr>
          </a:p>
        </p:txBody>
      </p:sp>
      <p:graphicFrame>
        <p:nvGraphicFramePr>
          <p:cNvPr id="155" name="Google Shape;155;p17"/>
          <p:cNvGraphicFramePr/>
          <p:nvPr/>
        </p:nvGraphicFramePr>
        <p:xfrm>
          <a:off x="389700" y="1914750"/>
          <a:ext cx="3000000" cy="3000000"/>
        </p:xfrm>
        <a:graphic>
          <a:graphicData uri="http://schemas.openxmlformats.org/drawingml/2006/table">
            <a:tbl>
              <a:tblPr>
                <a:noFill/>
                <a:tableStyleId>{B844C903-6187-492E-80BA-186675CCD9A1}</a:tableStyleId>
              </a:tblPr>
              <a:tblGrid>
                <a:gridCol w="4182300"/>
                <a:gridCol w="4182300"/>
              </a:tblGrid>
              <a:tr h="385750">
                <a:tc>
                  <a:txBody>
                    <a:bodyPr/>
                    <a:lstStyle/>
                    <a:p>
                      <a:pPr indent="0" lvl="0" marL="0" rtl="0" algn="ctr">
                        <a:spcBef>
                          <a:spcPts val="0"/>
                        </a:spcBef>
                        <a:spcAft>
                          <a:spcPts val="0"/>
                        </a:spcAft>
                        <a:buNone/>
                      </a:pPr>
                      <a:r>
                        <a:rPr b="1" lang="ru" sz="1200">
                          <a:solidFill>
                            <a:srgbClr val="303030"/>
                          </a:solidFill>
                        </a:rPr>
                        <a:t>Функция</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ru" sz="1200">
                          <a:solidFill>
                            <a:srgbClr val="303030"/>
                          </a:solidFill>
                        </a:rPr>
                        <a:t>Описание</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r>
              <a:tr h="385750">
                <a:tc>
                  <a:txBody>
                    <a:bodyPr/>
                    <a:lstStyle/>
                    <a:p>
                      <a:pPr indent="0" lvl="0" marL="0" rtl="0" algn="just">
                        <a:lnSpc>
                          <a:spcPct val="140000"/>
                        </a:lnSpc>
                        <a:spcBef>
                          <a:spcPts val="0"/>
                        </a:spcBef>
                        <a:spcAft>
                          <a:spcPts val="0"/>
                        </a:spcAft>
                        <a:buNone/>
                      </a:pPr>
                      <a:r>
                        <a:rPr lang="ru" sz="1200">
                          <a:solidFill>
                            <a:srgbClr val="303030"/>
                          </a:solidFill>
                          <a:highlight>
                            <a:srgbClr val="D5A6BD"/>
                          </a:highlight>
                        </a:rPr>
                        <a:t>none</a:t>
                      </a:r>
                      <a:endParaRPr sz="1200">
                        <a:solidFill>
                          <a:srgbClr val="303030"/>
                        </a:solidFill>
                        <a:highlight>
                          <a:srgbClr val="D5A6BD"/>
                        </a:highlight>
                      </a:endParaRPr>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a:txBody>
                    <a:bodyPr/>
                    <a:lstStyle/>
                    <a:p>
                      <a:pPr indent="0" lvl="0" marL="0" rtl="0" algn="just">
                        <a:lnSpc>
                          <a:spcPct val="140000"/>
                        </a:lnSpc>
                        <a:spcBef>
                          <a:spcPts val="0"/>
                        </a:spcBef>
                        <a:spcAft>
                          <a:spcPts val="0"/>
                        </a:spcAft>
                        <a:buNone/>
                      </a:pPr>
                      <a:r>
                        <a:rPr lang="ru" sz="1200">
                          <a:solidFill>
                            <a:srgbClr val="303030"/>
                          </a:solidFill>
                          <a:highlight>
                            <a:srgbClr val="FFFFFF"/>
                          </a:highlight>
                        </a:rPr>
                        <a:t>Значение по умолчанию, означает отсутствие трансформации. Также отменяет трансформацию для элемента из группы трансформируемых элементов.</a:t>
                      </a:r>
                      <a:endParaRPr sz="1200">
                        <a:solidFill>
                          <a:srgbClr val="303030"/>
                        </a:solidFill>
                        <a:highlight>
                          <a:srgbClr val="FFFFFF"/>
                        </a:highlight>
                      </a:endParaRPr>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r>
              <a:tr h="385750">
                <a:tc>
                  <a:txBody>
                    <a:bodyPr/>
                    <a:lstStyle/>
                    <a:p>
                      <a:pPr indent="0" lvl="0" marL="0" rtl="0" algn="just">
                        <a:lnSpc>
                          <a:spcPct val="140000"/>
                        </a:lnSpc>
                        <a:spcBef>
                          <a:spcPts val="0"/>
                        </a:spcBef>
                        <a:spcAft>
                          <a:spcPts val="0"/>
                        </a:spcAft>
                        <a:buNone/>
                      </a:pPr>
                      <a:r>
                        <a:rPr lang="ru" sz="1200">
                          <a:solidFill>
                            <a:srgbClr val="303030"/>
                          </a:solidFill>
                          <a:highlight>
                            <a:srgbClr val="D5A6BD"/>
                          </a:highlight>
                        </a:rPr>
                        <a:t>translate(x,y)</a:t>
                      </a:r>
                      <a:endParaRPr sz="1200">
                        <a:solidFill>
                          <a:srgbClr val="303030"/>
                        </a:solidFill>
                        <a:highlight>
                          <a:srgbClr val="D5A6BD"/>
                        </a:highlight>
                      </a:endParaRPr>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a:txBody>
                    <a:bodyPr/>
                    <a:lstStyle/>
                    <a:p>
                      <a:pPr indent="0" lvl="0" marL="0" rtl="0" algn="just">
                        <a:lnSpc>
                          <a:spcPct val="140000"/>
                        </a:lnSpc>
                        <a:spcBef>
                          <a:spcPts val="0"/>
                        </a:spcBef>
                        <a:spcAft>
                          <a:spcPts val="0"/>
                        </a:spcAft>
                        <a:buNone/>
                      </a:pPr>
                      <a:r>
                        <a:rPr lang="ru" sz="1200">
                          <a:solidFill>
                            <a:srgbClr val="303030"/>
                          </a:solidFill>
                          <a:highlight>
                            <a:srgbClr val="FFFFFF"/>
                          </a:highlight>
                        </a:rPr>
                        <a:t>Сдвигает элемент на новое место, перемещая относительно обычного положения вправо и вниз, используя координаты X и Y, не затрагивая при этом соседние элементы. Если нужно сдвинуть элемент влево или вверх, то нужно использовать отрицательные значения.</a:t>
                      </a:r>
                      <a:endParaRPr sz="1200">
                        <a:solidFill>
                          <a:srgbClr val="303030"/>
                        </a:solidFill>
                        <a:highlight>
                          <a:srgbClr val="FFFFFF"/>
                        </a:highlight>
                      </a:endParaRPr>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graphicFrame>
        <p:nvGraphicFramePr>
          <p:cNvPr id="160" name="Google Shape;160;p18"/>
          <p:cNvGraphicFramePr/>
          <p:nvPr/>
        </p:nvGraphicFramePr>
        <p:xfrm>
          <a:off x="389700" y="799163"/>
          <a:ext cx="3000000" cy="3000000"/>
        </p:xfrm>
        <a:graphic>
          <a:graphicData uri="http://schemas.openxmlformats.org/drawingml/2006/table">
            <a:tbl>
              <a:tblPr>
                <a:noFill/>
                <a:tableStyleId>{B844C903-6187-492E-80BA-186675CCD9A1}</a:tableStyleId>
              </a:tblPr>
              <a:tblGrid>
                <a:gridCol w="1517925"/>
                <a:gridCol w="6846675"/>
              </a:tblGrid>
              <a:tr h="985100">
                <a:tc gridSpan="2">
                  <a:txBody>
                    <a:bodyPr/>
                    <a:lstStyle/>
                    <a:p>
                      <a:pPr indent="0" lvl="0" marL="0" rtl="0" algn="ctr">
                        <a:spcBef>
                          <a:spcPts val="0"/>
                        </a:spcBef>
                        <a:spcAft>
                          <a:spcPts val="0"/>
                        </a:spcAft>
                        <a:buNone/>
                      </a:pPr>
                      <a:r>
                        <a:rPr b="1" lang="ru">
                          <a:solidFill>
                            <a:srgbClr val="303030"/>
                          </a:solidFill>
                        </a:rPr>
                        <a:t>Функция </a:t>
                      </a:r>
                      <a:r>
                        <a:rPr b="1" lang="ru" sz="1600">
                          <a:solidFill>
                            <a:srgbClr val="303030"/>
                          </a:solidFill>
                          <a:highlight>
                            <a:srgbClr val="D5A6BD"/>
                          </a:highlight>
                        </a:rPr>
                        <a:t>matrix(a, c, b, d, x, y)</a:t>
                      </a:r>
                      <a:endParaRPr b="1" sz="1600">
                        <a:solidFill>
                          <a:srgbClr val="303030"/>
                        </a:solidFill>
                        <a:highlight>
                          <a:srgbClr val="D5A6BD"/>
                        </a:highlight>
                      </a:endParaRPr>
                    </a:p>
                    <a:p>
                      <a:pPr indent="0" lvl="0" marL="0" rtl="0" algn="ctr">
                        <a:spcBef>
                          <a:spcPts val="0"/>
                        </a:spcBef>
                        <a:spcAft>
                          <a:spcPts val="0"/>
                        </a:spcAft>
                        <a:buNone/>
                      </a:pPr>
                      <a:r>
                        <a:t/>
                      </a:r>
                      <a:endParaRPr b="1" sz="1200">
                        <a:solidFill>
                          <a:srgbClr val="303030"/>
                        </a:solidFill>
                        <a:highlight>
                          <a:srgbClr val="D5A6BD"/>
                        </a:highlight>
                      </a:endParaRPr>
                    </a:p>
                    <a:p>
                      <a:pPr indent="0" lvl="0" marL="0" rtl="0" algn="ctr">
                        <a:spcBef>
                          <a:spcPts val="0"/>
                        </a:spcBef>
                        <a:spcAft>
                          <a:spcPts val="0"/>
                        </a:spcAft>
                        <a:buNone/>
                      </a:pPr>
                      <a:r>
                        <a:rPr lang="ru" sz="1200"/>
                        <a:t>  Объединяет ВСЕ 2D-трансформации в одной функции:               </a:t>
                      </a:r>
                      <a:endParaRPr sz="1200"/>
                    </a:p>
                    <a:p>
                      <a:pPr indent="0" lvl="0" marL="0" rtl="0" algn="ctr">
                        <a:spcBef>
                          <a:spcPts val="0"/>
                        </a:spcBef>
                        <a:spcAft>
                          <a:spcPts val="0"/>
                        </a:spcAft>
                        <a:buNone/>
                      </a:pPr>
                      <a:r>
                        <a:rPr lang="ru" sz="1200"/>
                        <a:t>  • Поворот • Масштабирование • Наклон • Перемещение</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hMerge="1"/>
              </a:tr>
              <a:tr h="305400">
                <a:tc>
                  <a:txBody>
                    <a:bodyPr/>
                    <a:lstStyle/>
                    <a:p>
                      <a:pPr indent="0" lvl="0" marL="0" rtl="0" algn="ctr">
                        <a:spcBef>
                          <a:spcPts val="0"/>
                        </a:spcBef>
                        <a:spcAft>
                          <a:spcPts val="0"/>
                        </a:spcAft>
                        <a:buNone/>
                      </a:pPr>
                      <a:r>
                        <a:rPr b="1" lang="ru" sz="1200">
                          <a:solidFill>
                            <a:srgbClr val="303030"/>
                          </a:solidFill>
                        </a:rPr>
                        <a:t> Параметр </a:t>
                      </a:r>
                      <a:endParaRPr b="1" sz="1200">
                        <a:solidFill>
                          <a:srgbClr val="303030"/>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ru" sz="1200">
                          <a:solidFill>
                            <a:srgbClr val="303030"/>
                          </a:solidFill>
                        </a:rPr>
                        <a:t>Что делает  </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5400">
                <a:tc>
                  <a:txBody>
                    <a:bodyPr/>
                    <a:lstStyle/>
                    <a:p>
                      <a:pPr indent="0" lvl="0" marL="0" rtl="0" algn="ctr">
                        <a:spcBef>
                          <a:spcPts val="0"/>
                        </a:spcBef>
                        <a:spcAft>
                          <a:spcPts val="0"/>
                        </a:spcAft>
                        <a:buNone/>
                      </a:pPr>
                      <a:r>
                        <a:rPr b="1" lang="ru" sz="1200">
                          <a:solidFill>
                            <a:srgbClr val="303030"/>
                          </a:solidFill>
                        </a:rPr>
                        <a:t>a</a:t>
                      </a:r>
                      <a:endParaRPr b="1" sz="1200">
                        <a:solidFill>
                          <a:srgbClr val="303030"/>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ru" sz="1200">
                          <a:solidFill>
                            <a:srgbClr val="303030"/>
                          </a:solidFill>
                        </a:rPr>
                        <a:t>Масштаб по горизонтали (0-1=уменьшение, &gt;1=увеличение)    </a:t>
                      </a:r>
                      <a:endParaRPr sz="1200">
                        <a:solidFill>
                          <a:srgbClr val="303030"/>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5400">
                <a:tc>
                  <a:txBody>
                    <a:bodyPr/>
                    <a:lstStyle/>
                    <a:p>
                      <a:pPr indent="0" lvl="0" marL="0" rtl="0" algn="ctr">
                        <a:spcBef>
                          <a:spcPts val="0"/>
                        </a:spcBef>
                        <a:spcAft>
                          <a:spcPts val="0"/>
                        </a:spcAft>
                        <a:buNone/>
                      </a:pPr>
                      <a:r>
                        <a:rPr b="1" lang="ru" sz="1200">
                          <a:solidFill>
                            <a:srgbClr val="303030"/>
                          </a:solidFill>
                        </a:rPr>
                        <a:t>b</a:t>
                      </a:r>
                      <a:endParaRPr b="1" sz="1200">
                        <a:solidFill>
                          <a:srgbClr val="303030"/>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ru" sz="1200">
                          <a:solidFill>
                            <a:srgbClr val="303030"/>
                          </a:solidFill>
                        </a:rPr>
                        <a:t>Наклон по оси Y (+=вверх, -=вниз)</a:t>
                      </a:r>
                      <a:endParaRPr sz="1200">
                        <a:solidFill>
                          <a:srgbClr val="303030"/>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5400">
                <a:tc>
                  <a:txBody>
                    <a:bodyPr/>
                    <a:lstStyle/>
                    <a:p>
                      <a:pPr indent="0" lvl="0" marL="0" rtl="0" algn="ctr">
                        <a:spcBef>
                          <a:spcPts val="0"/>
                        </a:spcBef>
                        <a:spcAft>
                          <a:spcPts val="0"/>
                        </a:spcAft>
                        <a:buNone/>
                      </a:pPr>
                      <a:r>
                        <a:rPr b="1" lang="ru" sz="1200">
                          <a:solidFill>
                            <a:srgbClr val="303030"/>
                          </a:solidFill>
                        </a:rPr>
                        <a:t>c</a:t>
                      </a:r>
                      <a:endParaRPr b="1" sz="1200">
                        <a:solidFill>
                          <a:srgbClr val="303030"/>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ru" sz="1200">
                          <a:solidFill>
                            <a:srgbClr val="303030"/>
                          </a:solidFill>
                        </a:rPr>
                        <a:t>Наклон по оси X (+=влево, -=вправо)</a:t>
                      </a:r>
                      <a:endParaRPr sz="1200">
                        <a:solidFill>
                          <a:srgbClr val="303030"/>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5400">
                <a:tc>
                  <a:txBody>
                    <a:bodyPr/>
                    <a:lstStyle/>
                    <a:p>
                      <a:pPr indent="0" lvl="0" marL="0" rtl="0" algn="ctr">
                        <a:spcBef>
                          <a:spcPts val="0"/>
                        </a:spcBef>
                        <a:spcAft>
                          <a:spcPts val="0"/>
                        </a:spcAft>
                        <a:buNone/>
                      </a:pPr>
                      <a:r>
                        <a:rPr b="1" lang="ru" sz="1200">
                          <a:solidFill>
                            <a:srgbClr val="303030"/>
                          </a:solidFill>
                        </a:rPr>
                        <a:t>d</a:t>
                      </a:r>
                      <a:endParaRPr b="1" sz="1200">
                        <a:solidFill>
                          <a:srgbClr val="303030"/>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ru" sz="1200">
                          <a:solidFill>
                            <a:srgbClr val="303030"/>
                          </a:solidFill>
                        </a:rPr>
                        <a:t>Масштаб по вертикали (&lt;1=уменьшение, &gt;1=увеличение) </a:t>
                      </a:r>
                      <a:endParaRPr sz="1200">
                        <a:solidFill>
                          <a:srgbClr val="303030"/>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5400">
                <a:tc>
                  <a:txBody>
                    <a:bodyPr/>
                    <a:lstStyle/>
                    <a:p>
                      <a:pPr indent="0" lvl="0" marL="0" rtl="0" algn="ctr">
                        <a:spcBef>
                          <a:spcPts val="0"/>
                        </a:spcBef>
                        <a:spcAft>
                          <a:spcPts val="0"/>
                        </a:spcAft>
                        <a:buNone/>
                      </a:pPr>
                      <a:r>
                        <a:rPr b="1" lang="ru" sz="1200">
                          <a:solidFill>
                            <a:srgbClr val="303030"/>
                          </a:solidFill>
                        </a:rPr>
                        <a:t>x</a:t>
                      </a:r>
                      <a:endParaRPr b="1" sz="1200">
                        <a:solidFill>
                          <a:srgbClr val="303030"/>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ru" sz="1200">
                          <a:solidFill>
                            <a:srgbClr val="303030"/>
                          </a:solidFill>
                        </a:rPr>
                        <a:t>Смещение по оси X (+=вправо, -=влево) </a:t>
                      </a:r>
                      <a:endParaRPr sz="1200">
                        <a:solidFill>
                          <a:srgbClr val="303030"/>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5400">
                <a:tc>
                  <a:txBody>
                    <a:bodyPr/>
                    <a:lstStyle/>
                    <a:p>
                      <a:pPr indent="0" lvl="0" marL="0" rtl="0" algn="ctr">
                        <a:spcBef>
                          <a:spcPts val="0"/>
                        </a:spcBef>
                        <a:spcAft>
                          <a:spcPts val="0"/>
                        </a:spcAft>
                        <a:buNone/>
                      </a:pPr>
                      <a:r>
                        <a:rPr b="1" lang="ru" sz="1200">
                          <a:solidFill>
                            <a:srgbClr val="303030"/>
                          </a:solidFill>
                        </a:rPr>
                        <a:t>y</a:t>
                      </a:r>
                      <a:endParaRPr b="1" sz="1200">
                        <a:solidFill>
                          <a:srgbClr val="303030"/>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ru" sz="1200">
                          <a:solidFill>
                            <a:srgbClr val="303030"/>
                          </a:solidFill>
                        </a:rPr>
                        <a:t>Смещение по оси Y (+=вниз, -=вверх) </a:t>
                      </a:r>
                      <a:endParaRPr sz="1200">
                        <a:solidFill>
                          <a:srgbClr val="303030"/>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r>
            </a:tbl>
          </a:graphicData>
        </a:graphic>
      </p:graphicFrame>
      <p:sp>
        <p:nvSpPr>
          <p:cNvPr id="161" name="Google Shape;161;p18"/>
          <p:cNvSpPr/>
          <p:nvPr/>
        </p:nvSpPr>
        <p:spPr>
          <a:xfrm>
            <a:off x="2983075" y="4547250"/>
            <a:ext cx="3323700" cy="182100"/>
          </a:xfrm>
          <a:prstGeom prst="rect">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2" name="Google Shape;162;p18"/>
          <p:cNvSpPr txBox="1"/>
          <p:nvPr/>
        </p:nvSpPr>
        <p:spPr>
          <a:xfrm>
            <a:off x="3144925" y="4453650"/>
            <a:ext cx="3000000" cy="369300"/>
          </a:xfrm>
          <a:prstGeom prst="rect">
            <a:avLst/>
          </a:prstGeom>
          <a:solidFill>
            <a:schemeClr val="dk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ru" sz="1200"/>
              <a:t>Пример: matrix(1, 0.2, -0.2, 1, 50, 100)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9"/>
          <p:cNvSpPr txBox="1"/>
          <p:nvPr>
            <p:ph type="title"/>
          </p:nvPr>
        </p:nvSpPr>
        <p:spPr>
          <a:xfrm>
            <a:off x="529275" y="517900"/>
            <a:ext cx="7795500" cy="954600"/>
          </a:xfrm>
          <a:prstGeom prst="rect">
            <a:avLst/>
          </a:prstGeom>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1.1. </a:t>
            </a:r>
            <a:r>
              <a:rPr b="1" lang="ru" sz="2800">
                <a:solidFill>
                  <a:srgbClr val="303030"/>
                </a:solidFill>
                <a:highlight>
                  <a:srgbClr val="FFFFFF"/>
                </a:highlight>
              </a:rPr>
              <a:t>Функции 2D-трансформации: свойство </a:t>
            </a:r>
            <a:r>
              <a:rPr b="1" lang="ru" sz="2800">
                <a:solidFill>
                  <a:srgbClr val="303030"/>
                </a:solidFill>
                <a:highlight>
                  <a:srgbClr val="D5A6BD"/>
                </a:highlight>
              </a:rPr>
              <a:t>transform</a:t>
            </a:r>
            <a:endParaRPr b="1" sz="2800">
              <a:solidFill>
                <a:srgbClr val="303030"/>
              </a:solidFill>
              <a:highlight>
                <a:srgbClr val="D5A6BD"/>
              </a:highlight>
            </a:endParaRPr>
          </a:p>
          <a:p>
            <a:pPr indent="0" lvl="0" marL="0" rtl="0" algn="l">
              <a:lnSpc>
                <a:spcPct val="115000"/>
              </a:lnSpc>
              <a:spcBef>
                <a:spcPts val="1400"/>
              </a:spcBef>
              <a:spcAft>
                <a:spcPts val="400"/>
              </a:spcAft>
              <a:buNone/>
            </a:pPr>
            <a:r>
              <a:t/>
            </a:r>
            <a:endParaRPr b="1" sz="2900">
              <a:solidFill>
                <a:srgbClr val="000000"/>
              </a:solidFill>
            </a:endParaRPr>
          </a:p>
        </p:txBody>
      </p:sp>
      <p:graphicFrame>
        <p:nvGraphicFramePr>
          <p:cNvPr id="168" name="Google Shape;168;p19"/>
          <p:cNvGraphicFramePr/>
          <p:nvPr/>
        </p:nvGraphicFramePr>
        <p:xfrm>
          <a:off x="389700" y="1772275"/>
          <a:ext cx="3000000" cy="3000000"/>
        </p:xfrm>
        <a:graphic>
          <a:graphicData uri="http://schemas.openxmlformats.org/drawingml/2006/table">
            <a:tbl>
              <a:tblPr>
                <a:noFill/>
                <a:tableStyleId>{B844C903-6187-492E-80BA-186675CCD9A1}</a:tableStyleId>
              </a:tblPr>
              <a:tblGrid>
                <a:gridCol w="1190225"/>
                <a:gridCol w="7174375"/>
              </a:tblGrid>
              <a:tr h="385750">
                <a:tc>
                  <a:txBody>
                    <a:bodyPr/>
                    <a:lstStyle/>
                    <a:p>
                      <a:pPr indent="0" lvl="0" marL="0" rtl="0" algn="ctr">
                        <a:spcBef>
                          <a:spcPts val="0"/>
                        </a:spcBef>
                        <a:spcAft>
                          <a:spcPts val="0"/>
                        </a:spcAft>
                        <a:buNone/>
                      </a:pPr>
                      <a:r>
                        <a:rPr b="1" lang="ru" sz="1200">
                          <a:solidFill>
                            <a:srgbClr val="303030"/>
                          </a:solidFill>
                        </a:rPr>
                        <a:t>Функция</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ru" sz="1200">
                          <a:solidFill>
                            <a:srgbClr val="303030"/>
                          </a:solidFill>
                        </a:rPr>
                        <a:t>Описание</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r>
              <a:tr h="385750">
                <a:tc>
                  <a:txBody>
                    <a:bodyPr/>
                    <a:lstStyle/>
                    <a:p>
                      <a:pPr indent="0" lvl="0" marL="0" rtl="0" algn="just">
                        <a:lnSpc>
                          <a:spcPct val="140000"/>
                        </a:lnSpc>
                        <a:spcBef>
                          <a:spcPts val="0"/>
                        </a:spcBef>
                        <a:spcAft>
                          <a:spcPts val="0"/>
                        </a:spcAft>
                        <a:buNone/>
                      </a:pPr>
                      <a:r>
                        <a:rPr lang="ru" sz="1200">
                          <a:solidFill>
                            <a:srgbClr val="303030"/>
                          </a:solidFill>
                          <a:highlight>
                            <a:srgbClr val="D5A6BD"/>
                          </a:highlight>
                        </a:rPr>
                        <a:t>translateX(n)</a:t>
                      </a:r>
                      <a:endParaRPr sz="1200">
                        <a:solidFill>
                          <a:srgbClr val="303030"/>
                        </a:solidFill>
                        <a:highlight>
                          <a:srgbClr val="D5A6BD"/>
                        </a:highlight>
                      </a:endParaRPr>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a:txBody>
                    <a:bodyPr/>
                    <a:lstStyle/>
                    <a:p>
                      <a:pPr indent="0" lvl="0" marL="0" rtl="0" algn="just">
                        <a:lnSpc>
                          <a:spcPct val="140000"/>
                        </a:lnSpc>
                        <a:spcBef>
                          <a:spcPts val="0"/>
                        </a:spcBef>
                        <a:spcAft>
                          <a:spcPts val="0"/>
                        </a:spcAft>
                        <a:buNone/>
                      </a:pPr>
                      <a:r>
                        <a:rPr lang="ru" sz="1200">
                          <a:solidFill>
                            <a:srgbClr val="303030"/>
                          </a:solidFill>
                        </a:rPr>
                        <a:t>Сдвигает элемент относительно его обычного положения по оси X.</a:t>
                      </a:r>
                      <a:endParaRPr sz="1200">
                        <a:solidFill>
                          <a:srgbClr val="303030"/>
                        </a:solidFill>
                      </a:endParaRPr>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r>
              <a:tr h="385750">
                <a:tc>
                  <a:txBody>
                    <a:bodyPr/>
                    <a:lstStyle/>
                    <a:p>
                      <a:pPr indent="0" lvl="0" marL="0" rtl="0" algn="just">
                        <a:lnSpc>
                          <a:spcPct val="140000"/>
                        </a:lnSpc>
                        <a:spcBef>
                          <a:spcPts val="0"/>
                        </a:spcBef>
                        <a:spcAft>
                          <a:spcPts val="0"/>
                        </a:spcAft>
                        <a:buNone/>
                      </a:pPr>
                      <a:r>
                        <a:rPr lang="ru" sz="1200">
                          <a:solidFill>
                            <a:srgbClr val="303030"/>
                          </a:solidFill>
                          <a:highlight>
                            <a:srgbClr val="D5A6BD"/>
                          </a:highlight>
                        </a:rPr>
                        <a:t>translateY(n)</a:t>
                      </a:r>
                      <a:endParaRPr sz="1200">
                        <a:solidFill>
                          <a:srgbClr val="303030"/>
                        </a:solidFill>
                        <a:highlight>
                          <a:srgbClr val="D5A6BD"/>
                        </a:highlight>
                      </a:endParaRPr>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a:txBody>
                    <a:bodyPr/>
                    <a:lstStyle/>
                    <a:p>
                      <a:pPr indent="0" lvl="0" marL="0" rtl="0" algn="just">
                        <a:lnSpc>
                          <a:spcPct val="140000"/>
                        </a:lnSpc>
                        <a:spcBef>
                          <a:spcPts val="0"/>
                        </a:spcBef>
                        <a:spcAft>
                          <a:spcPts val="0"/>
                        </a:spcAft>
                        <a:buNone/>
                      </a:pPr>
                      <a:r>
                        <a:rPr lang="ru" sz="1200">
                          <a:solidFill>
                            <a:srgbClr val="303030"/>
                          </a:solidFill>
                        </a:rPr>
                        <a:t>Сдвигает элемент относительно его обычного положения по оси Y.</a:t>
                      </a:r>
                      <a:endParaRPr sz="1200">
                        <a:solidFill>
                          <a:srgbClr val="303030"/>
                        </a:solidFill>
                      </a:endParaRPr>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r>
              <a:tr h="385750">
                <a:tc>
                  <a:txBody>
                    <a:bodyPr/>
                    <a:lstStyle/>
                    <a:p>
                      <a:pPr indent="0" lvl="0" marL="0" rtl="0" algn="just">
                        <a:lnSpc>
                          <a:spcPct val="140000"/>
                        </a:lnSpc>
                        <a:spcBef>
                          <a:spcPts val="0"/>
                        </a:spcBef>
                        <a:spcAft>
                          <a:spcPts val="0"/>
                        </a:spcAft>
                        <a:buNone/>
                      </a:pPr>
                      <a:r>
                        <a:rPr lang="ru" sz="1200">
                          <a:solidFill>
                            <a:srgbClr val="303030"/>
                          </a:solidFill>
                          <a:highlight>
                            <a:srgbClr val="D5A6BD"/>
                          </a:highlight>
                        </a:rPr>
                        <a:t>scale(x,y)</a:t>
                      </a:r>
                      <a:endParaRPr sz="1200">
                        <a:solidFill>
                          <a:srgbClr val="303030"/>
                        </a:solidFill>
                        <a:highlight>
                          <a:srgbClr val="D5A6BD"/>
                        </a:highlight>
                      </a:endParaRPr>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a:txBody>
                    <a:bodyPr/>
                    <a:lstStyle/>
                    <a:p>
                      <a:pPr indent="0" lvl="0" marL="0" rtl="0" algn="just">
                        <a:lnSpc>
                          <a:spcPct val="140000"/>
                        </a:lnSpc>
                        <a:spcBef>
                          <a:spcPts val="0"/>
                        </a:spcBef>
                        <a:spcAft>
                          <a:spcPts val="0"/>
                        </a:spcAft>
                        <a:buNone/>
                      </a:pPr>
                      <a:r>
                        <a:rPr lang="ru" sz="1200">
                          <a:solidFill>
                            <a:srgbClr val="303030"/>
                          </a:solidFill>
                        </a:rPr>
                        <a:t>Масштабирует элементы, делая их больше или меньше. Значения от 0 до 1 уменьшают элемент. Первое значение масштабирует элемент по ширине, второе — по высоте. Отрицательные значения отображают элемент зеркально.</a:t>
                      </a:r>
                      <a:endParaRPr sz="1200">
                        <a:solidFill>
                          <a:srgbClr val="303030"/>
                        </a:solidFill>
                      </a:endParaRPr>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r>
              <a:tr h="385750">
                <a:tc>
                  <a:txBody>
                    <a:bodyPr/>
                    <a:lstStyle/>
                    <a:p>
                      <a:pPr indent="0" lvl="0" marL="0" rtl="0" algn="just">
                        <a:lnSpc>
                          <a:spcPct val="140000"/>
                        </a:lnSpc>
                        <a:spcBef>
                          <a:spcPts val="0"/>
                        </a:spcBef>
                        <a:spcAft>
                          <a:spcPts val="0"/>
                        </a:spcAft>
                        <a:buNone/>
                      </a:pPr>
                      <a:r>
                        <a:rPr lang="ru" sz="1200">
                          <a:solidFill>
                            <a:srgbClr val="303030"/>
                          </a:solidFill>
                          <a:highlight>
                            <a:srgbClr val="D5A6BD"/>
                          </a:highlight>
                        </a:rPr>
                        <a:t>scaleX(n)</a:t>
                      </a:r>
                      <a:endParaRPr sz="1200">
                        <a:solidFill>
                          <a:srgbClr val="303030"/>
                        </a:solidFill>
                        <a:highlight>
                          <a:srgbClr val="D5A6BD"/>
                        </a:highlight>
                      </a:endParaRPr>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a:txBody>
                    <a:bodyPr/>
                    <a:lstStyle/>
                    <a:p>
                      <a:pPr indent="0" lvl="0" marL="0" rtl="0" algn="just">
                        <a:lnSpc>
                          <a:spcPct val="140000"/>
                        </a:lnSpc>
                        <a:spcBef>
                          <a:spcPts val="0"/>
                        </a:spcBef>
                        <a:spcAft>
                          <a:spcPts val="0"/>
                        </a:spcAft>
                        <a:buNone/>
                      </a:pPr>
                      <a:r>
                        <a:rPr lang="ru" sz="1200">
                          <a:solidFill>
                            <a:srgbClr val="303030"/>
                          </a:solidFill>
                        </a:rPr>
                        <a:t>Функция масштабирует элемент по ширине, делая его шире или уже. Если значение больше единицы, элемент становится шире, если значение находится между единицей и нулем, элемент становится уже. Отрицательные значения отображают элемент зеркально по горизонтали.</a:t>
                      </a:r>
                      <a:endParaRPr sz="1200">
                        <a:solidFill>
                          <a:srgbClr val="303030"/>
                        </a:solidFill>
                      </a:endParaRPr>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0"/>
          <p:cNvSpPr txBox="1"/>
          <p:nvPr>
            <p:ph type="title"/>
          </p:nvPr>
        </p:nvSpPr>
        <p:spPr>
          <a:xfrm>
            <a:off x="819150" y="1328800"/>
            <a:ext cx="7505700" cy="425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500">
                <a:solidFill>
                  <a:srgbClr val="000000"/>
                </a:solidFill>
                <a:latin typeface="Arial"/>
                <a:ea typeface="Arial"/>
                <a:cs typeface="Arial"/>
                <a:sym typeface="Arial"/>
              </a:rPr>
              <a:t>Положительные значения сдвигают вправо/вниз, отрицательные — влево/вверх .</a:t>
            </a:r>
            <a:endParaRPr sz="3300">
              <a:solidFill>
                <a:srgbClr val="000000"/>
              </a:solidFill>
              <a:latin typeface="Arial"/>
              <a:ea typeface="Arial"/>
              <a:cs typeface="Arial"/>
              <a:sym typeface="Arial"/>
            </a:endParaRPr>
          </a:p>
        </p:txBody>
      </p:sp>
      <p:sp>
        <p:nvSpPr>
          <p:cNvPr id="174" name="Google Shape;174;p20"/>
          <p:cNvSpPr txBox="1"/>
          <p:nvPr>
            <p:ph idx="1" type="body"/>
          </p:nvPr>
        </p:nvSpPr>
        <p:spPr>
          <a:xfrm>
            <a:off x="1753800" y="2044425"/>
            <a:ext cx="5636400" cy="1986600"/>
          </a:xfrm>
          <a:prstGeom prst="rect">
            <a:avLst/>
          </a:prstGeom>
          <a:ln cap="flat" cmpd="sng" w="9525">
            <a:solidFill>
              <a:srgbClr val="232326"/>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ru">
                <a:latin typeface="Arial"/>
                <a:ea typeface="Arial"/>
                <a:cs typeface="Arial"/>
                <a:sym typeface="Arial"/>
              </a:rPr>
              <a:t>/* Пример использования */</a:t>
            </a:r>
            <a:endParaRPr>
              <a:latin typeface="Arial"/>
              <a:ea typeface="Arial"/>
              <a:cs typeface="Arial"/>
              <a:sym typeface="Arial"/>
            </a:endParaRPr>
          </a:p>
          <a:p>
            <a:pPr indent="0" lvl="0" marL="0" rtl="0" algn="l">
              <a:spcBef>
                <a:spcPts val="1200"/>
              </a:spcBef>
              <a:spcAft>
                <a:spcPts val="0"/>
              </a:spcAft>
              <a:buNone/>
            </a:pPr>
            <a:r>
              <a:rPr lang="ru">
                <a:latin typeface="Arial"/>
                <a:ea typeface="Arial"/>
                <a:cs typeface="Arial"/>
                <a:sym typeface="Arial"/>
              </a:rPr>
              <a:t>.moved-element {</a:t>
            </a:r>
            <a:endParaRPr>
              <a:latin typeface="Arial"/>
              <a:ea typeface="Arial"/>
              <a:cs typeface="Arial"/>
              <a:sym typeface="Arial"/>
            </a:endParaRPr>
          </a:p>
          <a:p>
            <a:pPr indent="0" lvl="0" marL="0" rtl="0" algn="l">
              <a:spcBef>
                <a:spcPts val="1200"/>
              </a:spcBef>
              <a:spcAft>
                <a:spcPts val="0"/>
              </a:spcAft>
              <a:buNone/>
            </a:pPr>
            <a:r>
              <a:rPr lang="ru">
                <a:latin typeface="Arial"/>
                <a:ea typeface="Arial"/>
                <a:cs typeface="Arial"/>
                <a:sym typeface="Arial"/>
              </a:rPr>
              <a:t>  transform: </a:t>
            </a:r>
            <a:r>
              <a:rPr lang="ru">
                <a:highlight>
                  <a:srgbClr val="D5A6BD"/>
                </a:highlight>
                <a:latin typeface="Arial"/>
                <a:ea typeface="Arial"/>
                <a:cs typeface="Arial"/>
                <a:sym typeface="Arial"/>
              </a:rPr>
              <a:t>translate</a:t>
            </a:r>
            <a:r>
              <a:rPr lang="ru">
                <a:latin typeface="Arial"/>
                <a:ea typeface="Arial"/>
                <a:cs typeface="Arial"/>
                <a:sym typeface="Arial"/>
              </a:rPr>
              <a:t>(50px, 100px);</a:t>
            </a:r>
            <a:endParaRPr>
              <a:latin typeface="Arial"/>
              <a:ea typeface="Arial"/>
              <a:cs typeface="Arial"/>
              <a:sym typeface="Arial"/>
            </a:endParaRPr>
          </a:p>
          <a:p>
            <a:pPr indent="0" lvl="0" marL="0" rtl="0" algn="l">
              <a:spcBef>
                <a:spcPts val="1200"/>
              </a:spcBef>
              <a:spcAft>
                <a:spcPts val="0"/>
              </a:spcAft>
              <a:buNone/>
            </a:pPr>
            <a:r>
              <a:rPr lang="ru">
                <a:latin typeface="Arial"/>
                <a:ea typeface="Arial"/>
                <a:cs typeface="Arial"/>
                <a:sym typeface="Arial"/>
              </a:rPr>
              <a:t>  /* Элемент визуально сместится, но место в макете сохранится */</a:t>
            </a:r>
            <a:endParaRPr>
              <a:latin typeface="Arial"/>
              <a:ea typeface="Arial"/>
              <a:cs typeface="Arial"/>
              <a:sym typeface="Arial"/>
            </a:endParaRPr>
          </a:p>
          <a:p>
            <a:pPr indent="0" lvl="0" marL="0" rtl="0" algn="l">
              <a:spcBef>
                <a:spcPts val="1200"/>
              </a:spcBef>
              <a:spcAft>
                <a:spcPts val="1200"/>
              </a:spcAft>
              <a:buNone/>
            </a:pPr>
            <a:r>
              <a:rPr lang="ru">
                <a:latin typeface="Arial"/>
                <a:ea typeface="Arial"/>
                <a:cs typeface="Arial"/>
                <a:sym typeface="Arial"/>
              </a:rPr>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graphicFrame>
        <p:nvGraphicFramePr>
          <p:cNvPr id="179" name="Google Shape;179;p21"/>
          <p:cNvGraphicFramePr/>
          <p:nvPr/>
        </p:nvGraphicFramePr>
        <p:xfrm>
          <a:off x="389700" y="733000"/>
          <a:ext cx="3000000" cy="3000000"/>
        </p:xfrm>
        <a:graphic>
          <a:graphicData uri="http://schemas.openxmlformats.org/drawingml/2006/table">
            <a:tbl>
              <a:tblPr>
                <a:noFill/>
                <a:tableStyleId>{B844C903-6187-492E-80BA-186675CCD9A1}</a:tableStyleId>
              </a:tblPr>
              <a:tblGrid>
                <a:gridCol w="1190225"/>
                <a:gridCol w="7174375"/>
              </a:tblGrid>
              <a:tr h="385750">
                <a:tc>
                  <a:txBody>
                    <a:bodyPr/>
                    <a:lstStyle/>
                    <a:p>
                      <a:pPr indent="0" lvl="0" marL="0" rtl="0" algn="ctr">
                        <a:spcBef>
                          <a:spcPts val="0"/>
                        </a:spcBef>
                        <a:spcAft>
                          <a:spcPts val="0"/>
                        </a:spcAft>
                        <a:buNone/>
                      </a:pPr>
                      <a:r>
                        <a:rPr b="1" lang="ru" sz="1200">
                          <a:solidFill>
                            <a:srgbClr val="303030"/>
                          </a:solidFill>
                        </a:rPr>
                        <a:t>Функция</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ru" sz="1200">
                          <a:solidFill>
                            <a:srgbClr val="303030"/>
                          </a:solidFill>
                        </a:rPr>
                        <a:t>Описание</a:t>
                      </a:r>
                      <a:endParaRPr sz="12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r>
              <a:tr h="385750">
                <a:tc>
                  <a:txBody>
                    <a:bodyPr/>
                    <a:lstStyle/>
                    <a:p>
                      <a:pPr indent="0" lvl="0" marL="0" rtl="0" algn="just">
                        <a:lnSpc>
                          <a:spcPct val="100000"/>
                        </a:lnSpc>
                        <a:spcBef>
                          <a:spcPts val="0"/>
                        </a:spcBef>
                        <a:spcAft>
                          <a:spcPts val="0"/>
                        </a:spcAft>
                        <a:buNone/>
                      </a:pPr>
                      <a:r>
                        <a:rPr lang="ru" sz="1200">
                          <a:highlight>
                            <a:srgbClr val="D5A6BD"/>
                          </a:highlight>
                        </a:rPr>
                        <a:t>scaleY(n)</a:t>
                      </a:r>
                      <a:endParaRPr sz="1200">
                        <a:highlight>
                          <a:srgbClr val="D5A6BD"/>
                        </a:highlight>
                      </a:endParaRPr>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ru" sz="1200"/>
                        <a:t>Функция масштабирует элемент по высоте, делая его выше или ниже. Если значение больше единицы, элемент становится выше, если значение находится между единицей и нулем — ниже. Отрицательные значения отображают элемент зеркально по вертикали.</a:t>
                      </a:r>
                      <a:endParaRPr sz="1200"/>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r>
              <a:tr h="385750">
                <a:tc>
                  <a:txBody>
                    <a:bodyPr/>
                    <a:lstStyle/>
                    <a:p>
                      <a:pPr indent="0" lvl="0" marL="0" rtl="0" algn="just">
                        <a:lnSpc>
                          <a:spcPct val="100000"/>
                        </a:lnSpc>
                        <a:spcBef>
                          <a:spcPts val="0"/>
                        </a:spcBef>
                        <a:spcAft>
                          <a:spcPts val="0"/>
                        </a:spcAft>
                        <a:buNone/>
                      </a:pPr>
                      <a:r>
                        <a:rPr lang="ru" sz="1200">
                          <a:highlight>
                            <a:srgbClr val="D5A6BD"/>
                          </a:highlight>
                        </a:rPr>
                        <a:t>rotate(угол)</a:t>
                      </a:r>
                      <a:endParaRPr sz="1200">
                        <a:highlight>
                          <a:srgbClr val="D5A6BD"/>
                        </a:highlight>
                      </a:endParaRPr>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ru" sz="1200"/>
                        <a:t>Поворачивает элементы на заданное количество градусов, отрицательные значения от -1deg до -360deg поворачивают элемент против часовой стрелки, положительные — по часовой стрелке. Значение rotate(720deg) поворачивает элемент на два полных оборота.</a:t>
                      </a:r>
                      <a:endParaRPr sz="1200"/>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r>
              <a:tr h="385750">
                <a:tc>
                  <a:txBody>
                    <a:bodyPr/>
                    <a:lstStyle/>
                    <a:p>
                      <a:pPr indent="0" lvl="0" marL="0" rtl="0" algn="just">
                        <a:lnSpc>
                          <a:spcPct val="100000"/>
                        </a:lnSpc>
                        <a:spcBef>
                          <a:spcPts val="0"/>
                        </a:spcBef>
                        <a:spcAft>
                          <a:spcPts val="0"/>
                        </a:spcAft>
                        <a:buNone/>
                      </a:pPr>
                      <a:r>
                        <a:rPr lang="ru" sz="1200">
                          <a:highlight>
                            <a:srgbClr val="D5A6BD"/>
                          </a:highlight>
                        </a:rPr>
                        <a:t>skew(x-угол,y-угол)</a:t>
                      </a:r>
                      <a:endParaRPr sz="1200">
                        <a:highlight>
                          <a:srgbClr val="D5A6BD"/>
                        </a:highlight>
                      </a:endParaRPr>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ru" sz="1200"/>
                        <a:t>Используется для деформирования (искажения) сторон элемента относительно координатных осей. Если указано одно значение, второе будет определено браузером автоматически.</a:t>
                      </a:r>
                      <a:endParaRPr sz="1200"/>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r>
              <a:tr h="385750">
                <a:tc>
                  <a:txBody>
                    <a:bodyPr/>
                    <a:lstStyle/>
                    <a:p>
                      <a:pPr indent="0" lvl="0" marL="0" rtl="0" algn="just">
                        <a:lnSpc>
                          <a:spcPct val="100000"/>
                        </a:lnSpc>
                        <a:spcBef>
                          <a:spcPts val="0"/>
                        </a:spcBef>
                        <a:spcAft>
                          <a:spcPts val="0"/>
                        </a:spcAft>
                        <a:buNone/>
                      </a:pPr>
                      <a:r>
                        <a:rPr lang="ru" sz="1200">
                          <a:highlight>
                            <a:srgbClr val="D5A6BD"/>
                          </a:highlight>
                        </a:rPr>
                        <a:t>skewX(угол)</a:t>
                      </a:r>
                      <a:endParaRPr sz="1200">
                        <a:highlight>
                          <a:srgbClr val="D5A6BD"/>
                        </a:highlight>
                      </a:endParaRPr>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ru" sz="1200"/>
                        <a:t>Деформирует стороны элемента относительно оси X.</a:t>
                      </a:r>
                      <a:endParaRPr sz="1200"/>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r>
              <a:tr h="385750">
                <a:tc>
                  <a:txBody>
                    <a:bodyPr/>
                    <a:lstStyle/>
                    <a:p>
                      <a:pPr indent="0" lvl="0" marL="0" rtl="0" algn="just">
                        <a:lnSpc>
                          <a:spcPct val="100000"/>
                        </a:lnSpc>
                        <a:spcBef>
                          <a:spcPts val="0"/>
                        </a:spcBef>
                        <a:spcAft>
                          <a:spcPts val="0"/>
                        </a:spcAft>
                        <a:buNone/>
                      </a:pPr>
                      <a:r>
                        <a:rPr lang="ru" sz="1200">
                          <a:highlight>
                            <a:srgbClr val="D5A6BD"/>
                          </a:highlight>
                        </a:rPr>
                        <a:t>skewY(угол)</a:t>
                      </a:r>
                      <a:endParaRPr sz="1200">
                        <a:highlight>
                          <a:srgbClr val="D5A6BD"/>
                        </a:highlight>
                      </a:endParaRPr>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ru" sz="1200"/>
                        <a:t>Деформирует стороны элемента относительно оси Y.</a:t>
                      </a:r>
                      <a:endParaRPr sz="1200"/>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r>
              <a:tr h="385750">
                <a:tc>
                  <a:txBody>
                    <a:bodyPr/>
                    <a:lstStyle/>
                    <a:p>
                      <a:pPr indent="0" lvl="0" marL="0" rtl="0" algn="just">
                        <a:lnSpc>
                          <a:spcPct val="100000"/>
                        </a:lnSpc>
                        <a:spcBef>
                          <a:spcPts val="0"/>
                        </a:spcBef>
                        <a:spcAft>
                          <a:spcPts val="0"/>
                        </a:spcAft>
                        <a:buNone/>
                      </a:pPr>
                      <a:r>
                        <a:rPr lang="ru" sz="1200">
                          <a:highlight>
                            <a:srgbClr val="D5A6BD"/>
                          </a:highlight>
                        </a:rPr>
                        <a:t>initial</a:t>
                      </a:r>
                      <a:endParaRPr sz="1200">
                        <a:highlight>
                          <a:srgbClr val="D5A6BD"/>
                        </a:highlight>
                      </a:endParaRPr>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ru" sz="1200"/>
                        <a:t>Устанавливает значение свойства в значение по умолчанию.</a:t>
                      </a:r>
                      <a:endParaRPr sz="1200"/>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r>
              <a:tr h="385750">
                <a:tc>
                  <a:txBody>
                    <a:bodyPr/>
                    <a:lstStyle/>
                    <a:p>
                      <a:pPr indent="0" lvl="0" marL="0" rtl="0" algn="just">
                        <a:lnSpc>
                          <a:spcPct val="100000"/>
                        </a:lnSpc>
                        <a:spcBef>
                          <a:spcPts val="0"/>
                        </a:spcBef>
                        <a:spcAft>
                          <a:spcPts val="0"/>
                        </a:spcAft>
                        <a:buNone/>
                      </a:pPr>
                      <a:r>
                        <a:rPr lang="ru" sz="1200">
                          <a:highlight>
                            <a:srgbClr val="D5A6BD"/>
                          </a:highlight>
                        </a:rPr>
                        <a:t>inherit</a:t>
                      </a:r>
                      <a:endParaRPr sz="1200">
                        <a:highlight>
                          <a:srgbClr val="D5A6BD"/>
                        </a:highlight>
                      </a:endParaRPr>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ru" sz="1200"/>
                        <a:t>Наследует значение свойства от родительского элемента.</a:t>
                      </a:r>
                      <a:endParaRPr sz="1200"/>
                    </a:p>
                  </a:txBody>
                  <a:tcPr marT="47625" marB="47625" marR="142875" marL="142875">
                    <a:lnL cap="flat" cmpd="sng" w="8250">
                      <a:solidFill>
                        <a:srgbClr val="000000"/>
                      </a:solidFill>
                      <a:prstDash val="solid"/>
                      <a:round/>
                      <a:headEnd len="sm" w="sm" type="none"/>
                      <a:tailEnd len="sm" w="sm" type="none"/>
                    </a:lnL>
                    <a:lnR cap="flat" cmpd="sng" w="8250">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2"/>
          <p:cNvSpPr txBox="1"/>
          <p:nvPr>
            <p:ph idx="1" type="body"/>
          </p:nvPr>
        </p:nvSpPr>
        <p:spPr>
          <a:xfrm>
            <a:off x="636600" y="1668575"/>
            <a:ext cx="3531900" cy="16968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323850" lvl="0" marL="457200" rtl="0" algn="l">
              <a:spcBef>
                <a:spcPts val="1200"/>
              </a:spcBef>
              <a:spcAft>
                <a:spcPts val="0"/>
              </a:spcAft>
              <a:buClr>
                <a:srgbClr val="000000"/>
              </a:buClr>
              <a:buSzPts val="1500"/>
              <a:buFont typeface="Arial"/>
              <a:buChar char="●"/>
            </a:pPr>
            <a:r>
              <a:rPr b="1" lang="ru" sz="1500">
                <a:solidFill>
                  <a:srgbClr val="000000"/>
                </a:solidFill>
                <a:latin typeface="Arial"/>
                <a:ea typeface="Arial"/>
                <a:cs typeface="Arial"/>
                <a:sym typeface="Arial"/>
              </a:rPr>
              <a:t>1 </a:t>
            </a:r>
            <a:r>
              <a:rPr lang="ru" sz="1500">
                <a:solidFill>
                  <a:srgbClr val="000000"/>
                </a:solidFill>
                <a:latin typeface="Arial"/>
                <a:ea typeface="Arial"/>
                <a:cs typeface="Arial"/>
                <a:sym typeface="Arial"/>
              </a:rPr>
              <a:t>— исходный размер (100%)</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b="1" lang="ru" sz="1500">
                <a:solidFill>
                  <a:srgbClr val="000000"/>
                </a:solidFill>
                <a:latin typeface="Arial"/>
                <a:ea typeface="Arial"/>
                <a:cs typeface="Arial"/>
                <a:sym typeface="Arial"/>
              </a:rPr>
              <a:t>&gt; 1</a:t>
            </a:r>
            <a:r>
              <a:rPr lang="ru" sz="1500">
                <a:solidFill>
                  <a:srgbClr val="000000"/>
                </a:solidFill>
                <a:latin typeface="Arial"/>
                <a:ea typeface="Arial"/>
                <a:cs typeface="Arial"/>
                <a:sym typeface="Arial"/>
              </a:rPr>
              <a:t> — увеличение (1.5 = 150%)</a:t>
            </a:r>
            <a:endParaRPr sz="1500">
              <a:solidFill>
                <a:srgbClr val="000000"/>
              </a:solidFill>
              <a:latin typeface="Arial"/>
              <a:ea typeface="Arial"/>
              <a:cs typeface="Arial"/>
              <a:sym typeface="Arial"/>
            </a:endParaRPr>
          </a:p>
          <a:p>
            <a:pPr indent="-323850" lvl="0" marL="457200" rtl="0" algn="l">
              <a:spcBef>
                <a:spcPts val="0"/>
              </a:spcBef>
              <a:spcAft>
                <a:spcPts val="0"/>
              </a:spcAft>
              <a:buClr>
                <a:srgbClr val="000000"/>
              </a:buClr>
              <a:buSzPts val="1500"/>
              <a:buFont typeface="Arial"/>
              <a:buChar char="●"/>
            </a:pPr>
            <a:r>
              <a:rPr b="1" lang="ru" sz="1500">
                <a:solidFill>
                  <a:srgbClr val="000000"/>
                </a:solidFill>
                <a:latin typeface="Arial"/>
                <a:ea typeface="Arial"/>
                <a:cs typeface="Arial"/>
                <a:sym typeface="Arial"/>
              </a:rPr>
              <a:t>&lt; 1 </a:t>
            </a:r>
            <a:r>
              <a:rPr lang="ru" sz="1500">
                <a:solidFill>
                  <a:srgbClr val="000000"/>
                </a:solidFill>
                <a:latin typeface="Arial"/>
                <a:ea typeface="Arial"/>
                <a:cs typeface="Arial"/>
                <a:sym typeface="Arial"/>
              </a:rPr>
              <a:t>— уменьшение (0.5 = 50%)</a:t>
            </a:r>
            <a:endParaRPr sz="1500">
              <a:solidFill>
                <a:srgbClr val="000000"/>
              </a:solidFill>
              <a:latin typeface="Arial"/>
              <a:ea typeface="Arial"/>
              <a:cs typeface="Arial"/>
              <a:sym typeface="Arial"/>
            </a:endParaRPr>
          </a:p>
          <a:p>
            <a:pPr indent="457200" lvl="0" marL="0" rtl="0" algn="l">
              <a:spcBef>
                <a:spcPts val="1200"/>
              </a:spcBef>
              <a:spcAft>
                <a:spcPts val="1200"/>
              </a:spcAft>
              <a:buNone/>
            </a:pPr>
            <a:r>
              <a:rPr lang="ru" sz="1500">
                <a:solidFill>
                  <a:srgbClr val="000000"/>
                </a:solidFill>
                <a:latin typeface="Arial"/>
                <a:ea typeface="Arial"/>
                <a:cs typeface="Arial"/>
                <a:sym typeface="Arial"/>
              </a:rPr>
              <a:t>Отрицательные значения — отражение элемента</a:t>
            </a:r>
            <a:endParaRPr sz="1600">
              <a:solidFill>
                <a:srgbClr val="000000"/>
              </a:solidFill>
              <a:latin typeface="Arial"/>
              <a:ea typeface="Arial"/>
              <a:cs typeface="Arial"/>
              <a:sym typeface="Arial"/>
            </a:endParaRPr>
          </a:p>
        </p:txBody>
      </p:sp>
      <p:sp>
        <p:nvSpPr>
          <p:cNvPr id="185" name="Google Shape;185;p22"/>
          <p:cNvSpPr txBox="1"/>
          <p:nvPr/>
        </p:nvSpPr>
        <p:spPr>
          <a:xfrm>
            <a:off x="4799900" y="1013675"/>
            <a:ext cx="3531900" cy="2831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ru" sz="1450"/>
              <a:t>/* Увеличение в 1.5 раза */</a:t>
            </a:r>
            <a:endParaRPr sz="1450"/>
          </a:p>
          <a:p>
            <a:pPr indent="0" lvl="0" marL="0" rtl="0" algn="l">
              <a:lnSpc>
                <a:spcPct val="135714"/>
              </a:lnSpc>
              <a:spcBef>
                <a:spcPts val="0"/>
              </a:spcBef>
              <a:spcAft>
                <a:spcPts val="0"/>
              </a:spcAft>
              <a:buNone/>
            </a:pPr>
            <a:r>
              <a:rPr lang="ru" sz="1450"/>
              <a:t>.enlarged {</a:t>
            </a:r>
            <a:endParaRPr sz="1450"/>
          </a:p>
          <a:p>
            <a:pPr indent="0" lvl="0" marL="0" rtl="0" algn="l">
              <a:lnSpc>
                <a:spcPct val="135714"/>
              </a:lnSpc>
              <a:spcBef>
                <a:spcPts val="0"/>
              </a:spcBef>
              <a:spcAft>
                <a:spcPts val="0"/>
              </a:spcAft>
              <a:buNone/>
            </a:pPr>
            <a:r>
              <a:rPr lang="ru" sz="1450"/>
              <a:t>  transform: </a:t>
            </a:r>
            <a:r>
              <a:rPr lang="ru" sz="1450">
                <a:highlight>
                  <a:srgbClr val="D5A6BD"/>
                </a:highlight>
              </a:rPr>
              <a:t>scale</a:t>
            </a:r>
            <a:r>
              <a:rPr lang="ru" sz="1450"/>
              <a:t>(1.5);</a:t>
            </a:r>
            <a:endParaRPr sz="1450"/>
          </a:p>
          <a:p>
            <a:pPr indent="0" lvl="0" marL="0" rtl="0" algn="l">
              <a:lnSpc>
                <a:spcPct val="135714"/>
              </a:lnSpc>
              <a:spcBef>
                <a:spcPts val="0"/>
              </a:spcBef>
              <a:spcAft>
                <a:spcPts val="0"/>
              </a:spcAft>
              <a:buNone/>
            </a:pPr>
            <a:r>
              <a:rPr lang="ru" sz="1450"/>
              <a:t>}</a:t>
            </a:r>
            <a:endParaRPr sz="1450"/>
          </a:p>
          <a:p>
            <a:pPr indent="0" lvl="0" marL="0" rtl="0" algn="l">
              <a:lnSpc>
                <a:spcPct val="135714"/>
              </a:lnSpc>
              <a:spcBef>
                <a:spcPts val="0"/>
              </a:spcBef>
              <a:spcAft>
                <a:spcPts val="0"/>
              </a:spcAft>
              <a:buNone/>
            </a:pPr>
            <a:r>
              <a:t/>
            </a:r>
            <a:endParaRPr sz="1450"/>
          </a:p>
          <a:p>
            <a:pPr indent="0" lvl="0" marL="0" rtl="0" algn="l">
              <a:lnSpc>
                <a:spcPct val="135714"/>
              </a:lnSpc>
              <a:spcBef>
                <a:spcPts val="0"/>
              </a:spcBef>
              <a:spcAft>
                <a:spcPts val="0"/>
              </a:spcAft>
              <a:buNone/>
            </a:pPr>
            <a:r>
              <a:rPr lang="ru" sz="1450"/>
              <a:t>/* Отражение по горизонтали */</a:t>
            </a:r>
            <a:endParaRPr sz="1450"/>
          </a:p>
          <a:p>
            <a:pPr indent="0" lvl="0" marL="0" rtl="0" algn="l">
              <a:lnSpc>
                <a:spcPct val="135714"/>
              </a:lnSpc>
              <a:spcBef>
                <a:spcPts val="0"/>
              </a:spcBef>
              <a:spcAft>
                <a:spcPts val="0"/>
              </a:spcAft>
              <a:buNone/>
            </a:pPr>
            <a:r>
              <a:rPr lang="ru" sz="1450"/>
              <a:t>.mirrored {</a:t>
            </a:r>
            <a:endParaRPr sz="1450"/>
          </a:p>
          <a:p>
            <a:pPr indent="0" lvl="0" marL="0" rtl="0" algn="l">
              <a:lnSpc>
                <a:spcPct val="135714"/>
              </a:lnSpc>
              <a:spcBef>
                <a:spcPts val="0"/>
              </a:spcBef>
              <a:spcAft>
                <a:spcPts val="0"/>
              </a:spcAft>
              <a:buNone/>
            </a:pPr>
            <a:r>
              <a:rPr lang="ru" sz="1450"/>
              <a:t>  transform: </a:t>
            </a:r>
            <a:r>
              <a:rPr lang="ru" sz="1450">
                <a:highlight>
                  <a:srgbClr val="D5A6BD"/>
                </a:highlight>
              </a:rPr>
              <a:t>scaleX</a:t>
            </a:r>
            <a:r>
              <a:rPr lang="ru" sz="1450"/>
              <a:t>(-1);</a:t>
            </a:r>
            <a:endParaRPr sz="1450"/>
          </a:p>
          <a:p>
            <a:pPr indent="0" lvl="0" marL="0" rtl="0" algn="l">
              <a:lnSpc>
                <a:spcPct val="135714"/>
              </a:lnSpc>
              <a:spcBef>
                <a:spcPts val="0"/>
              </a:spcBef>
              <a:spcAft>
                <a:spcPts val="0"/>
              </a:spcAft>
              <a:buNone/>
            </a:pPr>
            <a:r>
              <a:rPr lang="ru" sz="1450"/>
              <a:t>}</a:t>
            </a:r>
            <a:endParaRPr sz="145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3"/>
          <p:cNvSpPr txBox="1"/>
          <p:nvPr/>
        </p:nvSpPr>
        <p:spPr>
          <a:xfrm>
            <a:off x="665725" y="1755900"/>
            <a:ext cx="3975300" cy="1545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ru"/>
              <a:t>Единицы измерения угла:</a:t>
            </a:r>
            <a:endParaRPr b="1"/>
          </a:p>
          <a:p>
            <a:pPr indent="-317500" lvl="0" marL="457200" rtl="0" algn="l">
              <a:lnSpc>
                <a:spcPct val="115000"/>
              </a:lnSpc>
              <a:spcBef>
                <a:spcPts val="1200"/>
              </a:spcBef>
              <a:spcAft>
                <a:spcPts val="0"/>
              </a:spcAft>
              <a:buClr>
                <a:srgbClr val="000000"/>
              </a:buClr>
              <a:buSzPts val="1400"/>
              <a:buChar char="●"/>
            </a:pPr>
            <a:r>
              <a:rPr lang="ru"/>
              <a:t>deg — градусы (360deg = полный круг)</a:t>
            </a:r>
            <a:endParaRPr/>
          </a:p>
          <a:p>
            <a:pPr indent="-317500" lvl="0" marL="457200" rtl="0" algn="l">
              <a:lnSpc>
                <a:spcPct val="115000"/>
              </a:lnSpc>
              <a:spcBef>
                <a:spcPts val="0"/>
              </a:spcBef>
              <a:spcAft>
                <a:spcPts val="0"/>
              </a:spcAft>
              <a:buClr>
                <a:srgbClr val="000000"/>
              </a:buClr>
              <a:buSzPts val="1400"/>
              <a:buChar char="●"/>
            </a:pPr>
            <a:r>
              <a:rPr lang="ru"/>
              <a:t>rad — радианы (2πrad = 360°)</a:t>
            </a:r>
            <a:endParaRPr/>
          </a:p>
          <a:p>
            <a:pPr indent="-317500" lvl="0" marL="457200" rtl="0" algn="l">
              <a:lnSpc>
                <a:spcPct val="115000"/>
              </a:lnSpc>
              <a:spcBef>
                <a:spcPts val="0"/>
              </a:spcBef>
              <a:spcAft>
                <a:spcPts val="0"/>
              </a:spcAft>
              <a:buClr>
                <a:srgbClr val="000000"/>
              </a:buClr>
              <a:buSzPts val="1400"/>
              <a:buChar char="●"/>
            </a:pPr>
            <a:r>
              <a:rPr lang="ru"/>
              <a:t>turn — обороты (1turn = 360°)</a:t>
            </a:r>
            <a:endParaRPr/>
          </a:p>
          <a:p>
            <a:pPr indent="-317500" lvl="0" marL="457200" rtl="0" algn="l">
              <a:lnSpc>
                <a:spcPct val="115000"/>
              </a:lnSpc>
              <a:spcBef>
                <a:spcPts val="0"/>
              </a:spcBef>
              <a:spcAft>
                <a:spcPts val="0"/>
              </a:spcAft>
              <a:buClr>
                <a:srgbClr val="000000"/>
              </a:buClr>
              <a:buSzPts val="1400"/>
              <a:buChar char="●"/>
            </a:pPr>
            <a:r>
              <a:rPr lang="ru"/>
              <a:t>grad — грады (400grad = 360°)</a:t>
            </a:r>
            <a:endParaRPr/>
          </a:p>
        </p:txBody>
      </p:sp>
      <p:sp>
        <p:nvSpPr>
          <p:cNvPr id="191" name="Google Shape;191;p23"/>
          <p:cNvSpPr txBox="1"/>
          <p:nvPr/>
        </p:nvSpPr>
        <p:spPr>
          <a:xfrm>
            <a:off x="5025400" y="1106400"/>
            <a:ext cx="3180600" cy="2930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ru" sz="1350"/>
              <a:t>/* Поворот на 45 градусов по часовой стрелке */</a:t>
            </a:r>
            <a:endParaRPr sz="1350"/>
          </a:p>
          <a:p>
            <a:pPr indent="0" lvl="0" marL="0" rtl="0" algn="l">
              <a:lnSpc>
                <a:spcPct val="135714"/>
              </a:lnSpc>
              <a:spcBef>
                <a:spcPts val="0"/>
              </a:spcBef>
              <a:spcAft>
                <a:spcPts val="0"/>
              </a:spcAft>
              <a:buNone/>
            </a:pPr>
            <a:r>
              <a:rPr lang="ru" sz="1350"/>
              <a:t>.rotated {</a:t>
            </a:r>
            <a:endParaRPr sz="1350"/>
          </a:p>
          <a:p>
            <a:pPr indent="0" lvl="0" marL="0" rtl="0" algn="l">
              <a:lnSpc>
                <a:spcPct val="135714"/>
              </a:lnSpc>
              <a:spcBef>
                <a:spcPts val="0"/>
              </a:spcBef>
              <a:spcAft>
                <a:spcPts val="0"/>
              </a:spcAft>
              <a:buNone/>
            </a:pPr>
            <a:r>
              <a:rPr lang="ru" sz="1350"/>
              <a:t>  transform: </a:t>
            </a:r>
            <a:r>
              <a:rPr lang="ru" sz="1350">
                <a:highlight>
                  <a:srgbClr val="D5A6BD"/>
                </a:highlight>
              </a:rPr>
              <a:t>rotate</a:t>
            </a:r>
            <a:r>
              <a:rPr lang="ru" sz="1350"/>
              <a:t>(45deg);</a:t>
            </a:r>
            <a:endParaRPr sz="1350"/>
          </a:p>
          <a:p>
            <a:pPr indent="0" lvl="0" marL="0" rtl="0" algn="l">
              <a:lnSpc>
                <a:spcPct val="135714"/>
              </a:lnSpc>
              <a:spcBef>
                <a:spcPts val="0"/>
              </a:spcBef>
              <a:spcAft>
                <a:spcPts val="0"/>
              </a:spcAft>
              <a:buNone/>
            </a:pPr>
            <a:r>
              <a:rPr lang="ru" sz="1350"/>
              <a:t>}</a:t>
            </a:r>
            <a:endParaRPr sz="1350"/>
          </a:p>
          <a:p>
            <a:pPr indent="0" lvl="0" marL="0" rtl="0" algn="l">
              <a:lnSpc>
                <a:spcPct val="135714"/>
              </a:lnSpc>
              <a:spcBef>
                <a:spcPts val="0"/>
              </a:spcBef>
              <a:spcAft>
                <a:spcPts val="0"/>
              </a:spcAft>
              <a:buNone/>
            </a:pPr>
            <a:r>
              <a:t/>
            </a:r>
            <a:endParaRPr sz="1350"/>
          </a:p>
          <a:p>
            <a:pPr indent="0" lvl="0" marL="0" rtl="0" algn="l">
              <a:lnSpc>
                <a:spcPct val="135714"/>
              </a:lnSpc>
              <a:spcBef>
                <a:spcPts val="0"/>
              </a:spcBef>
              <a:spcAft>
                <a:spcPts val="0"/>
              </a:spcAft>
              <a:buNone/>
            </a:pPr>
            <a:r>
              <a:rPr lang="ru" sz="1350"/>
              <a:t>/* Полный оборот */</a:t>
            </a:r>
            <a:endParaRPr sz="1350"/>
          </a:p>
          <a:p>
            <a:pPr indent="0" lvl="0" marL="0" rtl="0" algn="l">
              <a:lnSpc>
                <a:spcPct val="135714"/>
              </a:lnSpc>
              <a:spcBef>
                <a:spcPts val="0"/>
              </a:spcBef>
              <a:spcAft>
                <a:spcPts val="0"/>
              </a:spcAft>
              <a:buNone/>
            </a:pPr>
            <a:r>
              <a:rPr lang="ru" sz="1350"/>
              <a:t>.full-circle {</a:t>
            </a:r>
            <a:endParaRPr sz="1350"/>
          </a:p>
          <a:p>
            <a:pPr indent="0" lvl="0" marL="0" rtl="0" algn="l">
              <a:lnSpc>
                <a:spcPct val="135714"/>
              </a:lnSpc>
              <a:spcBef>
                <a:spcPts val="0"/>
              </a:spcBef>
              <a:spcAft>
                <a:spcPts val="0"/>
              </a:spcAft>
              <a:buNone/>
            </a:pPr>
            <a:r>
              <a:rPr lang="ru" sz="1350"/>
              <a:t>  transform: </a:t>
            </a:r>
            <a:r>
              <a:rPr lang="ru" sz="1350">
                <a:highlight>
                  <a:srgbClr val="D5A6BD"/>
                </a:highlight>
              </a:rPr>
              <a:t>rotate</a:t>
            </a:r>
            <a:r>
              <a:rPr lang="ru" sz="1350"/>
              <a:t>(1turn);</a:t>
            </a:r>
            <a:endParaRPr sz="1350"/>
          </a:p>
          <a:p>
            <a:pPr indent="0" lvl="0" marL="0" rtl="0" algn="l">
              <a:lnSpc>
                <a:spcPct val="135714"/>
              </a:lnSpc>
              <a:spcBef>
                <a:spcPts val="0"/>
              </a:spcBef>
              <a:spcAft>
                <a:spcPts val="0"/>
              </a:spcAft>
              <a:buNone/>
            </a:pPr>
            <a:r>
              <a:rPr lang="ru" sz="1350"/>
              <a:t>}</a:t>
            </a:r>
            <a:endParaRPr sz="135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4"/>
          <p:cNvSpPr/>
          <p:nvPr/>
        </p:nvSpPr>
        <p:spPr>
          <a:xfrm>
            <a:off x="1854325" y="1172500"/>
            <a:ext cx="5229000" cy="2517900"/>
          </a:xfrm>
          <a:prstGeom prst="rect">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7" name="Google Shape;197;p24"/>
          <p:cNvSpPr txBox="1"/>
          <p:nvPr>
            <p:ph idx="1" type="body"/>
          </p:nvPr>
        </p:nvSpPr>
        <p:spPr>
          <a:xfrm>
            <a:off x="2449200" y="225900"/>
            <a:ext cx="3896700" cy="4691700"/>
          </a:xfrm>
          <a:prstGeom prst="rect">
            <a:avLst/>
          </a:prstGeom>
          <a:solidFill>
            <a:srgbClr val="F7F8FC"/>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358"/>
              <a:buNone/>
            </a:pPr>
            <a:r>
              <a:rPr lang="ru" sz="1000">
                <a:solidFill>
                  <a:srgbClr val="990055"/>
                </a:solidFill>
                <a:highlight>
                  <a:srgbClr val="F5F5F5"/>
                </a:highlight>
                <a:latin typeface="Arial"/>
                <a:ea typeface="Arial"/>
                <a:cs typeface="Arial"/>
                <a:sym typeface="Arial"/>
              </a:rPr>
              <a:t>transform</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none</a:t>
            </a:r>
            <a:r>
              <a:rPr lang="ru" sz="1000">
                <a:solidFill>
                  <a:srgbClr val="999999"/>
                </a:solidFill>
                <a:highlight>
                  <a:srgbClr val="F5F5F5"/>
                </a:highlight>
                <a:latin typeface="Arial"/>
                <a:ea typeface="Arial"/>
                <a:cs typeface="Arial"/>
                <a:sym typeface="Arial"/>
              </a:rPr>
              <a:t>;</a:t>
            </a:r>
            <a:endParaRPr sz="1000">
              <a:solidFill>
                <a:srgbClr val="303030"/>
              </a:solidFill>
              <a:highlight>
                <a:srgbClr val="F5F5F5"/>
              </a:highlight>
              <a:latin typeface="Arial"/>
              <a:ea typeface="Arial"/>
              <a:cs typeface="Arial"/>
              <a:sym typeface="Arial"/>
            </a:endParaRPr>
          </a:p>
          <a:p>
            <a:pPr indent="0" lvl="0" marL="0" rtl="0" algn="l">
              <a:lnSpc>
                <a:spcPct val="105000"/>
              </a:lnSpc>
              <a:spcBef>
                <a:spcPts val="1200"/>
              </a:spcBef>
              <a:spcAft>
                <a:spcPts val="0"/>
              </a:spcAft>
              <a:buSzPts val="358"/>
              <a:buNone/>
            </a:pPr>
            <a:r>
              <a:rPr lang="ru" sz="1000">
                <a:solidFill>
                  <a:srgbClr val="990055"/>
                </a:solidFill>
                <a:highlight>
                  <a:srgbClr val="F5F5F5"/>
                </a:highlight>
                <a:latin typeface="Arial"/>
                <a:ea typeface="Arial"/>
                <a:cs typeface="Arial"/>
                <a:sym typeface="Arial"/>
              </a:rPr>
              <a:t>transform</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a:t>
            </a:r>
            <a:r>
              <a:rPr lang="ru" sz="1000">
                <a:solidFill>
                  <a:srgbClr val="DD4A68"/>
                </a:solidFill>
                <a:highlight>
                  <a:srgbClr val="F5F5F5"/>
                </a:highlight>
                <a:latin typeface="Arial"/>
                <a:ea typeface="Arial"/>
                <a:cs typeface="Arial"/>
                <a:sym typeface="Arial"/>
              </a:rPr>
              <a:t>matrix</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1.0</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2.0</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3.0</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4.0</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5.0</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6.0</a:t>
            </a:r>
            <a:r>
              <a:rPr lang="ru" sz="1000">
                <a:solidFill>
                  <a:srgbClr val="999999"/>
                </a:solidFill>
                <a:highlight>
                  <a:srgbClr val="F5F5F5"/>
                </a:highlight>
                <a:latin typeface="Arial"/>
                <a:ea typeface="Arial"/>
                <a:cs typeface="Arial"/>
                <a:sym typeface="Arial"/>
              </a:rPr>
              <a:t>);</a:t>
            </a:r>
            <a:endParaRPr sz="1000">
              <a:solidFill>
                <a:srgbClr val="303030"/>
              </a:solidFill>
              <a:highlight>
                <a:srgbClr val="F5F5F5"/>
              </a:highlight>
              <a:latin typeface="Arial"/>
              <a:ea typeface="Arial"/>
              <a:cs typeface="Arial"/>
              <a:sym typeface="Arial"/>
            </a:endParaRPr>
          </a:p>
          <a:p>
            <a:pPr indent="0" lvl="0" marL="0" rtl="0" algn="l">
              <a:lnSpc>
                <a:spcPct val="105000"/>
              </a:lnSpc>
              <a:spcBef>
                <a:spcPts val="1200"/>
              </a:spcBef>
              <a:spcAft>
                <a:spcPts val="0"/>
              </a:spcAft>
              <a:buSzPts val="358"/>
              <a:buNone/>
            </a:pPr>
            <a:r>
              <a:rPr lang="ru" sz="1000">
                <a:solidFill>
                  <a:srgbClr val="990055"/>
                </a:solidFill>
                <a:highlight>
                  <a:srgbClr val="F5F5F5"/>
                </a:highlight>
                <a:latin typeface="Arial"/>
                <a:ea typeface="Arial"/>
                <a:cs typeface="Arial"/>
                <a:sym typeface="Arial"/>
              </a:rPr>
              <a:t>transform</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a:t>
            </a:r>
            <a:r>
              <a:rPr lang="ru" sz="1000">
                <a:solidFill>
                  <a:srgbClr val="DD4A68"/>
                </a:solidFill>
                <a:highlight>
                  <a:srgbClr val="F5F5F5"/>
                </a:highlight>
                <a:latin typeface="Arial"/>
                <a:ea typeface="Arial"/>
                <a:cs typeface="Arial"/>
                <a:sym typeface="Arial"/>
              </a:rPr>
              <a:t>rotate</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45deg</a:t>
            </a:r>
            <a:r>
              <a:rPr lang="ru" sz="1000">
                <a:solidFill>
                  <a:srgbClr val="999999"/>
                </a:solidFill>
                <a:highlight>
                  <a:srgbClr val="F5F5F5"/>
                </a:highlight>
                <a:latin typeface="Arial"/>
                <a:ea typeface="Arial"/>
                <a:cs typeface="Arial"/>
                <a:sym typeface="Arial"/>
              </a:rPr>
              <a:t>);</a:t>
            </a:r>
            <a:endParaRPr sz="1000">
              <a:solidFill>
                <a:srgbClr val="303030"/>
              </a:solidFill>
              <a:highlight>
                <a:srgbClr val="F5F5F5"/>
              </a:highlight>
              <a:latin typeface="Arial"/>
              <a:ea typeface="Arial"/>
              <a:cs typeface="Arial"/>
              <a:sym typeface="Arial"/>
            </a:endParaRPr>
          </a:p>
          <a:p>
            <a:pPr indent="0" lvl="0" marL="0" rtl="0" algn="l">
              <a:lnSpc>
                <a:spcPct val="105000"/>
              </a:lnSpc>
              <a:spcBef>
                <a:spcPts val="1200"/>
              </a:spcBef>
              <a:spcAft>
                <a:spcPts val="0"/>
              </a:spcAft>
              <a:buSzPts val="358"/>
              <a:buNone/>
            </a:pPr>
            <a:r>
              <a:rPr lang="ru" sz="1000">
                <a:solidFill>
                  <a:srgbClr val="990055"/>
                </a:solidFill>
                <a:highlight>
                  <a:srgbClr val="F5F5F5"/>
                </a:highlight>
                <a:latin typeface="Arial"/>
                <a:ea typeface="Arial"/>
                <a:cs typeface="Arial"/>
                <a:sym typeface="Arial"/>
              </a:rPr>
              <a:t>transform</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a:t>
            </a:r>
            <a:r>
              <a:rPr lang="ru" sz="1000">
                <a:solidFill>
                  <a:srgbClr val="DD4A68"/>
                </a:solidFill>
                <a:highlight>
                  <a:srgbClr val="F5F5F5"/>
                </a:highlight>
                <a:latin typeface="Arial"/>
                <a:ea typeface="Arial"/>
                <a:cs typeface="Arial"/>
                <a:sym typeface="Arial"/>
              </a:rPr>
              <a:t>translate</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12px</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50%</a:t>
            </a:r>
            <a:r>
              <a:rPr lang="ru" sz="1000">
                <a:solidFill>
                  <a:srgbClr val="999999"/>
                </a:solidFill>
                <a:highlight>
                  <a:srgbClr val="F5F5F5"/>
                </a:highlight>
                <a:latin typeface="Arial"/>
                <a:ea typeface="Arial"/>
                <a:cs typeface="Arial"/>
                <a:sym typeface="Arial"/>
              </a:rPr>
              <a:t>);</a:t>
            </a:r>
            <a:endParaRPr sz="1000">
              <a:solidFill>
                <a:srgbClr val="303030"/>
              </a:solidFill>
              <a:highlight>
                <a:srgbClr val="F5F5F5"/>
              </a:highlight>
              <a:latin typeface="Arial"/>
              <a:ea typeface="Arial"/>
              <a:cs typeface="Arial"/>
              <a:sym typeface="Arial"/>
            </a:endParaRPr>
          </a:p>
          <a:p>
            <a:pPr indent="0" lvl="0" marL="0" rtl="0" algn="l">
              <a:lnSpc>
                <a:spcPct val="105000"/>
              </a:lnSpc>
              <a:spcBef>
                <a:spcPts val="1200"/>
              </a:spcBef>
              <a:spcAft>
                <a:spcPts val="0"/>
              </a:spcAft>
              <a:buSzPts val="358"/>
              <a:buNone/>
            </a:pPr>
            <a:r>
              <a:rPr lang="ru" sz="1000">
                <a:solidFill>
                  <a:srgbClr val="990055"/>
                </a:solidFill>
                <a:highlight>
                  <a:srgbClr val="F5F5F5"/>
                </a:highlight>
                <a:latin typeface="Arial"/>
                <a:ea typeface="Arial"/>
                <a:cs typeface="Arial"/>
                <a:sym typeface="Arial"/>
              </a:rPr>
              <a:t>transform</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a:t>
            </a:r>
            <a:r>
              <a:rPr lang="ru" sz="1000">
                <a:solidFill>
                  <a:srgbClr val="DD4A68"/>
                </a:solidFill>
                <a:highlight>
                  <a:srgbClr val="F5F5F5"/>
                </a:highlight>
                <a:latin typeface="Arial"/>
                <a:ea typeface="Arial"/>
                <a:cs typeface="Arial"/>
                <a:sym typeface="Arial"/>
              </a:rPr>
              <a:t>translateX</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2em</a:t>
            </a:r>
            <a:r>
              <a:rPr lang="ru" sz="1000">
                <a:solidFill>
                  <a:srgbClr val="999999"/>
                </a:solidFill>
                <a:highlight>
                  <a:srgbClr val="F5F5F5"/>
                </a:highlight>
                <a:latin typeface="Arial"/>
                <a:ea typeface="Arial"/>
                <a:cs typeface="Arial"/>
                <a:sym typeface="Arial"/>
              </a:rPr>
              <a:t>);</a:t>
            </a:r>
            <a:endParaRPr sz="1000">
              <a:solidFill>
                <a:srgbClr val="303030"/>
              </a:solidFill>
              <a:highlight>
                <a:srgbClr val="F5F5F5"/>
              </a:highlight>
              <a:latin typeface="Arial"/>
              <a:ea typeface="Arial"/>
              <a:cs typeface="Arial"/>
              <a:sym typeface="Arial"/>
            </a:endParaRPr>
          </a:p>
          <a:p>
            <a:pPr indent="0" lvl="0" marL="0" rtl="0" algn="l">
              <a:lnSpc>
                <a:spcPct val="105000"/>
              </a:lnSpc>
              <a:spcBef>
                <a:spcPts val="1200"/>
              </a:spcBef>
              <a:spcAft>
                <a:spcPts val="0"/>
              </a:spcAft>
              <a:buSzPts val="358"/>
              <a:buNone/>
            </a:pPr>
            <a:r>
              <a:rPr lang="ru" sz="1000">
                <a:solidFill>
                  <a:srgbClr val="990055"/>
                </a:solidFill>
                <a:highlight>
                  <a:srgbClr val="F5F5F5"/>
                </a:highlight>
                <a:latin typeface="Arial"/>
                <a:ea typeface="Arial"/>
                <a:cs typeface="Arial"/>
                <a:sym typeface="Arial"/>
              </a:rPr>
              <a:t>transform</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a:t>
            </a:r>
            <a:r>
              <a:rPr lang="ru" sz="1000">
                <a:solidFill>
                  <a:srgbClr val="DD4A68"/>
                </a:solidFill>
                <a:highlight>
                  <a:srgbClr val="F5F5F5"/>
                </a:highlight>
                <a:latin typeface="Arial"/>
                <a:ea typeface="Arial"/>
                <a:cs typeface="Arial"/>
                <a:sym typeface="Arial"/>
              </a:rPr>
              <a:t>translateY</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3in</a:t>
            </a:r>
            <a:r>
              <a:rPr lang="ru" sz="1000">
                <a:solidFill>
                  <a:srgbClr val="999999"/>
                </a:solidFill>
                <a:highlight>
                  <a:srgbClr val="F5F5F5"/>
                </a:highlight>
                <a:latin typeface="Arial"/>
                <a:ea typeface="Arial"/>
                <a:cs typeface="Arial"/>
                <a:sym typeface="Arial"/>
              </a:rPr>
              <a:t>);</a:t>
            </a:r>
            <a:endParaRPr sz="1000">
              <a:solidFill>
                <a:srgbClr val="303030"/>
              </a:solidFill>
              <a:highlight>
                <a:srgbClr val="F5F5F5"/>
              </a:highlight>
              <a:latin typeface="Arial"/>
              <a:ea typeface="Arial"/>
              <a:cs typeface="Arial"/>
              <a:sym typeface="Arial"/>
            </a:endParaRPr>
          </a:p>
          <a:p>
            <a:pPr indent="0" lvl="0" marL="0" rtl="0" algn="l">
              <a:lnSpc>
                <a:spcPct val="105000"/>
              </a:lnSpc>
              <a:spcBef>
                <a:spcPts val="1200"/>
              </a:spcBef>
              <a:spcAft>
                <a:spcPts val="0"/>
              </a:spcAft>
              <a:buSzPts val="358"/>
              <a:buNone/>
            </a:pPr>
            <a:r>
              <a:rPr lang="ru" sz="1000">
                <a:solidFill>
                  <a:srgbClr val="990055"/>
                </a:solidFill>
                <a:highlight>
                  <a:srgbClr val="F5F5F5"/>
                </a:highlight>
                <a:latin typeface="Arial"/>
                <a:ea typeface="Arial"/>
                <a:cs typeface="Arial"/>
                <a:sym typeface="Arial"/>
              </a:rPr>
              <a:t>transform</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a:t>
            </a:r>
            <a:r>
              <a:rPr lang="ru" sz="1000">
                <a:solidFill>
                  <a:srgbClr val="DD4A68"/>
                </a:solidFill>
                <a:highlight>
                  <a:srgbClr val="F5F5F5"/>
                </a:highlight>
                <a:latin typeface="Arial"/>
                <a:ea typeface="Arial"/>
                <a:cs typeface="Arial"/>
                <a:sym typeface="Arial"/>
              </a:rPr>
              <a:t>scale</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2</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0.5</a:t>
            </a:r>
            <a:r>
              <a:rPr lang="ru" sz="1000">
                <a:solidFill>
                  <a:srgbClr val="999999"/>
                </a:solidFill>
                <a:highlight>
                  <a:srgbClr val="F5F5F5"/>
                </a:highlight>
                <a:latin typeface="Arial"/>
                <a:ea typeface="Arial"/>
                <a:cs typeface="Arial"/>
                <a:sym typeface="Arial"/>
              </a:rPr>
              <a:t>);</a:t>
            </a:r>
            <a:endParaRPr sz="1000">
              <a:solidFill>
                <a:srgbClr val="303030"/>
              </a:solidFill>
              <a:highlight>
                <a:srgbClr val="F5F5F5"/>
              </a:highlight>
              <a:latin typeface="Arial"/>
              <a:ea typeface="Arial"/>
              <a:cs typeface="Arial"/>
              <a:sym typeface="Arial"/>
            </a:endParaRPr>
          </a:p>
          <a:p>
            <a:pPr indent="0" lvl="0" marL="0" rtl="0" algn="l">
              <a:lnSpc>
                <a:spcPct val="105000"/>
              </a:lnSpc>
              <a:spcBef>
                <a:spcPts val="1200"/>
              </a:spcBef>
              <a:spcAft>
                <a:spcPts val="0"/>
              </a:spcAft>
              <a:buSzPts val="358"/>
              <a:buNone/>
            </a:pPr>
            <a:r>
              <a:rPr lang="ru" sz="1000">
                <a:solidFill>
                  <a:srgbClr val="990055"/>
                </a:solidFill>
                <a:highlight>
                  <a:srgbClr val="F5F5F5"/>
                </a:highlight>
                <a:latin typeface="Arial"/>
                <a:ea typeface="Arial"/>
                <a:cs typeface="Arial"/>
                <a:sym typeface="Arial"/>
              </a:rPr>
              <a:t>transform</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a:t>
            </a:r>
            <a:r>
              <a:rPr lang="ru" sz="1000">
                <a:solidFill>
                  <a:srgbClr val="DD4A68"/>
                </a:solidFill>
                <a:highlight>
                  <a:srgbClr val="F5F5F5"/>
                </a:highlight>
                <a:latin typeface="Arial"/>
                <a:ea typeface="Arial"/>
                <a:cs typeface="Arial"/>
                <a:sym typeface="Arial"/>
              </a:rPr>
              <a:t>scaleX</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2</a:t>
            </a:r>
            <a:r>
              <a:rPr lang="ru" sz="1000">
                <a:solidFill>
                  <a:srgbClr val="999999"/>
                </a:solidFill>
                <a:highlight>
                  <a:srgbClr val="F5F5F5"/>
                </a:highlight>
                <a:latin typeface="Arial"/>
                <a:ea typeface="Arial"/>
                <a:cs typeface="Arial"/>
                <a:sym typeface="Arial"/>
              </a:rPr>
              <a:t>);</a:t>
            </a:r>
            <a:endParaRPr sz="1000">
              <a:solidFill>
                <a:srgbClr val="303030"/>
              </a:solidFill>
              <a:highlight>
                <a:srgbClr val="F5F5F5"/>
              </a:highlight>
              <a:latin typeface="Arial"/>
              <a:ea typeface="Arial"/>
              <a:cs typeface="Arial"/>
              <a:sym typeface="Arial"/>
            </a:endParaRPr>
          </a:p>
          <a:p>
            <a:pPr indent="0" lvl="0" marL="0" rtl="0" algn="l">
              <a:lnSpc>
                <a:spcPct val="105000"/>
              </a:lnSpc>
              <a:spcBef>
                <a:spcPts val="1200"/>
              </a:spcBef>
              <a:spcAft>
                <a:spcPts val="0"/>
              </a:spcAft>
              <a:buSzPts val="358"/>
              <a:buNone/>
            </a:pPr>
            <a:r>
              <a:rPr lang="ru" sz="1000">
                <a:solidFill>
                  <a:srgbClr val="990055"/>
                </a:solidFill>
                <a:highlight>
                  <a:srgbClr val="F5F5F5"/>
                </a:highlight>
                <a:latin typeface="Arial"/>
                <a:ea typeface="Arial"/>
                <a:cs typeface="Arial"/>
                <a:sym typeface="Arial"/>
              </a:rPr>
              <a:t>transform</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a:t>
            </a:r>
            <a:r>
              <a:rPr lang="ru" sz="1000">
                <a:solidFill>
                  <a:srgbClr val="DD4A68"/>
                </a:solidFill>
                <a:highlight>
                  <a:srgbClr val="F5F5F5"/>
                </a:highlight>
                <a:latin typeface="Arial"/>
                <a:ea typeface="Arial"/>
                <a:cs typeface="Arial"/>
                <a:sym typeface="Arial"/>
              </a:rPr>
              <a:t>scaleY</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0.5</a:t>
            </a:r>
            <a:r>
              <a:rPr lang="ru" sz="1000">
                <a:solidFill>
                  <a:srgbClr val="999999"/>
                </a:solidFill>
                <a:highlight>
                  <a:srgbClr val="F5F5F5"/>
                </a:highlight>
                <a:latin typeface="Arial"/>
                <a:ea typeface="Arial"/>
                <a:cs typeface="Arial"/>
                <a:sym typeface="Arial"/>
              </a:rPr>
              <a:t>);</a:t>
            </a:r>
            <a:endParaRPr sz="1000">
              <a:solidFill>
                <a:srgbClr val="303030"/>
              </a:solidFill>
              <a:highlight>
                <a:srgbClr val="F5F5F5"/>
              </a:highlight>
              <a:latin typeface="Arial"/>
              <a:ea typeface="Arial"/>
              <a:cs typeface="Arial"/>
              <a:sym typeface="Arial"/>
            </a:endParaRPr>
          </a:p>
          <a:p>
            <a:pPr indent="0" lvl="0" marL="0" rtl="0" algn="l">
              <a:lnSpc>
                <a:spcPct val="105000"/>
              </a:lnSpc>
              <a:spcBef>
                <a:spcPts val="1200"/>
              </a:spcBef>
              <a:spcAft>
                <a:spcPts val="0"/>
              </a:spcAft>
              <a:buSzPts val="358"/>
              <a:buNone/>
            </a:pPr>
            <a:r>
              <a:rPr lang="ru" sz="1000">
                <a:solidFill>
                  <a:srgbClr val="990055"/>
                </a:solidFill>
                <a:highlight>
                  <a:srgbClr val="F5F5F5"/>
                </a:highlight>
                <a:latin typeface="Arial"/>
                <a:ea typeface="Arial"/>
                <a:cs typeface="Arial"/>
                <a:sym typeface="Arial"/>
              </a:rPr>
              <a:t>transform</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a:t>
            </a:r>
            <a:r>
              <a:rPr lang="ru" sz="1000">
                <a:solidFill>
                  <a:srgbClr val="DD4A68"/>
                </a:solidFill>
                <a:highlight>
                  <a:srgbClr val="F5F5F5"/>
                </a:highlight>
                <a:latin typeface="Arial"/>
                <a:ea typeface="Arial"/>
                <a:cs typeface="Arial"/>
                <a:sym typeface="Arial"/>
              </a:rPr>
              <a:t>skew</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30deg</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20deg</a:t>
            </a:r>
            <a:r>
              <a:rPr lang="ru" sz="1000">
                <a:solidFill>
                  <a:srgbClr val="999999"/>
                </a:solidFill>
                <a:highlight>
                  <a:srgbClr val="F5F5F5"/>
                </a:highlight>
                <a:latin typeface="Arial"/>
                <a:ea typeface="Arial"/>
                <a:cs typeface="Arial"/>
                <a:sym typeface="Arial"/>
              </a:rPr>
              <a:t>);</a:t>
            </a:r>
            <a:endParaRPr sz="1000">
              <a:solidFill>
                <a:srgbClr val="303030"/>
              </a:solidFill>
              <a:highlight>
                <a:srgbClr val="F5F5F5"/>
              </a:highlight>
              <a:latin typeface="Arial"/>
              <a:ea typeface="Arial"/>
              <a:cs typeface="Arial"/>
              <a:sym typeface="Arial"/>
            </a:endParaRPr>
          </a:p>
          <a:p>
            <a:pPr indent="0" lvl="0" marL="0" rtl="0" algn="l">
              <a:lnSpc>
                <a:spcPct val="105000"/>
              </a:lnSpc>
              <a:spcBef>
                <a:spcPts val="1200"/>
              </a:spcBef>
              <a:spcAft>
                <a:spcPts val="0"/>
              </a:spcAft>
              <a:buSzPts val="358"/>
              <a:buNone/>
            </a:pPr>
            <a:r>
              <a:rPr lang="ru" sz="1000">
                <a:solidFill>
                  <a:srgbClr val="990055"/>
                </a:solidFill>
                <a:highlight>
                  <a:srgbClr val="F5F5F5"/>
                </a:highlight>
                <a:latin typeface="Arial"/>
                <a:ea typeface="Arial"/>
                <a:cs typeface="Arial"/>
                <a:sym typeface="Arial"/>
              </a:rPr>
              <a:t>transform</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a:t>
            </a:r>
            <a:r>
              <a:rPr lang="ru" sz="1000">
                <a:solidFill>
                  <a:srgbClr val="DD4A68"/>
                </a:solidFill>
                <a:highlight>
                  <a:srgbClr val="F5F5F5"/>
                </a:highlight>
                <a:latin typeface="Arial"/>
                <a:ea typeface="Arial"/>
                <a:cs typeface="Arial"/>
                <a:sym typeface="Arial"/>
              </a:rPr>
              <a:t>skewX</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30deg</a:t>
            </a:r>
            <a:r>
              <a:rPr lang="ru" sz="1000">
                <a:solidFill>
                  <a:srgbClr val="999999"/>
                </a:solidFill>
                <a:highlight>
                  <a:srgbClr val="F5F5F5"/>
                </a:highlight>
                <a:latin typeface="Arial"/>
                <a:ea typeface="Arial"/>
                <a:cs typeface="Arial"/>
                <a:sym typeface="Arial"/>
              </a:rPr>
              <a:t>);</a:t>
            </a:r>
            <a:endParaRPr sz="1000">
              <a:solidFill>
                <a:srgbClr val="303030"/>
              </a:solidFill>
              <a:highlight>
                <a:srgbClr val="F5F5F5"/>
              </a:highlight>
              <a:latin typeface="Arial"/>
              <a:ea typeface="Arial"/>
              <a:cs typeface="Arial"/>
              <a:sym typeface="Arial"/>
            </a:endParaRPr>
          </a:p>
          <a:p>
            <a:pPr indent="0" lvl="0" marL="0" rtl="0" algn="l">
              <a:lnSpc>
                <a:spcPct val="105000"/>
              </a:lnSpc>
              <a:spcBef>
                <a:spcPts val="1200"/>
              </a:spcBef>
              <a:spcAft>
                <a:spcPts val="0"/>
              </a:spcAft>
              <a:buSzPts val="358"/>
              <a:buNone/>
            </a:pPr>
            <a:r>
              <a:rPr lang="ru" sz="1000">
                <a:solidFill>
                  <a:srgbClr val="990055"/>
                </a:solidFill>
                <a:highlight>
                  <a:srgbClr val="F5F5F5"/>
                </a:highlight>
                <a:latin typeface="Arial"/>
                <a:ea typeface="Arial"/>
                <a:cs typeface="Arial"/>
                <a:sym typeface="Arial"/>
              </a:rPr>
              <a:t>transform</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a:t>
            </a:r>
            <a:r>
              <a:rPr lang="ru" sz="1000">
                <a:solidFill>
                  <a:srgbClr val="DD4A68"/>
                </a:solidFill>
                <a:highlight>
                  <a:srgbClr val="F5F5F5"/>
                </a:highlight>
                <a:latin typeface="Arial"/>
                <a:ea typeface="Arial"/>
                <a:cs typeface="Arial"/>
                <a:sym typeface="Arial"/>
              </a:rPr>
              <a:t>skewY</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1.07rad</a:t>
            </a:r>
            <a:r>
              <a:rPr lang="ru" sz="1000">
                <a:solidFill>
                  <a:srgbClr val="999999"/>
                </a:solidFill>
                <a:highlight>
                  <a:srgbClr val="F5F5F5"/>
                </a:highlight>
                <a:latin typeface="Arial"/>
                <a:ea typeface="Arial"/>
                <a:cs typeface="Arial"/>
                <a:sym typeface="Arial"/>
              </a:rPr>
              <a:t>);</a:t>
            </a:r>
            <a:endParaRPr sz="1000">
              <a:solidFill>
                <a:srgbClr val="303030"/>
              </a:solidFill>
              <a:highlight>
                <a:srgbClr val="F5F5F5"/>
              </a:highlight>
              <a:latin typeface="Arial"/>
              <a:ea typeface="Arial"/>
              <a:cs typeface="Arial"/>
              <a:sym typeface="Arial"/>
            </a:endParaRPr>
          </a:p>
          <a:p>
            <a:pPr indent="0" lvl="0" marL="0" rtl="0" algn="l">
              <a:lnSpc>
                <a:spcPct val="105000"/>
              </a:lnSpc>
              <a:spcBef>
                <a:spcPts val="1200"/>
              </a:spcBef>
              <a:spcAft>
                <a:spcPts val="0"/>
              </a:spcAft>
              <a:buSzPts val="358"/>
              <a:buNone/>
            </a:pPr>
            <a:r>
              <a:rPr lang="ru" sz="1000">
                <a:solidFill>
                  <a:srgbClr val="990055"/>
                </a:solidFill>
                <a:highlight>
                  <a:srgbClr val="F5F5F5"/>
                </a:highlight>
                <a:latin typeface="Arial"/>
                <a:ea typeface="Arial"/>
                <a:cs typeface="Arial"/>
                <a:sym typeface="Arial"/>
              </a:rPr>
              <a:t>transform</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a:t>
            </a:r>
            <a:r>
              <a:rPr lang="ru" sz="1000">
                <a:solidFill>
                  <a:srgbClr val="DD4A68"/>
                </a:solidFill>
                <a:highlight>
                  <a:srgbClr val="F5F5F5"/>
                </a:highlight>
                <a:latin typeface="Arial"/>
                <a:ea typeface="Arial"/>
                <a:cs typeface="Arial"/>
                <a:sym typeface="Arial"/>
              </a:rPr>
              <a:t>translateX</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10px</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a:t>
            </a:r>
            <a:r>
              <a:rPr lang="ru" sz="1000">
                <a:solidFill>
                  <a:srgbClr val="DD4A68"/>
                </a:solidFill>
                <a:highlight>
                  <a:srgbClr val="F5F5F5"/>
                </a:highlight>
                <a:latin typeface="Arial"/>
                <a:ea typeface="Arial"/>
                <a:cs typeface="Arial"/>
                <a:sym typeface="Arial"/>
              </a:rPr>
              <a:t>rotate</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10deg</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a:t>
            </a:r>
            <a:r>
              <a:rPr lang="ru" sz="1000">
                <a:solidFill>
                  <a:srgbClr val="DD4A68"/>
                </a:solidFill>
                <a:highlight>
                  <a:srgbClr val="F5F5F5"/>
                </a:highlight>
                <a:latin typeface="Arial"/>
                <a:ea typeface="Arial"/>
                <a:cs typeface="Arial"/>
                <a:sym typeface="Arial"/>
              </a:rPr>
              <a:t>translateY</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5px</a:t>
            </a:r>
            <a:r>
              <a:rPr lang="ru" sz="1000">
                <a:solidFill>
                  <a:srgbClr val="999999"/>
                </a:solidFill>
                <a:highlight>
                  <a:srgbClr val="F5F5F5"/>
                </a:highlight>
                <a:latin typeface="Arial"/>
                <a:ea typeface="Arial"/>
                <a:cs typeface="Arial"/>
                <a:sym typeface="Arial"/>
              </a:rPr>
              <a:t>);</a:t>
            </a:r>
            <a:endParaRPr sz="1000">
              <a:solidFill>
                <a:srgbClr val="303030"/>
              </a:solidFill>
              <a:highlight>
                <a:srgbClr val="F5F5F5"/>
              </a:highlight>
              <a:latin typeface="Arial"/>
              <a:ea typeface="Arial"/>
              <a:cs typeface="Arial"/>
              <a:sym typeface="Arial"/>
            </a:endParaRPr>
          </a:p>
          <a:p>
            <a:pPr indent="0" lvl="0" marL="0" rtl="0" algn="l">
              <a:lnSpc>
                <a:spcPct val="105000"/>
              </a:lnSpc>
              <a:spcBef>
                <a:spcPts val="1200"/>
              </a:spcBef>
              <a:spcAft>
                <a:spcPts val="0"/>
              </a:spcAft>
              <a:buSzPts val="358"/>
              <a:buNone/>
            </a:pPr>
            <a:r>
              <a:rPr lang="ru" sz="1000">
                <a:solidFill>
                  <a:srgbClr val="990055"/>
                </a:solidFill>
                <a:highlight>
                  <a:srgbClr val="F5F5F5"/>
                </a:highlight>
                <a:latin typeface="Arial"/>
                <a:ea typeface="Arial"/>
                <a:cs typeface="Arial"/>
                <a:sym typeface="Arial"/>
              </a:rPr>
              <a:t>transform</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inherit</a:t>
            </a:r>
            <a:r>
              <a:rPr lang="ru" sz="1000">
                <a:solidFill>
                  <a:srgbClr val="999999"/>
                </a:solidFill>
                <a:highlight>
                  <a:srgbClr val="F5F5F5"/>
                </a:highlight>
                <a:latin typeface="Arial"/>
                <a:ea typeface="Arial"/>
                <a:cs typeface="Arial"/>
                <a:sym typeface="Arial"/>
              </a:rPr>
              <a:t>;</a:t>
            </a:r>
            <a:endParaRPr sz="1000">
              <a:solidFill>
                <a:srgbClr val="303030"/>
              </a:solidFill>
              <a:highlight>
                <a:srgbClr val="F5F5F5"/>
              </a:highlight>
              <a:latin typeface="Arial"/>
              <a:ea typeface="Arial"/>
              <a:cs typeface="Arial"/>
              <a:sym typeface="Arial"/>
            </a:endParaRPr>
          </a:p>
          <a:p>
            <a:pPr indent="0" lvl="0" marL="0" marR="190500" rtl="0" algn="l">
              <a:lnSpc>
                <a:spcPct val="150000"/>
              </a:lnSpc>
              <a:spcBef>
                <a:spcPts val="1200"/>
              </a:spcBef>
              <a:spcAft>
                <a:spcPts val="0"/>
              </a:spcAft>
              <a:buNone/>
            </a:pPr>
            <a:r>
              <a:rPr lang="ru" sz="1000">
                <a:solidFill>
                  <a:srgbClr val="990055"/>
                </a:solidFill>
                <a:highlight>
                  <a:srgbClr val="F5F5F5"/>
                </a:highlight>
                <a:latin typeface="Arial"/>
                <a:ea typeface="Arial"/>
                <a:cs typeface="Arial"/>
                <a:sym typeface="Arial"/>
              </a:rPr>
              <a:t>transform</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initial</a:t>
            </a:r>
            <a:r>
              <a:rPr lang="ru" sz="1000">
                <a:solidFill>
                  <a:srgbClr val="999999"/>
                </a:solidFill>
                <a:highlight>
                  <a:srgbClr val="F5F5F5"/>
                </a:highlight>
                <a:latin typeface="Arial"/>
                <a:ea typeface="Arial"/>
                <a:cs typeface="Arial"/>
                <a:sym typeface="Arial"/>
              </a:rPr>
              <a:t>;</a:t>
            </a:r>
            <a:endParaRPr sz="1000">
              <a:solidFill>
                <a:srgbClr val="999999"/>
              </a:solidFill>
              <a:highlight>
                <a:srgbClr val="F5F5F5"/>
              </a:highlight>
              <a:latin typeface="Arial"/>
              <a:ea typeface="Arial"/>
              <a:cs typeface="Arial"/>
              <a:sym typeface="Arial"/>
            </a:endParaRPr>
          </a:p>
          <a:p>
            <a:pPr indent="0" lvl="0" marL="0" rtl="0" algn="l">
              <a:lnSpc>
                <a:spcPct val="105000"/>
              </a:lnSpc>
              <a:spcBef>
                <a:spcPts val="2300"/>
              </a:spcBef>
              <a:spcAft>
                <a:spcPts val="0"/>
              </a:spcAft>
              <a:buSzPts val="358"/>
              <a:buNone/>
            </a:pPr>
            <a:r>
              <a:t/>
            </a:r>
            <a:endParaRPr sz="1322">
              <a:highlight>
                <a:srgbClr val="C27BA0"/>
              </a:highlight>
              <a:latin typeface="Arial"/>
              <a:ea typeface="Arial"/>
              <a:cs typeface="Arial"/>
              <a:sym typeface="Arial"/>
            </a:endParaRPr>
          </a:p>
          <a:p>
            <a:pPr indent="0" lvl="0" marL="0" rtl="0" algn="l">
              <a:lnSpc>
                <a:spcPct val="105000"/>
              </a:lnSpc>
              <a:spcBef>
                <a:spcPts val="1200"/>
              </a:spcBef>
              <a:spcAft>
                <a:spcPts val="1200"/>
              </a:spcAft>
              <a:buSzPts val="358"/>
              <a:buNone/>
            </a:pPr>
            <a:r>
              <a:t/>
            </a:r>
            <a:endParaRPr sz="422"/>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25" title="Анимация1.gif"/>
          <p:cNvPicPr preferRelativeResize="0"/>
          <p:nvPr/>
        </p:nvPicPr>
        <p:blipFill>
          <a:blip r:embed="rId3">
            <a:alphaModFix/>
          </a:blip>
          <a:stretch>
            <a:fillRect/>
          </a:stretch>
        </p:blipFill>
        <p:spPr>
          <a:xfrm>
            <a:off x="1552400" y="345175"/>
            <a:ext cx="5515574" cy="42485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6"/>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400"/>
              </a:spcBef>
              <a:spcAft>
                <a:spcPts val="0"/>
              </a:spcAft>
              <a:buNone/>
            </a:pPr>
            <a:r>
              <a:rPr b="1" lang="ru" sz="3133">
                <a:solidFill>
                  <a:srgbClr val="000000"/>
                </a:solidFill>
              </a:rPr>
              <a:t>1.2. </a:t>
            </a:r>
            <a:r>
              <a:rPr b="1" lang="ru" sz="3188">
                <a:solidFill>
                  <a:srgbClr val="303030"/>
                </a:solidFill>
                <a:highlight>
                  <a:srgbClr val="FFFFFF"/>
                </a:highlight>
              </a:rPr>
              <a:t>Точка трансформации: свойство </a:t>
            </a:r>
            <a:r>
              <a:rPr b="1" lang="ru" sz="3188">
                <a:solidFill>
                  <a:srgbClr val="303030"/>
                </a:solidFill>
                <a:highlight>
                  <a:srgbClr val="D5A6BD"/>
                </a:highlight>
              </a:rPr>
              <a:t>transform-origin</a:t>
            </a:r>
            <a:endParaRPr b="1" sz="3188">
              <a:solidFill>
                <a:srgbClr val="303030"/>
              </a:solidFill>
              <a:highlight>
                <a:srgbClr val="D5A6BD"/>
              </a:highlight>
            </a:endParaRPr>
          </a:p>
          <a:p>
            <a:pPr indent="0" lvl="0" marL="0" rtl="0" algn="l">
              <a:lnSpc>
                <a:spcPct val="115000"/>
              </a:lnSpc>
              <a:spcBef>
                <a:spcPts val="1400"/>
              </a:spcBef>
              <a:spcAft>
                <a:spcPts val="400"/>
              </a:spcAft>
              <a:buNone/>
            </a:pPr>
            <a:r>
              <a:t/>
            </a:r>
            <a:endParaRPr b="1" sz="2800">
              <a:solidFill>
                <a:srgbClr val="303030"/>
              </a:solidFill>
              <a:highlight>
                <a:srgbClr val="FFFFFF"/>
              </a:highlight>
            </a:endParaRPr>
          </a:p>
        </p:txBody>
      </p:sp>
      <p:sp>
        <p:nvSpPr>
          <p:cNvPr id="208" name="Google Shape;208;p2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ru" sz="1500">
                <a:solidFill>
                  <a:srgbClr val="303030"/>
                </a:solidFill>
                <a:latin typeface="Arial"/>
                <a:ea typeface="Arial"/>
                <a:cs typeface="Arial"/>
                <a:sym typeface="Arial"/>
              </a:rPr>
              <a:t>Свойство </a:t>
            </a:r>
            <a:r>
              <a:rPr lang="ru" sz="1500">
                <a:solidFill>
                  <a:srgbClr val="303030"/>
                </a:solidFill>
                <a:highlight>
                  <a:srgbClr val="D5A6BD"/>
                </a:highlight>
                <a:latin typeface="Arial"/>
                <a:ea typeface="Arial"/>
                <a:cs typeface="Arial"/>
                <a:sym typeface="Arial"/>
              </a:rPr>
              <a:t>transform-origin</a:t>
            </a:r>
            <a:r>
              <a:rPr lang="ru" sz="1500">
                <a:solidFill>
                  <a:srgbClr val="303030"/>
                </a:solidFill>
                <a:latin typeface="Arial"/>
                <a:ea typeface="Arial"/>
                <a:cs typeface="Arial"/>
                <a:sym typeface="Arial"/>
              </a:rPr>
              <a:t> позволяет сместить центр трансформации, относительно которого происходит изменение положения/размера/формы элемента. Значение по умолчанию — center, или 50% 50%. </a:t>
            </a:r>
            <a:r>
              <a:rPr lang="ru" sz="1500">
                <a:solidFill>
                  <a:srgbClr val="303030"/>
                </a:solidFill>
                <a:latin typeface="Arial"/>
                <a:ea typeface="Arial"/>
                <a:cs typeface="Arial"/>
                <a:sym typeface="Arial"/>
              </a:rPr>
              <a:t>Задается</a:t>
            </a:r>
            <a:r>
              <a:rPr lang="ru" sz="1500">
                <a:solidFill>
                  <a:srgbClr val="303030"/>
                </a:solidFill>
                <a:latin typeface="Arial"/>
                <a:ea typeface="Arial"/>
                <a:cs typeface="Arial"/>
                <a:sym typeface="Arial"/>
              </a:rPr>
              <a:t> только для трансформированных элементов.</a:t>
            </a:r>
            <a:endParaRPr sz="1500">
              <a:solidFill>
                <a:srgbClr val="303030"/>
              </a:solidFill>
              <a:latin typeface="Arial"/>
              <a:ea typeface="Arial"/>
              <a:cs typeface="Arial"/>
              <a:sym typeface="Arial"/>
            </a:endParaRPr>
          </a:p>
          <a:p>
            <a:pPr indent="0" lvl="0" marL="0" rtl="0" algn="just">
              <a:spcBef>
                <a:spcPts val="1100"/>
              </a:spcBef>
              <a:spcAft>
                <a:spcPts val="0"/>
              </a:spcAft>
              <a:buNone/>
            </a:pPr>
            <a:r>
              <a:rPr lang="ru" sz="1500">
                <a:solidFill>
                  <a:srgbClr val="303030"/>
                </a:solidFill>
                <a:latin typeface="Arial"/>
                <a:ea typeface="Arial"/>
                <a:cs typeface="Arial"/>
                <a:sym typeface="Arial"/>
              </a:rPr>
              <a:t>Свойство не наследуется.</a:t>
            </a:r>
            <a:endParaRPr sz="1500">
              <a:solidFill>
                <a:srgbClr val="303030"/>
              </a:solidFill>
              <a:latin typeface="Arial"/>
              <a:ea typeface="Arial"/>
              <a:cs typeface="Arial"/>
              <a:sym typeface="Arial"/>
            </a:endParaRPr>
          </a:p>
          <a:p>
            <a:pPr indent="0" lvl="0" marL="0" rtl="0" algn="just">
              <a:spcBef>
                <a:spcPts val="11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type="title"/>
          </p:nvPr>
        </p:nvSpPr>
        <p:spPr>
          <a:xfrm>
            <a:off x="648175" y="589150"/>
            <a:ext cx="7505700" cy="9546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400"/>
              </a:spcBef>
              <a:spcAft>
                <a:spcPts val="0"/>
              </a:spcAft>
              <a:buNone/>
            </a:pPr>
            <a:r>
              <a:rPr b="1" lang="ru" sz="3133">
                <a:solidFill>
                  <a:srgbClr val="000000"/>
                </a:solidFill>
              </a:rPr>
              <a:t>1.2. </a:t>
            </a:r>
            <a:r>
              <a:rPr b="1" lang="ru" sz="3188">
                <a:solidFill>
                  <a:srgbClr val="303030"/>
                </a:solidFill>
                <a:highlight>
                  <a:srgbClr val="FFFFFF"/>
                </a:highlight>
              </a:rPr>
              <a:t>Точка трансформации: свойство </a:t>
            </a:r>
            <a:r>
              <a:rPr b="1" lang="ru" sz="3188">
                <a:solidFill>
                  <a:srgbClr val="303030"/>
                </a:solidFill>
                <a:highlight>
                  <a:srgbClr val="D5A6BD"/>
                </a:highlight>
              </a:rPr>
              <a:t>transform-origin</a:t>
            </a:r>
            <a:endParaRPr b="1" sz="3188">
              <a:solidFill>
                <a:srgbClr val="303030"/>
              </a:solidFill>
              <a:highlight>
                <a:srgbClr val="D5A6BD"/>
              </a:highlight>
            </a:endParaRPr>
          </a:p>
          <a:p>
            <a:pPr indent="0" lvl="0" marL="0" rtl="0" algn="l">
              <a:lnSpc>
                <a:spcPct val="115000"/>
              </a:lnSpc>
              <a:spcBef>
                <a:spcPts val="1400"/>
              </a:spcBef>
              <a:spcAft>
                <a:spcPts val="400"/>
              </a:spcAft>
              <a:buNone/>
            </a:pPr>
            <a:r>
              <a:t/>
            </a:r>
            <a:endParaRPr b="1" sz="2800">
              <a:solidFill>
                <a:srgbClr val="303030"/>
              </a:solidFill>
              <a:highlight>
                <a:srgbClr val="FFFFFF"/>
              </a:highlight>
            </a:endParaRPr>
          </a:p>
        </p:txBody>
      </p:sp>
      <p:graphicFrame>
        <p:nvGraphicFramePr>
          <p:cNvPr id="214" name="Google Shape;214;p27"/>
          <p:cNvGraphicFramePr/>
          <p:nvPr/>
        </p:nvGraphicFramePr>
        <p:xfrm>
          <a:off x="446700" y="1916350"/>
          <a:ext cx="3000000" cy="3000000"/>
        </p:xfrm>
        <a:graphic>
          <a:graphicData uri="http://schemas.openxmlformats.org/drawingml/2006/table">
            <a:tbl>
              <a:tblPr>
                <a:noFill/>
                <a:tableStyleId>{B844C903-6187-492E-80BA-186675CCD9A1}</a:tableStyleId>
              </a:tblPr>
              <a:tblGrid>
                <a:gridCol w="2828750"/>
                <a:gridCol w="5421850"/>
              </a:tblGrid>
              <a:tr h="317600">
                <a:tc gridSpan="2">
                  <a:txBody>
                    <a:bodyPr/>
                    <a:lstStyle/>
                    <a:p>
                      <a:pPr indent="0" lvl="0" marL="0" rtl="0" algn="ctr">
                        <a:spcBef>
                          <a:spcPts val="0"/>
                        </a:spcBef>
                        <a:spcAft>
                          <a:spcPts val="0"/>
                        </a:spcAft>
                        <a:buNone/>
                      </a:pPr>
                      <a:r>
                        <a:rPr b="1" lang="ru">
                          <a:highlight>
                            <a:srgbClr val="D5A6BD"/>
                          </a:highlight>
                        </a:rPr>
                        <a:t>transform-origin</a:t>
                      </a:r>
                      <a:endParaRPr>
                        <a:highlight>
                          <a:srgbClr val="D5A6BD"/>
                        </a:highlight>
                      </a:endParaRPr>
                    </a:p>
                  </a:txBody>
                  <a:tcPr marT="91425" marB="91425" marR="91425" marL="91425"/>
                </a:tc>
                <a:tc hMerge="1"/>
              </a:tr>
              <a:tr h="295925">
                <a:tc>
                  <a:txBody>
                    <a:bodyPr/>
                    <a:lstStyle/>
                    <a:p>
                      <a:pPr indent="0" lvl="0" marL="0" rtl="0" algn="ctr">
                        <a:lnSpc>
                          <a:spcPct val="115000"/>
                        </a:lnSpc>
                        <a:spcBef>
                          <a:spcPts val="0"/>
                        </a:spcBef>
                        <a:spcAft>
                          <a:spcPts val="0"/>
                        </a:spcAft>
                        <a:buNone/>
                      </a:pPr>
                      <a:r>
                        <a:rPr b="1" lang="ru" sz="1300">
                          <a:solidFill>
                            <a:srgbClr val="303030"/>
                          </a:solidFill>
                        </a:rPr>
                        <a:t>Значения:</a:t>
                      </a:r>
                      <a:endParaRPr b="1" sz="1300">
                        <a:solidFill>
                          <a:srgbClr val="303030"/>
                        </a:solidFill>
                      </a:endParaRPr>
                    </a:p>
                  </a:txBody>
                  <a:tcPr marT="76200" marB="76200" marR="142875" marL="142875"/>
                </a:tc>
                <a:tc>
                  <a:txBody>
                    <a:bodyPr/>
                    <a:lstStyle/>
                    <a:p>
                      <a:pPr indent="0" lvl="0" marL="0" rtl="0" algn="ctr">
                        <a:spcBef>
                          <a:spcPts val="0"/>
                        </a:spcBef>
                        <a:spcAft>
                          <a:spcPts val="0"/>
                        </a:spcAft>
                        <a:buNone/>
                      </a:pPr>
                      <a:r>
                        <a:rPr b="1" lang="ru" sz="1300"/>
                        <a:t>Описание</a:t>
                      </a:r>
                      <a:endParaRPr b="1" sz="1300"/>
                    </a:p>
                  </a:txBody>
                  <a:tcPr marT="76200" marB="76200" marR="142875" marL="142875"/>
                </a:tc>
              </a:tr>
              <a:tr h="1077200">
                <a:tc>
                  <a:txBody>
                    <a:bodyPr/>
                    <a:lstStyle/>
                    <a:p>
                      <a:pPr indent="0" lvl="0" marL="0" rtl="0" algn="l">
                        <a:lnSpc>
                          <a:spcPct val="100000"/>
                        </a:lnSpc>
                        <a:spcBef>
                          <a:spcPts val="0"/>
                        </a:spcBef>
                        <a:spcAft>
                          <a:spcPts val="0"/>
                        </a:spcAft>
                        <a:buNone/>
                      </a:pPr>
                      <a:r>
                        <a:rPr lang="ru" sz="1200">
                          <a:solidFill>
                            <a:srgbClr val="303030"/>
                          </a:solidFill>
                        </a:rPr>
                        <a:t>ось Х(left, center, right, длина, %)</a:t>
                      </a:r>
                      <a:endParaRPr sz="1200">
                        <a:solidFill>
                          <a:srgbClr val="303030"/>
                        </a:solidFill>
                      </a:endParaRPr>
                    </a:p>
                    <a:p>
                      <a:pPr indent="0" lvl="0" marL="0" rtl="0" algn="l">
                        <a:lnSpc>
                          <a:spcPct val="100000"/>
                        </a:lnSpc>
                        <a:spcBef>
                          <a:spcPts val="0"/>
                        </a:spcBef>
                        <a:spcAft>
                          <a:spcPts val="0"/>
                        </a:spcAft>
                        <a:buNone/>
                      </a:pPr>
                      <a:r>
                        <a:rPr lang="ru" sz="1200">
                          <a:solidFill>
                            <a:srgbClr val="303030"/>
                          </a:solidFill>
                        </a:rPr>
                        <a:t>ось Y(top, center, bottom, длина, %)</a:t>
                      </a:r>
                      <a:endParaRPr sz="1200">
                        <a:solidFill>
                          <a:srgbClr val="303030"/>
                        </a:solidFill>
                      </a:endParaRPr>
                    </a:p>
                  </a:txBody>
                  <a:tcPr marT="76200" marB="76200" marR="142875" marL="142875"/>
                </a:tc>
                <a:tc>
                  <a:txBody>
                    <a:bodyPr/>
                    <a:lstStyle/>
                    <a:p>
                      <a:pPr indent="0" lvl="0" marL="0" rtl="0" algn="l">
                        <a:lnSpc>
                          <a:spcPct val="100000"/>
                        </a:lnSpc>
                        <a:spcBef>
                          <a:spcPts val="0"/>
                        </a:spcBef>
                        <a:spcAft>
                          <a:spcPts val="0"/>
                        </a:spcAft>
                        <a:buNone/>
                      </a:pPr>
                      <a:r>
                        <a:rPr lang="ru" sz="1200">
                          <a:solidFill>
                            <a:srgbClr val="303030"/>
                          </a:solidFill>
                        </a:rPr>
                        <a:t>Пара значений, заданная с помощью ключевых слов, единиц длины или процентов определяет, относительно какой части элемента будет происходить трансформация. Значения больше 100% увеличивают область трансформации элемента.</a:t>
                      </a:r>
                      <a:endParaRPr sz="1200">
                        <a:solidFill>
                          <a:srgbClr val="303030"/>
                        </a:solidFill>
                      </a:endParaRPr>
                    </a:p>
                  </a:txBody>
                  <a:tcPr marT="76200" marB="76200" marR="142875" marL="142875"/>
                </a:tc>
              </a:tr>
              <a:tr h="423775">
                <a:tc>
                  <a:txBody>
                    <a:bodyPr/>
                    <a:lstStyle/>
                    <a:p>
                      <a:pPr indent="0" lvl="0" marL="0" rtl="0" algn="l">
                        <a:lnSpc>
                          <a:spcPct val="100000"/>
                        </a:lnSpc>
                        <a:spcBef>
                          <a:spcPts val="0"/>
                        </a:spcBef>
                        <a:spcAft>
                          <a:spcPts val="0"/>
                        </a:spcAft>
                        <a:buNone/>
                      </a:pPr>
                      <a:r>
                        <a:rPr lang="ru" sz="1200">
                          <a:solidFill>
                            <a:srgbClr val="303030"/>
                          </a:solidFill>
                        </a:rPr>
                        <a:t>initial</a:t>
                      </a:r>
                      <a:endParaRPr sz="1200">
                        <a:solidFill>
                          <a:srgbClr val="303030"/>
                        </a:solidFill>
                      </a:endParaRPr>
                    </a:p>
                  </a:txBody>
                  <a:tcPr marT="76200" marB="76200" marR="142875" marL="142875"/>
                </a:tc>
                <a:tc>
                  <a:txBody>
                    <a:bodyPr/>
                    <a:lstStyle/>
                    <a:p>
                      <a:pPr indent="0" lvl="0" marL="0" rtl="0" algn="l">
                        <a:lnSpc>
                          <a:spcPct val="100000"/>
                        </a:lnSpc>
                        <a:spcBef>
                          <a:spcPts val="0"/>
                        </a:spcBef>
                        <a:spcAft>
                          <a:spcPts val="0"/>
                        </a:spcAft>
                        <a:buNone/>
                      </a:pPr>
                      <a:r>
                        <a:rPr lang="ru" sz="1200">
                          <a:solidFill>
                            <a:srgbClr val="303030"/>
                          </a:solidFill>
                        </a:rPr>
                        <a:t>Устанавливает значение свойства в значение по умолчанию.</a:t>
                      </a:r>
                      <a:endParaRPr sz="1200">
                        <a:solidFill>
                          <a:srgbClr val="303030"/>
                        </a:solidFill>
                      </a:endParaRPr>
                    </a:p>
                  </a:txBody>
                  <a:tcPr marT="76200" marB="76200" marR="142875" marL="142875"/>
                </a:tc>
              </a:tr>
              <a:tr h="100000">
                <a:tc>
                  <a:txBody>
                    <a:bodyPr/>
                    <a:lstStyle/>
                    <a:p>
                      <a:pPr indent="0" lvl="0" marL="0" rtl="0" algn="l">
                        <a:lnSpc>
                          <a:spcPct val="100000"/>
                        </a:lnSpc>
                        <a:spcBef>
                          <a:spcPts val="0"/>
                        </a:spcBef>
                        <a:spcAft>
                          <a:spcPts val="0"/>
                        </a:spcAft>
                        <a:buNone/>
                      </a:pPr>
                      <a:r>
                        <a:rPr lang="ru" sz="1200">
                          <a:solidFill>
                            <a:srgbClr val="303030"/>
                          </a:solidFill>
                        </a:rPr>
                        <a:t>inherit</a:t>
                      </a:r>
                      <a:endParaRPr sz="1200">
                        <a:solidFill>
                          <a:srgbClr val="303030"/>
                        </a:solidFill>
                      </a:endParaRPr>
                    </a:p>
                  </a:txBody>
                  <a:tcPr marT="76200" marB="76200" marR="142875" marL="142875"/>
                </a:tc>
                <a:tc>
                  <a:txBody>
                    <a:bodyPr/>
                    <a:lstStyle/>
                    <a:p>
                      <a:pPr indent="0" lvl="0" marL="0" rtl="0" algn="l">
                        <a:lnSpc>
                          <a:spcPct val="100000"/>
                        </a:lnSpc>
                        <a:spcBef>
                          <a:spcPts val="0"/>
                        </a:spcBef>
                        <a:spcAft>
                          <a:spcPts val="0"/>
                        </a:spcAft>
                        <a:buNone/>
                      </a:pPr>
                      <a:r>
                        <a:rPr lang="ru" sz="1200">
                          <a:solidFill>
                            <a:srgbClr val="303030"/>
                          </a:solidFill>
                        </a:rPr>
                        <a:t>Наследует значение свойства от родительского элемента.</a:t>
                      </a:r>
                      <a:endParaRPr sz="1200">
                        <a:solidFill>
                          <a:srgbClr val="303030"/>
                        </a:solidFill>
                      </a:endParaRPr>
                    </a:p>
                  </a:txBody>
                  <a:tcPr marT="76200" marB="76200" marR="142875" marL="142875"/>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8"/>
          <p:cNvSpPr/>
          <p:nvPr/>
        </p:nvSpPr>
        <p:spPr>
          <a:xfrm>
            <a:off x="2637950" y="1485925"/>
            <a:ext cx="3590400" cy="1809600"/>
          </a:xfrm>
          <a:prstGeom prst="rect">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20" name="Google Shape;220;p28"/>
          <p:cNvSpPr txBox="1"/>
          <p:nvPr>
            <p:ph idx="1" type="body"/>
          </p:nvPr>
        </p:nvSpPr>
        <p:spPr>
          <a:xfrm>
            <a:off x="3079650" y="1129725"/>
            <a:ext cx="2835300" cy="2593200"/>
          </a:xfrm>
          <a:prstGeom prst="rect">
            <a:avLst/>
          </a:prstGeom>
          <a:solidFill>
            <a:srgbClr val="F7F8FC"/>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358"/>
              <a:buNone/>
            </a:pPr>
            <a:r>
              <a:rPr lang="ru" sz="1200">
                <a:solidFill>
                  <a:srgbClr val="990055"/>
                </a:solidFill>
                <a:highlight>
                  <a:srgbClr val="F5F5F5"/>
                </a:highlight>
                <a:latin typeface="Arial"/>
                <a:ea typeface="Arial"/>
                <a:cs typeface="Arial"/>
                <a:sym typeface="Arial"/>
              </a:rPr>
              <a:t>transform-origin</a:t>
            </a:r>
            <a:r>
              <a:rPr lang="ru" sz="1200">
                <a:solidFill>
                  <a:srgbClr val="999999"/>
                </a:solidFill>
                <a:highlight>
                  <a:srgbClr val="F5F5F5"/>
                </a:highlight>
                <a:latin typeface="Arial"/>
                <a:ea typeface="Arial"/>
                <a:cs typeface="Arial"/>
                <a:sym typeface="Arial"/>
              </a:rPr>
              <a:t>:</a:t>
            </a:r>
            <a:r>
              <a:rPr lang="ru" sz="1200">
                <a:solidFill>
                  <a:srgbClr val="303030"/>
                </a:solidFill>
                <a:highlight>
                  <a:srgbClr val="F5F5F5"/>
                </a:highlight>
                <a:latin typeface="Arial"/>
                <a:ea typeface="Arial"/>
                <a:cs typeface="Arial"/>
                <a:sym typeface="Arial"/>
              </a:rPr>
              <a:t> 2px</a:t>
            </a:r>
            <a:r>
              <a:rPr lang="ru" sz="1200">
                <a:solidFill>
                  <a:srgbClr val="999999"/>
                </a:solidFill>
                <a:highlight>
                  <a:srgbClr val="F5F5F5"/>
                </a:highlight>
                <a:latin typeface="Arial"/>
                <a:ea typeface="Arial"/>
                <a:cs typeface="Arial"/>
                <a:sym typeface="Arial"/>
              </a:rPr>
              <a:t>;</a:t>
            </a:r>
            <a:endParaRPr sz="1200">
              <a:solidFill>
                <a:srgbClr val="303030"/>
              </a:solidFill>
              <a:highlight>
                <a:srgbClr val="F5F5F5"/>
              </a:highlight>
              <a:latin typeface="Arial"/>
              <a:ea typeface="Arial"/>
              <a:cs typeface="Arial"/>
              <a:sym typeface="Arial"/>
            </a:endParaRPr>
          </a:p>
          <a:p>
            <a:pPr indent="0" lvl="0" marL="0" rtl="0" algn="l">
              <a:lnSpc>
                <a:spcPct val="105000"/>
              </a:lnSpc>
              <a:spcBef>
                <a:spcPts val="1200"/>
              </a:spcBef>
              <a:spcAft>
                <a:spcPts val="0"/>
              </a:spcAft>
              <a:buSzPts val="358"/>
              <a:buNone/>
            </a:pPr>
            <a:r>
              <a:rPr lang="ru" sz="1200">
                <a:solidFill>
                  <a:srgbClr val="990055"/>
                </a:solidFill>
                <a:highlight>
                  <a:srgbClr val="F5F5F5"/>
                </a:highlight>
                <a:latin typeface="Arial"/>
                <a:ea typeface="Arial"/>
                <a:cs typeface="Arial"/>
                <a:sym typeface="Arial"/>
              </a:rPr>
              <a:t>transform-origin</a:t>
            </a:r>
            <a:r>
              <a:rPr lang="ru" sz="1200">
                <a:solidFill>
                  <a:srgbClr val="999999"/>
                </a:solidFill>
                <a:highlight>
                  <a:srgbClr val="F5F5F5"/>
                </a:highlight>
                <a:latin typeface="Arial"/>
                <a:ea typeface="Arial"/>
                <a:cs typeface="Arial"/>
                <a:sym typeface="Arial"/>
              </a:rPr>
              <a:t>:</a:t>
            </a:r>
            <a:r>
              <a:rPr lang="ru" sz="1200">
                <a:solidFill>
                  <a:srgbClr val="303030"/>
                </a:solidFill>
                <a:highlight>
                  <a:srgbClr val="F5F5F5"/>
                </a:highlight>
                <a:latin typeface="Arial"/>
                <a:ea typeface="Arial"/>
                <a:cs typeface="Arial"/>
                <a:sym typeface="Arial"/>
              </a:rPr>
              <a:t> bottom</a:t>
            </a:r>
            <a:r>
              <a:rPr lang="ru" sz="1200">
                <a:solidFill>
                  <a:srgbClr val="999999"/>
                </a:solidFill>
                <a:highlight>
                  <a:srgbClr val="F5F5F5"/>
                </a:highlight>
                <a:latin typeface="Arial"/>
                <a:ea typeface="Arial"/>
                <a:cs typeface="Arial"/>
                <a:sym typeface="Arial"/>
              </a:rPr>
              <a:t>;</a:t>
            </a:r>
            <a:endParaRPr sz="1200">
              <a:solidFill>
                <a:srgbClr val="303030"/>
              </a:solidFill>
              <a:highlight>
                <a:srgbClr val="F5F5F5"/>
              </a:highlight>
              <a:latin typeface="Arial"/>
              <a:ea typeface="Arial"/>
              <a:cs typeface="Arial"/>
              <a:sym typeface="Arial"/>
            </a:endParaRPr>
          </a:p>
          <a:p>
            <a:pPr indent="0" lvl="0" marL="0" rtl="0" algn="l">
              <a:lnSpc>
                <a:spcPct val="105000"/>
              </a:lnSpc>
              <a:spcBef>
                <a:spcPts val="1200"/>
              </a:spcBef>
              <a:spcAft>
                <a:spcPts val="0"/>
              </a:spcAft>
              <a:buSzPts val="358"/>
              <a:buNone/>
            </a:pPr>
            <a:r>
              <a:rPr lang="ru" sz="1200">
                <a:solidFill>
                  <a:srgbClr val="990055"/>
                </a:solidFill>
                <a:highlight>
                  <a:srgbClr val="F5F5F5"/>
                </a:highlight>
                <a:latin typeface="Arial"/>
                <a:ea typeface="Arial"/>
                <a:cs typeface="Arial"/>
                <a:sym typeface="Arial"/>
              </a:rPr>
              <a:t>transform-origin</a:t>
            </a:r>
            <a:r>
              <a:rPr lang="ru" sz="1200">
                <a:solidFill>
                  <a:srgbClr val="999999"/>
                </a:solidFill>
                <a:highlight>
                  <a:srgbClr val="F5F5F5"/>
                </a:highlight>
                <a:latin typeface="Arial"/>
                <a:ea typeface="Arial"/>
                <a:cs typeface="Arial"/>
                <a:sym typeface="Arial"/>
              </a:rPr>
              <a:t>:</a:t>
            </a:r>
            <a:r>
              <a:rPr lang="ru" sz="1200">
                <a:solidFill>
                  <a:srgbClr val="303030"/>
                </a:solidFill>
                <a:highlight>
                  <a:srgbClr val="F5F5F5"/>
                </a:highlight>
                <a:latin typeface="Arial"/>
                <a:ea typeface="Arial"/>
                <a:cs typeface="Arial"/>
                <a:sym typeface="Arial"/>
              </a:rPr>
              <a:t> 3cm 2px</a:t>
            </a:r>
            <a:r>
              <a:rPr lang="ru" sz="1200">
                <a:solidFill>
                  <a:srgbClr val="999999"/>
                </a:solidFill>
                <a:highlight>
                  <a:srgbClr val="F5F5F5"/>
                </a:highlight>
                <a:latin typeface="Arial"/>
                <a:ea typeface="Arial"/>
                <a:cs typeface="Arial"/>
                <a:sym typeface="Arial"/>
              </a:rPr>
              <a:t>;</a:t>
            </a:r>
            <a:endParaRPr sz="1200">
              <a:solidFill>
                <a:srgbClr val="303030"/>
              </a:solidFill>
              <a:highlight>
                <a:srgbClr val="F5F5F5"/>
              </a:highlight>
              <a:latin typeface="Arial"/>
              <a:ea typeface="Arial"/>
              <a:cs typeface="Arial"/>
              <a:sym typeface="Arial"/>
            </a:endParaRPr>
          </a:p>
          <a:p>
            <a:pPr indent="0" lvl="0" marL="0" rtl="0" algn="l">
              <a:lnSpc>
                <a:spcPct val="105000"/>
              </a:lnSpc>
              <a:spcBef>
                <a:spcPts val="1200"/>
              </a:spcBef>
              <a:spcAft>
                <a:spcPts val="0"/>
              </a:spcAft>
              <a:buSzPts val="358"/>
              <a:buNone/>
            </a:pPr>
            <a:r>
              <a:rPr lang="ru" sz="1200">
                <a:solidFill>
                  <a:srgbClr val="990055"/>
                </a:solidFill>
                <a:highlight>
                  <a:srgbClr val="F5F5F5"/>
                </a:highlight>
                <a:latin typeface="Arial"/>
                <a:ea typeface="Arial"/>
                <a:cs typeface="Arial"/>
                <a:sym typeface="Arial"/>
              </a:rPr>
              <a:t>transform-origin</a:t>
            </a:r>
            <a:r>
              <a:rPr lang="ru" sz="1200">
                <a:solidFill>
                  <a:srgbClr val="999999"/>
                </a:solidFill>
                <a:highlight>
                  <a:srgbClr val="F5F5F5"/>
                </a:highlight>
                <a:latin typeface="Arial"/>
                <a:ea typeface="Arial"/>
                <a:cs typeface="Arial"/>
                <a:sym typeface="Arial"/>
              </a:rPr>
              <a:t>:</a:t>
            </a:r>
            <a:r>
              <a:rPr lang="ru" sz="1200">
                <a:solidFill>
                  <a:srgbClr val="303030"/>
                </a:solidFill>
                <a:highlight>
                  <a:srgbClr val="F5F5F5"/>
                </a:highlight>
                <a:latin typeface="Arial"/>
                <a:ea typeface="Arial"/>
                <a:cs typeface="Arial"/>
                <a:sym typeface="Arial"/>
              </a:rPr>
              <a:t> left 2px</a:t>
            </a:r>
            <a:r>
              <a:rPr lang="ru" sz="1200">
                <a:solidFill>
                  <a:srgbClr val="999999"/>
                </a:solidFill>
                <a:highlight>
                  <a:srgbClr val="F5F5F5"/>
                </a:highlight>
                <a:latin typeface="Arial"/>
                <a:ea typeface="Arial"/>
                <a:cs typeface="Arial"/>
                <a:sym typeface="Arial"/>
              </a:rPr>
              <a:t>;</a:t>
            </a:r>
            <a:endParaRPr sz="1200">
              <a:solidFill>
                <a:srgbClr val="303030"/>
              </a:solidFill>
              <a:highlight>
                <a:srgbClr val="F5F5F5"/>
              </a:highlight>
              <a:latin typeface="Arial"/>
              <a:ea typeface="Arial"/>
              <a:cs typeface="Arial"/>
              <a:sym typeface="Arial"/>
            </a:endParaRPr>
          </a:p>
          <a:p>
            <a:pPr indent="0" lvl="0" marL="0" rtl="0" algn="l">
              <a:lnSpc>
                <a:spcPct val="105000"/>
              </a:lnSpc>
              <a:spcBef>
                <a:spcPts val="1200"/>
              </a:spcBef>
              <a:spcAft>
                <a:spcPts val="0"/>
              </a:spcAft>
              <a:buSzPts val="358"/>
              <a:buNone/>
            </a:pPr>
            <a:r>
              <a:rPr lang="ru" sz="1200">
                <a:solidFill>
                  <a:srgbClr val="990055"/>
                </a:solidFill>
                <a:highlight>
                  <a:srgbClr val="F5F5F5"/>
                </a:highlight>
                <a:latin typeface="Arial"/>
                <a:ea typeface="Arial"/>
                <a:cs typeface="Arial"/>
                <a:sym typeface="Arial"/>
              </a:rPr>
              <a:t>transform-origin</a:t>
            </a:r>
            <a:r>
              <a:rPr lang="ru" sz="1200">
                <a:solidFill>
                  <a:srgbClr val="999999"/>
                </a:solidFill>
                <a:highlight>
                  <a:srgbClr val="F5F5F5"/>
                </a:highlight>
                <a:latin typeface="Arial"/>
                <a:ea typeface="Arial"/>
                <a:cs typeface="Arial"/>
                <a:sym typeface="Arial"/>
              </a:rPr>
              <a:t>:</a:t>
            </a:r>
            <a:r>
              <a:rPr lang="ru" sz="1200">
                <a:solidFill>
                  <a:srgbClr val="303030"/>
                </a:solidFill>
                <a:highlight>
                  <a:srgbClr val="F5F5F5"/>
                </a:highlight>
                <a:latin typeface="Arial"/>
                <a:ea typeface="Arial"/>
                <a:cs typeface="Arial"/>
                <a:sym typeface="Arial"/>
              </a:rPr>
              <a:t> right top</a:t>
            </a:r>
            <a:r>
              <a:rPr lang="ru" sz="1200">
                <a:solidFill>
                  <a:srgbClr val="999999"/>
                </a:solidFill>
                <a:highlight>
                  <a:srgbClr val="F5F5F5"/>
                </a:highlight>
                <a:latin typeface="Arial"/>
                <a:ea typeface="Arial"/>
                <a:cs typeface="Arial"/>
                <a:sym typeface="Arial"/>
              </a:rPr>
              <a:t>;</a:t>
            </a:r>
            <a:endParaRPr sz="1200">
              <a:solidFill>
                <a:srgbClr val="303030"/>
              </a:solidFill>
              <a:highlight>
                <a:srgbClr val="F5F5F5"/>
              </a:highlight>
              <a:latin typeface="Arial"/>
              <a:ea typeface="Arial"/>
              <a:cs typeface="Arial"/>
              <a:sym typeface="Arial"/>
            </a:endParaRPr>
          </a:p>
          <a:p>
            <a:pPr indent="0" lvl="0" marL="0" rtl="0" algn="l">
              <a:lnSpc>
                <a:spcPct val="105000"/>
              </a:lnSpc>
              <a:spcBef>
                <a:spcPts val="1200"/>
              </a:spcBef>
              <a:spcAft>
                <a:spcPts val="0"/>
              </a:spcAft>
              <a:buSzPts val="358"/>
              <a:buNone/>
            </a:pPr>
            <a:r>
              <a:rPr lang="ru" sz="1200">
                <a:solidFill>
                  <a:srgbClr val="990055"/>
                </a:solidFill>
                <a:highlight>
                  <a:srgbClr val="F5F5F5"/>
                </a:highlight>
                <a:latin typeface="Arial"/>
                <a:ea typeface="Arial"/>
                <a:cs typeface="Arial"/>
                <a:sym typeface="Arial"/>
              </a:rPr>
              <a:t>transform-origin</a:t>
            </a:r>
            <a:r>
              <a:rPr lang="ru" sz="1200">
                <a:solidFill>
                  <a:srgbClr val="999999"/>
                </a:solidFill>
                <a:highlight>
                  <a:srgbClr val="F5F5F5"/>
                </a:highlight>
                <a:latin typeface="Arial"/>
                <a:ea typeface="Arial"/>
                <a:cs typeface="Arial"/>
                <a:sym typeface="Arial"/>
              </a:rPr>
              <a:t>:</a:t>
            </a:r>
            <a:r>
              <a:rPr lang="ru" sz="1200">
                <a:solidFill>
                  <a:srgbClr val="303030"/>
                </a:solidFill>
                <a:highlight>
                  <a:srgbClr val="F5F5F5"/>
                </a:highlight>
                <a:latin typeface="Arial"/>
                <a:ea typeface="Arial"/>
                <a:cs typeface="Arial"/>
                <a:sym typeface="Arial"/>
              </a:rPr>
              <a:t> inherit</a:t>
            </a:r>
            <a:r>
              <a:rPr lang="ru" sz="1200">
                <a:solidFill>
                  <a:srgbClr val="999999"/>
                </a:solidFill>
                <a:highlight>
                  <a:srgbClr val="F5F5F5"/>
                </a:highlight>
                <a:latin typeface="Arial"/>
                <a:ea typeface="Arial"/>
                <a:cs typeface="Arial"/>
                <a:sym typeface="Arial"/>
              </a:rPr>
              <a:t>;</a:t>
            </a:r>
            <a:endParaRPr sz="1200">
              <a:solidFill>
                <a:srgbClr val="303030"/>
              </a:solidFill>
              <a:highlight>
                <a:srgbClr val="F5F5F5"/>
              </a:highlight>
              <a:latin typeface="Arial"/>
              <a:ea typeface="Arial"/>
              <a:cs typeface="Arial"/>
              <a:sym typeface="Arial"/>
            </a:endParaRPr>
          </a:p>
          <a:p>
            <a:pPr indent="0" lvl="0" marL="0" marR="190500" rtl="0" algn="l">
              <a:lnSpc>
                <a:spcPct val="150000"/>
              </a:lnSpc>
              <a:spcBef>
                <a:spcPts val="1200"/>
              </a:spcBef>
              <a:spcAft>
                <a:spcPts val="0"/>
              </a:spcAft>
              <a:buNone/>
            </a:pPr>
            <a:r>
              <a:rPr lang="ru" sz="1200">
                <a:solidFill>
                  <a:srgbClr val="990055"/>
                </a:solidFill>
                <a:highlight>
                  <a:srgbClr val="F5F5F5"/>
                </a:highlight>
                <a:latin typeface="Arial"/>
                <a:ea typeface="Arial"/>
                <a:cs typeface="Arial"/>
                <a:sym typeface="Arial"/>
              </a:rPr>
              <a:t>transform-origin</a:t>
            </a:r>
            <a:r>
              <a:rPr lang="ru" sz="1200">
                <a:solidFill>
                  <a:srgbClr val="999999"/>
                </a:solidFill>
                <a:highlight>
                  <a:srgbClr val="F5F5F5"/>
                </a:highlight>
                <a:latin typeface="Arial"/>
                <a:ea typeface="Arial"/>
                <a:cs typeface="Arial"/>
                <a:sym typeface="Arial"/>
              </a:rPr>
              <a:t>:</a:t>
            </a:r>
            <a:r>
              <a:rPr lang="ru" sz="1200">
                <a:solidFill>
                  <a:srgbClr val="303030"/>
                </a:solidFill>
                <a:highlight>
                  <a:srgbClr val="F5F5F5"/>
                </a:highlight>
                <a:latin typeface="Arial"/>
                <a:ea typeface="Arial"/>
                <a:cs typeface="Arial"/>
                <a:sym typeface="Arial"/>
              </a:rPr>
              <a:t> initial</a:t>
            </a:r>
            <a:r>
              <a:rPr lang="ru" sz="1200">
                <a:solidFill>
                  <a:srgbClr val="999999"/>
                </a:solidFill>
                <a:highlight>
                  <a:srgbClr val="F5F5F5"/>
                </a:highlight>
                <a:latin typeface="Arial"/>
                <a:ea typeface="Arial"/>
                <a:cs typeface="Arial"/>
                <a:sym typeface="Arial"/>
              </a:rPr>
              <a:t>;</a:t>
            </a:r>
            <a:endParaRPr sz="1200">
              <a:solidFill>
                <a:srgbClr val="999999"/>
              </a:solidFill>
              <a:highlight>
                <a:srgbClr val="F5F5F5"/>
              </a:highlight>
              <a:latin typeface="Arial"/>
              <a:ea typeface="Arial"/>
              <a:cs typeface="Arial"/>
              <a:sym typeface="Arial"/>
            </a:endParaRPr>
          </a:p>
          <a:p>
            <a:pPr indent="0" lvl="0" marL="0" rtl="0" algn="l">
              <a:lnSpc>
                <a:spcPct val="105000"/>
              </a:lnSpc>
              <a:spcBef>
                <a:spcPts val="2300"/>
              </a:spcBef>
              <a:spcAft>
                <a:spcPts val="1200"/>
              </a:spcAft>
              <a:buSzPts val="358"/>
              <a:buNone/>
            </a:pPr>
            <a:r>
              <a:t/>
            </a:r>
            <a:endParaRPr sz="1000">
              <a:solidFill>
                <a:srgbClr val="990055"/>
              </a:solidFill>
              <a:highlight>
                <a:srgbClr val="F5F5F5"/>
              </a:highlight>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29" title="Анимация.gif"/>
          <p:cNvPicPr preferRelativeResize="0"/>
          <p:nvPr/>
        </p:nvPicPr>
        <p:blipFill>
          <a:blip r:embed="rId3">
            <a:alphaModFix/>
          </a:blip>
          <a:stretch>
            <a:fillRect/>
          </a:stretch>
        </p:blipFill>
        <p:spPr>
          <a:xfrm>
            <a:off x="457887" y="1387900"/>
            <a:ext cx="8228225" cy="1927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0"/>
          <p:cNvSpPr txBox="1"/>
          <p:nvPr>
            <p:ph type="title"/>
          </p:nvPr>
        </p:nvSpPr>
        <p:spPr>
          <a:xfrm>
            <a:off x="648175" y="589150"/>
            <a:ext cx="7505700" cy="954600"/>
          </a:xfrm>
          <a:prstGeom prst="rect">
            <a:avLst/>
          </a:prstGeom>
          <a:ln>
            <a:noFill/>
          </a:ln>
        </p:spPr>
        <p:txBody>
          <a:bodyPr anchorCtr="0" anchor="t" bIns="91425" lIns="91425" spcFirstLastPara="1" rIns="91425" wrap="square" tIns="91425">
            <a:normAutofit fontScale="90000"/>
          </a:bodyPr>
          <a:lstStyle/>
          <a:p>
            <a:pPr indent="0" lvl="0" marL="0" rtl="0" algn="l">
              <a:lnSpc>
                <a:spcPct val="115000"/>
              </a:lnSpc>
              <a:spcBef>
                <a:spcPts val="1400"/>
              </a:spcBef>
              <a:spcAft>
                <a:spcPts val="0"/>
              </a:spcAft>
              <a:buNone/>
            </a:pPr>
            <a:r>
              <a:rPr b="1" lang="ru" sz="3133">
                <a:solidFill>
                  <a:srgbClr val="000000"/>
                </a:solidFill>
                <a:latin typeface="Arial"/>
                <a:ea typeface="Arial"/>
                <a:cs typeface="Arial"/>
                <a:sym typeface="Arial"/>
              </a:rPr>
              <a:t>1.3. </a:t>
            </a:r>
            <a:r>
              <a:rPr b="1" lang="ru" sz="3300">
                <a:solidFill>
                  <a:srgbClr val="000000"/>
                </a:solidFill>
                <a:highlight>
                  <a:srgbClr val="FFFFFF"/>
                </a:highlight>
                <a:latin typeface="Arial"/>
                <a:ea typeface="Arial"/>
                <a:cs typeface="Arial"/>
                <a:sym typeface="Arial"/>
              </a:rPr>
              <a:t>Область преобразования: свойство </a:t>
            </a:r>
            <a:r>
              <a:rPr b="1" lang="ru" sz="3300">
                <a:solidFill>
                  <a:srgbClr val="000000"/>
                </a:solidFill>
                <a:highlight>
                  <a:srgbClr val="D5A6BD"/>
                </a:highlight>
                <a:latin typeface="Arial"/>
                <a:ea typeface="Arial"/>
                <a:cs typeface="Arial"/>
                <a:sym typeface="Arial"/>
              </a:rPr>
              <a:t>transform-box</a:t>
            </a:r>
            <a:endParaRPr b="1" sz="3300">
              <a:solidFill>
                <a:srgbClr val="000000"/>
              </a:solidFill>
              <a:highlight>
                <a:srgbClr val="D5A6BD"/>
              </a:highlight>
              <a:latin typeface="Arial"/>
              <a:ea typeface="Arial"/>
              <a:cs typeface="Arial"/>
              <a:sym typeface="Arial"/>
            </a:endParaRPr>
          </a:p>
          <a:p>
            <a:pPr indent="0" lvl="0" marL="0" rtl="0" algn="l">
              <a:lnSpc>
                <a:spcPct val="115000"/>
              </a:lnSpc>
              <a:spcBef>
                <a:spcPts val="1400"/>
              </a:spcBef>
              <a:spcAft>
                <a:spcPts val="0"/>
              </a:spcAft>
              <a:buNone/>
            </a:pPr>
            <a:r>
              <a:t/>
            </a:r>
            <a:endParaRPr b="1" sz="3188">
              <a:solidFill>
                <a:srgbClr val="303030"/>
              </a:solidFill>
              <a:highlight>
                <a:srgbClr val="FFFFFF"/>
              </a:highlight>
            </a:endParaRPr>
          </a:p>
          <a:p>
            <a:pPr indent="0" lvl="0" marL="0" rtl="0" algn="l">
              <a:lnSpc>
                <a:spcPct val="115000"/>
              </a:lnSpc>
              <a:spcBef>
                <a:spcPts val="1400"/>
              </a:spcBef>
              <a:spcAft>
                <a:spcPts val="400"/>
              </a:spcAft>
              <a:buNone/>
            </a:pPr>
            <a:r>
              <a:t/>
            </a:r>
            <a:endParaRPr b="1" sz="2800">
              <a:solidFill>
                <a:srgbClr val="303030"/>
              </a:solidFill>
              <a:highlight>
                <a:srgbClr val="FFFFFF"/>
              </a:highlight>
            </a:endParaRPr>
          </a:p>
        </p:txBody>
      </p:sp>
      <p:sp>
        <p:nvSpPr>
          <p:cNvPr id="231" name="Google Shape;231;p30"/>
          <p:cNvSpPr txBox="1"/>
          <p:nvPr/>
        </p:nvSpPr>
        <p:spPr>
          <a:xfrm>
            <a:off x="1084925" y="3153375"/>
            <a:ext cx="8090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Calibri"/>
              <a:ea typeface="Calibri"/>
              <a:cs typeface="Calibri"/>
              <a:sym typeface="Calibri"/>
            </a:endParaRPr>
          </a:p>
        </p:txBody>
      </p:sp>
      <p:sp>
        <p:nvSpPr>
          <p:cNvPr id="232" name="Google Shape;232;p30"/>
          <p:cNvSpPr txBox="1"/>
          <p:nvPr/>
        </p:nvSpPr>
        <p:spPr>
          <a:xfrm>
            <a:off x="429525" y="1856375"/>
            <a:ext cx="8263800" cy="23508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ru" sz="1500">
                <a:solidFill>
                  <a:srgbClr val="303030"/>
                </a:solidFill>
              </a:rPr>
              <a:t>Все преобразования, определяемые свойством </a:t>
            </a:r>
            <a:r>
              <a:rPr lang="ru" sz="1500">
                <a:solidFill>
                  <a:srgbClr val="303030"/>
                </a:solidFill>
                <a:highlight>
                  <a:srgbClr val="D5A6BD"/>
                </a:highlight>
              </a:rPr>
              <a:t>transform </a:t>
            </a:r>
            <a:r>
              <a:rPr lang="ru" sz="1500">
                <a:solidFill>
                  <a:srgbClr val="303030"/>
                </a:solidFill>
              </a:rPr>
              <a:t>и </a:t>
            </a:r>
            <a:r>
              <a:rPr lang="ru" sz="1500">
                <a:solidFill>
                  <a:srgbClr val="303030"/>
                </a:solidFill>
                <a:highlight>
                  <a:srgbClr val="D5A6BD"/>
                </a:highlight>
              </a:rPr>
              <a:t>transform-origin</a:t>
            </a:r>
            <a:r>
              <a:rPr lang="ru" sz="1500">
                <a:solidFill>
                  <a:srgbClr val="303030"/>
                </a:solidFill>
              </a:rPr>
              <a:t>, относятся к положению и размерам опорного блока элемента. Опорный блок элемента это виртуальный прямоугольник вокруг элемента, который формирует систему координат для отрисовки.</a:t>
            </a:r>
            <a:endParaRPr sz="1500">
              <a:solidFill>
                <a:srgbClr val="303030"/>
              </a:solidFill>
            </a:endParaRPr>
          </a:p>
          <a:p>
            <a:pPr indent="0" lvl="0" marL="0" rtl="0" algn="just">
              <a:lnSpc>
                <a:spcPct val="115000"/>
              </a:lnSpc>
              <a:spcBef>
                <a:spcPts val="1100"/>
              </a:spcBef>
              <a:spcAft>
                <a:spcPts val="0"/>
              </a:spcAft>
              <a:buNone/>
            </a:pPr>
            <a:r>
              <a:rPr lang="ru" sz="1500">
                <a:solidFill>
                  <a:srgbClr val="303030"/>
                </a:solidFill>
              </a:rPr>
              <a:t>Опорный блок добавляет дополнительное смещение к исходной точке, заданной свойством transform-origin.</a:t>
            </a:r>
            <a:endParaRPr sz="1500">
              <a:solidFill>
                <a:srgbClr val="303030"/>
              </a:solidFill>
            </a:endParaRPr>
          </a:p>
          <a:p>
            <a:pPr indent="0" lvl="0" marL="0" rtl="0" algn="just">
              <a:lnSpc>
                <a:spcPct val="115000"/>
              </a:lnSpc>
              <a:spcBef>
                <a:spcPts val="1100"/>
              </a:spcBef>
              <a:spcAft>
                <a:spcPts val="0"/>
              </a:spcAft>
              <a:buNone/>
            </a:pPr>
            <a:r>
              <a:rPr lang="ru" sz="1500">
                <a:solidFill>
                  <a:srgbClr val="303030"/>
                </a:solidFill>
              </a:rPr>
              <a:t>Свойство не наследуется.</a:t>
            </a:r>
            <a:endParaRPr sz="1500">
              <a:solidFill>
                <a:srgbClr val="303030"/>
              </a:solidFill>
            </a:endParaRPr>
          </a:p>
          <a:p>
            <a:pPr indent="0" lvl="0" marL="0" rtl="0" algn="l">
              <a:spcBef>
                <a:spcPts val="1100"/>
              </a:spcBef>
              <a:spcAft>
                <a:spcPts val="0"/>
              </a:spcAft>
              <a:buNone/>
            </a:pPr>
            <a:r>
              <a:t/>
            </a:r>
            <a:endParaRPr sz="1300">
              <a:solidFill>
                <a:schemeClr val="dk2"/>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1"/>
          <p:cNvSpPr txBox="1"/>
          <p:nvPr>
            <p:ph type="title"/>
          </p:nvPr>
        </p:nvSpPr>
        <p:spPr>
          <a:xfrm>
            <a:off x="619675" y="418175"/>
            <a:ext cx="7505700" cy="611700"/>
          </a:xfrm>
          <a:prstGeom prst="rect">
            <a:avLst/>
          </a:prstGeom>
          <a:ln>
            <a:noFill/>
          </a:ln>
        </p:spPr>
        <p:txBody>
          <a:bodyPr anchorCtr="0" anchor="t" bIns="91425" lIns="91425" spcFirstLastPara="1" rIns="91425" wrap="square" tIns="91425">
            <a:normAutofit fontScale="90000"/>
          </a:bodyPr>
          <a:lstStyle/>
          <a:p>
            <a:pPr indent="0" lvl="0" marL="0" rtl="0" algn="l">
              <a:lnSpc>
                <a:spcPct val="115000"/>
              </a:lnSpc>
              <a:spcBef>
                <a:spcPts val="1400"/>
              </a:spcBef>
              <a:spcAft>
                <a:spcPts val="0"/>
              </a:spcAft>
              <a:buNone/>
            </a:pPr>
            <a:r>
              <a:rPr b="1" lang="ru" sz="3133">
                <a:solidFill>
                  <a:srgbClr val="000000"/>
                </a:solidFill>
                <a:latin typeface="Arial"/>
                <a:ea typeface="Arial"/>
                <a:cs typeface="Arial"/>
                <a:sym typeface="Arial"/>
              </a:rPr>
              <a:t>1.3. </a:t>
            </a:r>
            <a:r>
              <a:rPr b="1" lang="ru" sz="3300">
                <a:solidFill>
                  <a:srgbClr val="000000"/>
                </a:solidFill>
                <a:highlight>
                  <a:srgbClr val="D5A6BD"/>
                </a:highlight>
                <a:latin typeface="Arial"/>
                <a:ea typeface="Arial"/>
                <a:cs typeface="Arial"/>
                <a:sym typeface="Arial"/>
              </a:rPr>
              <a:t>transform-box</a:t>
            </a:r>
            <a:endParaRPr b="1" sz="3300">
              <a:solidFill>
                <a:srgbClr val="000000"/>
              </a:solidFill>
              <a:highlight>
                <a:srgbClr val="D5A6BD"/>
              </a:highlight>
              <a:latin typeface="Arial"/>
              <a:ea typeface="Arial"/>
              <a:cs typeface="Arial"/>
              <a:sym typeface="Arial"/>
            </a:endParaRPr>
          </a:p>
          <a:p>
            <a:pPr indent="0" lvl="0" marL="0" rtl="0" algn="l">
              <a:lnSpc>
                <a:spcPct val="115000"/>
              </a:lnSpc>
              <a:spcBef>
                <a:spcPts val="1400"/>
              </a:spcBef>
              <a:spcAft>
                <a:spcPts val="0"/>
              </a:spcAft>
              <a:buNone/>
            </a:pPr>
            <a:r>
              <a:t/>
            </a:r>
            <a:endParaRPr b="1" sz="3188">
              <a:solidFill>
                <a:srgbClr val="303030"/>
              </a:solidFill>
              <a:highlight>
                <a:srgbClr val="FFFFFF"/>
              </a:highlight>
            </a:endParaRPr>
          </a:p>
          <a:p>
            <a:pPr indent="0" lvl="0" marL="0" rtl="0" algn="l">
              <a:lnSpc>
                <a:spcPct val="115000"/>
              </a:lnSpc>
              <a:spcBef>
                <a:spcPts val="1400"/>
              </a:spcBef>
              <a:spcAft>
                <a:spcPts val="400"/>
              </a:spcAft>
              <a:buNone/>
            </a:pPr>
            <a:r>
              <a:t/>
            </a:r>
            <a:endParaRPr b="1" sz="2800">
              <a:solidFill>
                <a:srgbClr val="303030"/>
              </a:solidFill>
              <a:highlight>
                <a:srgbClr val="FFFFFF"/>
              </a:highlight>
            </a:endParaRPr>
          </a:p>
        </p:txBody>
      </p:sp>
      <p:sp>
        <p:nvSpPr>
          <p:cNvPr id="238" name="Google Shape;238;p31"/>
          <p:cNvSpPr txBox="1"/>
          <p:nvPr/>
        </p:nvSpPr>
        <p:spPr>
          <a:xfrm>
            <a:off x="1084925" y="3153375"/>
            <a:ext cx="8090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Calibri"/>
              <a:ea typeface="Calibri"/>
              <a:cs typeface="Calibri"/>
              <a:sym typeface="Calibri"/>
            </a:endParaRPr>
          </a:p>
        </p:txBody>
      </p:sp>
      <p:graphicFrame>
        <p:nvGraphicFramePr>
          <p:cNvPr id="239" name="Google Shape;239;p31"/>
          <p:cNvGraphicFramePr/>
          <p:nvPr/>
        </p:nvGraphicFramePr>
        <p:xfrm>
          <a:off x="446700" y="1089950"/>
          <a:ext cx="3000000" cy="3000000"/>
        </p:xfrm>
        <a:graphic>
          <a:graphicData uri="http://schemas.openxmlformats.org/drawingml/2006/table">
            <a:tbl>
              <a:tblPr>
                <a:noFill/>
                <a:tableStyleId>{B844C903-6187-492E-80BA-186675CCD9A1}</a:tableStyleId>
              </a:tblPr>
              <a:tblGrid>
                <a:gridCol w="1133225"/>
                <a:gridCol w="7117375"/>
              </a:tblGrid>
              <a:tr h="237575">
                <a:tc>
                  <a:txBody>
                    <a:bodyPr/>
                    <a:lstStyle/>
                    <a:p>
                      <a:pPr indent="0" lvl="0" marL="0" rtl="0" algn="ctr">
                        <a:lnSpc>
                          <a:spcPct val="115000"/>
                        </a:lnSpc>
                        <a:spcBef>
                          <a:spcPts val="0"/>
                        </a:spcBef>
                        <a:spcAft>
                          <a:spcPts val="0"/>
                        </a:spcAft>
                        <a:buNone/>
                      </a:pPr>
                      <a:r>
                        <a:rPr b="1" lang="ru" sz="1300">
                          <a:solidFill>
                            <a:srgbClr val="303030"/>
                          </a:solidFill>
                        </a:rPr>
                        <a:t>Значения:</a:t>
                      </a:r>
                      <a:endParaRPr b="1" sz="1300">
                        <a:solidFill>
                          <a:srgbClr val="303030"/>
                        </a:solidFill>
                      </a:endParaRPr>
                    </a:p>
                  </a:txBody>
                  <a:tcPr marT="76200" marB="76200" marR="142875" marL="142875"/>
                </a:tc>
                <a:tc>
                  <a:txBody>
                    <a:bodyPr/>
                    <a:lstStyle/>
                    <a:p>
                      <a:pPr indent="0" lvl="0" marL="0" rtl="0" algn="ctr">
                        <a:spcBef>
                          <a:spcPts val="0"/>
                        </a:spcBef>
                        <a:spcAft>
                          <a:spcPts val="0"/>
                        </a:spcAft>
                        <a:buNone/>
                      </a:pPr>
                      <a:r>
                        <a:rPr b="1" lang="ru" sz="1300"/>
                        <a:t>Описание</a:t>
                      </a:r>
                      <a:endParaRPr b="1" sz="1300"/>
                    </a:p>
                  </a:txBody>
                  <a:tcPr marT="76200" marB="76200" marR="142875" marL="142875"/>
                </a:tc>
              </a:tr>
              <a:tr h="347600">
                <a:tc>
                  <a:txBody>
                    <a:bodyPr/>
                    <a:lstStyle/>
                    <a:p>
                      <a:pPr indent="0" lvl="0" marL="0" rtl="0" algn="just">
                        <a:lnSpc>
                          <a:spcPct val="100000"/>
                        </a:lnSpc>
                        <a:spcBef>
                          <a:spcPts val="0"/>
                        </a:spcBef>
                        <a:spcAft>
                          <a:spcPts val="0"/>
                        </a:spcAft>
                        <a:buNone/>
                      </a:pPr>
                      <a:r>
                        <a:rPr lang="ru" sz="1200">
                          <a:solidFill>
                            <a:srgbClr val="303030"/>
                          </a:solidFill>
                        </a:rPr>
                        <a:t>content-box</a:t>
                      </a:r>
                      <a:endParaRPr sz="1200">
                        <a:solidFill>
                          <a:srgbClr val="303030"/>
                        </a:solidFill>
                      </a:endParaRPr>
                    </a:p>
                  </a:txBody>
                  <a:tcPr marT="76200" marB="76200" marR="142875" marL="142875"/>
                </a:tc>
                <a:tc>
                  <a:txBody>
                    <a:bodyPr/>
                    <a:lstStyle/>
                    <a:p>
                      <a:pPr indent="0" lvl="0" marL="0" rtl="0" algn="just">
                        <a:lnSpc>
                          <a:spcPct val="100000"/>
                        </a:lnSpc>
                        <a:spcBef>
                          <a:spcPts val="0"/>
                        </a:spcBef>
                        <a:spcAft>
                          <a:spcPts val="0"/>
                        </a:spcAft>
                        <a:buNone/>
                      </a:pPr>
                      <a:r>
                        <a:rPr lang="ru" sz="1200">
                          <a:solidFill>
                            <a:srgbClr val="303030"/>
                          </a:solidFill>
                        </a:rPr>
                        <a:t>В качестве опорного блока выступает область содержимого элемента. Для элемента &lt;table&gt; эта область включает также заголовок таблицы и рамку.</a:t>
                      </a:r>
                      <a:endParaRPr sz="1200">
                        <a:solidFill>
                          <a:srgbClr val="303030"/>
                        </a:solidFill>
                      </a:endParaRPr>
                    </a:p>
                  </a:txBody>
                  <a:tcPr marT="76200" marB="76200" marR="142875" marL="142875"/>
                </a:tc>
              </a:tr>
              <a:tr h="347600">
                <a:tc>
                  <a:txBody>
                    <a:bodyPr/>
                    <a:lstStyle/>
                    <a:p>
                      <a:pPr indent="0" lvl="0" marL="0" rtl="0" algn="just">
                        <a:lnSpc>
                          <a:spcPct val="100000"/>
                        </a:lnSpc>
                        <a:spcBef>
                          <a:spcPts val="0"/>
                        </a:spcBef>
                        <a:spcAft>
                          <a:spcPts val="0"/>
                        </a:spcAft>
                        <a:buNone/>
                      </a:pPr>
                      <a:r>
                        <a:rPr lang="ru" sz="1200">
                          <a:solidFill>
                            <a:srgbClr val="303030"/>
                          </a:solidFill>
                        </a:rPr>
                        <a:t>border-box</a:t>
                      </a:r>
                      <a:endParaRPr sz="1200">
                        <a:solidFill>
                          <a:srgbClr val="303030"/>
                        </a:solidFill>
                      </a:endParaRPr>
                    </a:p>
                  </a:txBody>
                  <a:tcPr marT="76200" marB="76200" marR="142875" marL="142875"/>
                </a:tc>
                <a:tc>
                  <a:txBody>
                    <a:bodyPr/>
                    <a:lstStyle/>
                    <a:p>
                      <a:pPr indent="0" lvl="0" marL="0" rtl="0" algn="just">
                        <a:lnSpc>
                          <a:spcPct val="100000"/>
                        </a:lnSpc>
                        <a:spcBef>
                          <a:spcPts val="0"/>
                        </a:spcBef>
                        <a:spcAft>
                          <a:spcPts val="0"/>
                        </a:spcAft>
                        <a:buNone/>
                      </a:pPr>
                      <a:r>
                        <a:rPr lang="ru" sz="1200">
                          <a:solidFill>
                            <a:srgbClr val="303030"/>
                          </a:solidFill>
                        </a:rPr>
                        <a:t>В качестве опорного блока выступает область рамки элемента. Для элемента &lt;table&gt; эта область включает также заголовок таблицы и рамку.</a:t>
                      </a:r>
                      <a:endParaRPr sz="1200">
                        <a:solidFill>
                          <a:srgbClr val="303030"/>
                        </a:solidFill>
                      </a:endParaRPr>
                    </a:p>
                  </a:txBody>
                  <a:tcPr marT="76200" marB="76200" marR="142875" marL="142875"/>
                </a:tc>
              </a:tr>
              <a:tr h="347600">
                <a:tc>
                  <a:txBody>
                    <a:bodyPr/>
                    <a:lstStyle/>
                    <a:p>
                      <a:pPr indent="0" lvl="0" marL="0" rtl="0" algn="just">
                        <a:lnSpc>
                          <a:spcPct val="100000"/>
                        </a:lnSpc>
                        <a:spcBef>
                          <a:spcPts val="0"/>
                        </a:spcBef>
                        <a:spcAft>
                          <a:spcPts val="0"/>
                        </a:spcAft>
                        <a:buNone/>
                      </a:pPr>
                      <a:r>
                        <a:rPr lang="ru" sz="1200">
                          <a:solidFill>
                            <a:srgbClr val="303030"/>
                          </a:solidFill>
                        </a:rPr>
                        <a:t>fill-box</a:t>
                      </a:r>
                      <a:endParaRPr sz="1200">
                        <a:solidFill>
                          <a:srgbClr val="303030"/>
                        </a:solidFill>
                      </a:endParaRPr>
                    </a:p>
                  </a:txBody>
                  <a:tcPr marT="76200" marB="76200" marR="142875" marL="142875"/>
                </a:tc>
                <a:tc>
                  <a:txBody>
                    <a:bodyPr/>
                    <a:lstStyle/>
                    <a:p>
                      <a:pPr indent="0" lvl="0" marL="0" rtl="0" algn="just">
                        <a:lnSpc>
                          <a:spcPct val="100000"/>
                        </a:lnSpc>
                        <a:spcBef>
                          <a:spcPts val="0"/>
                        </a:spcBef>
                        <a:spcAft>
                          <a:spcPts val="0"/>
                        </a:spcAft>
                        <a:buNone/>
                      </a:pPr>
                      <a:r>
                        <a:rPr lang="ru" sz="1200">
                          <a:solidFill>
                            <a:srgbClr val="303030"/>
                          </a:solidFill>
                        </a:rPr>
                        <a:t>В качестве опорного блока выступает ограничивающая рамка, содержащая только геометрическую форму элемента.</a:t>
                      </a:r>
                      <a:endParaRPr sz="1200">
                        <a:solidFill>
                          <a:srgbClr val="303030"/>
                        </a:solidFill>
                      </a:endParaRPr>
                    </a:p>
                  </a:txBody>
                  <a:tcPr marT="76200" marB="76200" marR="142875" marL="142875"/>
                </a:tc>
              </a:tr>
              <a:tr h="347600">
                <a:tc>
                  <a:txBody>
                    <a:bodyPr/>
                    <a:lstStyle/>
                    <a:p>
                      <a:pPr indent="0" lvl="0" marL="0" rtl="0" algn="just">
                        <a:lnSpc>
                          <a:spcPct val="100000"/>
                        </a:lnSpc>
                        <a:spcBef>
                          <a:spcPts val="0"/>
                        </a:spcBef>
                        <a:spcAft>
                          <a:spcPts val="0"/>
                        </a:spcAft>
                        <a:buNone/>
                      </a:pPr>
                      <a:r>
                        <a:rPr lang="ru" sz="1200">
                          <a:solidFill>
                            <a:srgbClr val="303030"/>
                          </a:solidFill>
                        </a:rPr>
                        <a:t>stroke-box</a:t>
                      </a:r>
                      <a:endParaRPr sz="1200">
                        <a:solidFill>
                          <a:srgbClr val="303030"/>
                        </a:solidFill>
                      </a:endParaRPr>
                    </a:p>
                  </a:txBody>
                  <a:tcPr marT="76200" marB="76200" marR="142875" marL="142875"/>
                </a:tc>
                <a:tc>
                  <a:txBody>
                    <a:bodyPr/>
                    <a:lstStyle/>
                    <a:p>
                      <a:pPr indent="0" lvl="0" marL="0" rtl="0" algn="just">
                        <a:lnSpc>
                          <a:spcPct val="100000"/>
                        </a:lnSpc>
                        <a:spcBef>
                          <a:spcPts val="0"/>
                        </a:spcBef>
                        <a:spcAft>
                          <a:spcPts val="0"/>
                        </a:spcAft>
                        <a:buNone/>
                      </a:pPr>
                      <a:r>
                        <a:rPr lang="ru" sz="1200">
                          <a:solidFill>
                            <a:srgbClr val="303030"/>
                          </a:solidFill>
                        </a:rPr>
                        <a:t>В качестве опорного блока выступает ограничивающая рамка, содержащая геометрическую форму и обводку элемента.</a:t>
                      </a:r>
                      <a:endParaRPr sz="1200">
                        <a:solidFill>
                          <a:srgbClr val="303030"/>
                        </a:solidFill>
                      </a:endParaRPr>
                    </a:p>
                  </a:txBody>
                  <a:tcPr marT="76200" marB="76200" marR="142875" marL="142875"/>
                </a:tc>
              </a:tr>
              <a:tr h="347600">
                <a:tc>
                  <a:txBody>
                    <a:bodyPr/>
                    <a:lstStyle/>
                    <a:p>
                      <a:pPr indent="0" lvl="0" marL="0" rtl="0" algn="just">
                        <a:lnSpc>
                          <a:spcPct val="100000"/>
                        </a:lnSpc>
                        <a:spcBef>
                          <a:spcPts val="0"/>
                        </a:spcBef>
                        <a:spcAft>
                          <a:spcPts val="0"/>
                        </a:spcAft>
                        <a:buNone/>
                      </a:pPr>
                      <a:r>
                        <a:rPr lang="ru" sz="1200">
                          <a:solidFill>
                            <a:srgbClr val="303030"/>
                          </a:solidFill>
                        </a:rPr>
                        <a:t>view-box</a:t>
                      </a:r>
                      <a:endParaRPr sz="1200">
                        <a:solidFill>
                          <a:srgbClr val="303030"/>
                        </a:solidFill>
                      </a:endParaRPr>
                    </a:p>
                  </a:txBody>
                  <a:tcPr marT="76200" marB="76200" marR="142875" marL="142875"/>
                </a:tc>
                <a:tc>
                  <a:txBody>
                    <a:bodyPr/>
                    <a:lstStyle/>
                    <a:p>
                      <a:pPr indent="0" lvl="0" marL="0" rtl="0" algn="just">
                        <a:lnSpc>
                          <a:spcPct val="100000"/>
                        </a:lnSpc>
                        <a:spcBef>
                          <a:spcPts val="0"/>
                        </a:spcBef>
                        <a:spcAft>
                          <a:spcPts val="0"/>
                        </a:spcAft>
                        <a:buNone/>
                      </a:pPr>
                      <a:r>
                        <a:rPr lang="ru" sz="1200">
                          <a:solidFill>
                            <a:srgbClr val="303030"/>
                          </a:solidFill>
                        </a:rPr>
                        <a:t>В качестве опорного блока используется область просмотра на SVG-холсте, которая определяет прямоугольную область, в которую отображается содержимое SVG.</a:t>
                      </a:r>
                      <a:endParaRPr sz="1200">
                        <a:solidFill>
                          <a:srgbClr val="303030"/>
                        </a:solidFill>
                      </a:endParaRPr>
                    </a:p>
                  </a:txBody>
                  <a:tcPr marT="76200" marB="76200" marR="142875" marL="142875"/>
                </a:tc>
              </a:tr>
              <a:tr h="216900">
                <a:tc>
                  <a:txBody>
                    <a:bodyPr/>
                    <a:lstStyle/>
                    <a:p>
                      <a:pPr indent="0" lvl="0" marL="0" rtl="0" algn="just">
                        <a:lnSpc>
                          <a:spcPct val="100000"/>
                        </a:lnSpc>
                        <a:spcBef>
                          <a:spcPts val="0"/>
                        </a:spcBef>
                        <a:spcAft>
                          <a:spcPts val="0"/>
                        </a:spcAft>
                        <a:buNone/>
                      </a:pPr>
                      <a:r>
                        <a:rPr lang="ru" sz="1200">
                          <a:solidFill>
                            <a:srgbClr val="303030"/>
                          </a:solidFill>
                        </a:rPr>
                        <a:t>initial</a:t>
                      </a:r>
                      <a:endParaRPr sz="1200">
                        <a:solidFill>
                          <a:srgbClr val="303030"/>
                        </a:solidFill>
                      </a:endParaRPr>
                    </a:p>
                  </a:txBody>
                  <a:tcPr marT="76200" marB="76200" marR="142875" marL="142875"/>
                </a:tc>
                <a:tc>
                  <a:txBody>
                    <a:bodyPr/>
                    <a:lstStyle/>
                    <a:p>
                      <a:pPr indent="0" lvl="0" marL="0" rtl="0" algn="just">
                        <a:lnSpc>
                          <a:spcPct val="100000"/>
                        </a:lnSpc>
                        <a:spcBef>
                          <a:spcPts val="0"/>
                        </a:spcBef>
                        <a:spcAft>
                          <a:spcPts val="0"/>
                        </a:spcAft>
                        <a:buNone/>
                      </a:pPr>
                      <a:r>
                        <a:rPr lang="ru" sz="1200">
                          <a:solidFill>
                            <a:srgbClr val="303030"/>
                          </a:solidFill>
                        </a:rPr>
                        <a:t>Устанавливает значение свойства в значение по умолчанию.</a:t>
                      </a:r>
                      <a:endParaRPr sz="1200">
                        <a:solidFill>
                          <a:srgbClr val="303030"/>
                        </a:solidFill>
                      </a:endParaRPr>
                    </a:p>
                  </a:txBody>
                  <a:tcPr marT="76200" marB="76200" marR="142875" marL="142875"/>
                </a:tc>
              </a:tr>
              <a:tr h="216900">
                <a:tc>
                  <a:txBody>
                    <a:bodyPr/>
                    <a:lstStyle/>
                    <a:p>
                      <a:pPr indent="0" lvl="0" marL="0" rtl="0" algn="just">
                        <a:lnSpc>
                          <a:spcPct val="100000"/>
                        </a:lnSpc>
                        <a:spcBef>
                          <a:spcPts val="0"/>
                        </a:spcBef>
                        <a:spcAft>
                          <a:spcPts val="0"/>
                        </a:spcAft>
                        <a:buNone/>
                      </a:pPr>
                      <a:r>
                        <a:rPr lang="ru" sz="1200">
                          <a:solidFill>
                            <a:srgbClr val="303030"/>
                          </a:solidFill>
                        </a:rPr>
                        <a:t>inherit</a:t>
                      </a:r>
                      <a:endParaRPr sz="1200">
                        <a:solidFill>
                          <a:srgbClr val="303030"/>
                        </a:solidFill>
                      </a:endParaRPr>
                    </a:p>
                  </a:txBody>
                  <a:tcPr marT="76200" marB="76200" marR="142875" marL="142875"/>
                </a:tc>
                <a:tc>
                  <a:txBody>
                    <a:bodyPr/>
                    <a:lstStyle/>
                    <a:p>
                      <a:pPr indent="0" lvl="0" marL="0" rtl="0" algn="just">
                        <a:lnSpc>
                          <a:spcPct val="100000"/>
                        </a:lnSpc>
                        <a:spcBef>
                          <a:spcPts val="0"/>
                        </a:spcBef>
                        <a:spcAft>
                          <a:spcPts val="0"/>
                        </a:spcAft>
                        <a:buNone/>
                      </a:pPr>
                      <a:r>
                        <a:rPr lang="ru" sz="1200">
                          <a:solidFill>
                            <a:srgbClr val="303030"/>
                          </a:solidFill>
                        </a:rPr>
                        <a:t>Наследует значение свойства от родительского элемента.</a:t>
                      </a:r>
                      <a:endParaRPr sz="1200">
                        <a:solidFill>
                          <a:srgbClr val="303030"/>
                        </a:solidFill>
                      </a:endParaRPr>
                    </a:p>
                  </a:txBody>
                  <a:tcPr marT="76200" marB="76200" marR="142875" marL="14287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2"/>
          <p:cNvSpPr/>
          <p:nvPr/>
        </p:nvSpPr>
        <p:spPr>
          <a:xfrm>
            <a:off x="2637950" y="1485925"/>
            <a:ext cx="3590400" cy="1809600"/>
          </a:xfrm>
          <a:prstGeom prst="rect">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5" name="Google Shape;245;p32"/>
          <p:cNvSpPr txBox="1"/>
          <p:nvPr>
            <p:ph idx="1" type="body"/>
          </p:nvPr>
        </p:nvSpPr>
        <p:spPr>
          <a:xfrm>
            <a:off x="3015500" y="762300"/>
            <a:ext cx="2835300" cy="3618900"/>
          </a:xfrm>
          <a:prstGeom prst="rect">
            <a:avLst/>
          </a:prstGeom>
          <a:solidFill>
            <a:srgbClr val="F7F8FC"/>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marR="190500" rtl="0" algn="l">
              <a:lnSpc>
                <a:spcPct val="150000"/>
              </a:lnSpc>
              <a:spcBef>
                <a:spcPts val="0"/>
              </a:spcBef>
              <a:spcAft>
                <a:spcPts val="0"/>
              </a:spcAft>
              <a:buNone/>
            </a:pPr>
            <a:r>
              <a:rPr lang="ru" sz="1000">
                <a:solidFill>
                  <a:srgbClr val="990055"/>
                </a:solidFill>
                <a:highlight>
                  <a:srgbClr val="F5F5F5"/>
                </a:highlight>
                <a:latin typeface="Arial"/>
                <a:ea typeface="Arial"/>
                <a:cs typeface="Arial"/>
                <a:sym typeface="Arial"/>
              </a:rPr>
              <a:t>transform-box</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content-box</a:t>
            </a:r>
            <a:r>
              <a:rPr lang="ru" sz="1000">
                <a:solidFill>
                  <a:srgbClr val="999999"/>
                </a:solidFill>
                <a:highlight>
                  <a:srgbClr val="F5F5F5"/>
                </a:highlight>
                <a:latin typeface="Arial"/>
                <a:ea typeface="Arial"/>
                <a:cs typeface="Arial"/>
                <a:sym typeface="Arial"/>
              </a:rPr>
              <a:t>;</a:t>
            </a:r>
            <a:endParaRPr sz="1000">
              <a:solidFill>
                <a:srgbClr val="303030"/>
              </a:solidFill>
              <a:highlight>
                <a:srgbClr val="F5F5F5"/>
              </a:highlight>
              <a:latin typeface="Arial"/>
              <a:ea typeface="Arial"/>
              <a:cs typeface="Arial"/>
              <a:sym typeface="Arial"/>
            </a:endParaRPr>
          </a:p>
          <a:p>
            <a:pPr indent="0" lvl="0" marL="0" marR="190500" rtl="0" algn="l">
              <a:lnSpc>
                <a:spcPct val="150000"/>
              </a:lnSpc>
              <a:spcBef>
                <a:spcPts val="2300"/>
              </a:spcBef>
              <a:spcAft>
                <a:spcPts val="0"/>
              </a:spcAft>
              <a:buNone/>
            </a:pPr>
            <a:r>
              <a:rPr lang="ru" sz="1000">
                <a:solidFill>
                  <a:srgbClr val="990055"/>
                </a:solidFill>
                <a:highlight>
                  <a:srgbClr val="F5F5F5"/>
                </a:highlight>
                <a:latin typeface="Arial"/>
                <a:ea typeface="Arial"/>
                <a:cs typeface="Arial"/>
                <a:sym typeface="Arial"/>
              </a:rPr>
              <a:t>transform-box</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border-box</a:t>
            </a:r>
            <a:r>
              <a:rPr lang="ru" sz="1000">
                <a:solidFill>
                  <a:srgbClr val="999999"/>
                </a:solidFill>
                <a:highlight>
                  <a:srgbClr val="F5F5F5"/>
                </a:highlight>
                <a:latin typeface="Arial"/>
                <a:ea typeface="Arial"/>
                <a:cs typeface="Arial"/>
                <a:sym typeface="Arial"/>
              </a:rPr>
              <a:t>;</a:t>
            </a:r>
            <a:endParaRPr sz="1000">
              <a:solidFill>
                <a:srgbClr val="303030"/>
              </a:solidFill>
              <a:highlight>
                <a:srgbClr val="F5F5F5"/>
              </a:highlight>
              <a:latin typeface="Arial"/>
              <a:ea typeface="Arial"/>
              <a:cs typeface="Arial"/>
              <a:sym typeface="Arial"/>
            </a:endParaRPr>
          </a:p>
          <a:p>
            <a:pPr indent="0" lvl="0" marL="0" marR="190500" rtl="0" algn="l">
              <a:lnSpc>
                <a:spcPct val="150000"/>
              </a:lnSpc>
              <a:spcBef>
                <a:spcPts val="2300"/>
              </a:spcBef>
              <a:spcAft>
                <a:spcPts val="0"/>
              </a:spcAft>
              <a:buNone/>
            </a:pPr>
            <a:r>
              <a:rPr lang="ru" sz="1000">
                <a:solidFill>
                  <a:srgbClr val="990055"/>
                </a:solidFill>
                <a:highlight>
                  <a:srgbClr val="F5F5F5"/>
                </a:highlight>
                <a:latin typeface="Arial"/>
                <a:ea typeface="Arial"/>
                <a:cs typeface="Arial"/>
                <a:sym typeface="Arial"/>
              </a:rPr>
              <a:t>transform-box</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fill-box</a:t>
            </a:r>
            <a:r>
              <a:rPr lang="ru" sz="1000">
                <a:solidFill>
                  <a:srgbClr val="999999"/>
                </a:solidFill>
                <a:highlight>
                  <a:srgbClr val="F5F5F5"/>
                </a:highlight>
                <a:latin typeface="Arial"/>
                <a:ea typeface="Arial"/>
                <a:cs typeface="Arial"/>
                <a:sym typeface="Arial"/>
              </a:rPr>
              <a:t>;</a:t>
            </a:r>
            <a:endParaRPr sz="1000">
              <a:solidFill>
                <a:srgbClr val="303030"/>
              </a:solidFill>
              <a:highlight>
                <a:srgbClr val="F5F5F5"/>
              </a:highlight>
              <a:latin typeface="Arial"/>
              <a:ea typeface="Arial"/>
              <a:cs typeface="Arial"/>
              <a:sym typeface="Arial"/>
            </a:endParaRPr>
          </a:p>
          <a:p>
            <a:pPr indent="0" lvl="0" marL="0" marR="190500" rtl="0" algn="l">
              <a:lnSpc>
                <a:spcPct val="150000"/>
              </a:lnSpc>
              <a:spcBef>
                <a:spcPts val="2300"/>
              </a:spcBef>
              <a:spcAft>
                <a:spcPts val="0"/>
              </a:spcAft>
              <a:buNone/>
            </a:pPr>
            <a:r>
              <a:rPr lang="ru" sz="1000">
                <a:solidFill>
                  <a:srgbClr val="990055"/>
                </a:solidFill>
                <a:highlight>
                  <a:srgbClr val="F5F5F5"/>
                </a:highlight>
                <a:latin typeface="Arial"/>
                <a:ea typeface="Arial"/>
                <a:cs typeface="Arial"/>
                <a:sym typeface="Arial"/>
              </a:rPr>
              <a:t>transform-box</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stroke-box</a:t>
            </a:r>
            <a:r>
              <a:rPr lang="ru" sz="1000">
                <a:solidFill>
                  <a:srgbClr val="999999"/>
                </a:solidFill>
                <a:highlight>
                  <a:srgbClr val="F5F5F5"/>
                </a:highlight>
                <a:latin typeface="Arial"/>
                <a:ea typeface="Arial"/>
                <a:cs typeface="Arial"/>
                <a:sym typeface="Arial"/>
              </a:rPr>
              <a:t>;</a:t>
            </a:r>
            <a:endParaRPr sz="1000">
              <a:solidFill>
                <a:srgbClr val="303030"/>
              </a:solidFill>
              <a:highlight>
                <a:srgbClr val="F5F5F5"/>
              </a:highlight>
              <a:latin typeface="Arial"/>
              <a:ea typeface="Arial"/>
              <a:cs typeface="Arial"/>
              <a:sym typeface="Arial"/>
            </a:endParaRPr>
          </a:p>
          <a:p>
            <a:pPr indent="0" lvl="0" marL="0" marR="190500" rtl="0" algn="l">
              <a:lnSpc>
                <a:spcPct val="150000"/>
              </a:lnSpc>
              <a:spcBef>
                <a:spcPts val="2300"/>
              </a:spcBef>
              <a:spcAft>
                <a:spcPts val="0"/>
              </a:spcAft>
              <a:buNone/>
            </a:pPr>
            <a:r>
              <a:rPr lang="ru" sz="1000">
                <a:solidFill>
                  <a:srgbClr val="990055"/>
                </a:solidFill>
                <a:highlight>
                  <a:srgbClr val="F5F5F5"/>
                </a:highlight>
                <a:latin typeface="Arial"/>
                <a:ea typeface="Arial"/>
                <a:cs typeface="Arial"/>
                <a:sym typeface="Arial"/>
              </a:rPr>
              <a:t>transform-box</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view-box</a:t>
            </a:r>
            <a:r>
              <a:rPr lang="ru" sz="1000">
                <a:solidFill>
                  <a:srgbClr val="999999"/>
                </a:solidFill>
                <a:highlight>
                  <a:srgbClr val="F5F5F5"/>
                </a:highlight>
                <a:latin typeface="Arial"/>
                <a:ea typeface="Arial"/>
                <a:cs typeface="Arial"/>
                <a:sym typeface="Arial"/>
              </a:rPr>
              <a:t>;</a:t>
            </a:r>
            <a:endParaRPr sz="1000">
              <a:solidFill>
                <a:srgbClr val="303030"/>
              </a:solidFill>
              <a:highlight>
                <a:srgbClr val="F5F5F5"/>
              </a:highlight>
              <a:latin typeface="Arial"/>
              <a:ea typeface="Arial"/>
              <a:cs typeface="Arial"/>
              <a:sym typeface="Arial"/>
            </a:endParaRPr>
          </a:p>
          <a:p>
            <a:pPr indent="0" lvl="0" marL="0" marR="190500" rtl="0" algn="l">
              <a:lnSpc>
                <a:spcPct val="150000"/>
              </a:lnSpc>
              <a:spcBef>
                <a:spcPts val="2300"/>
              </a:spcBef>
              <a:spcAft>
                <a:spcPts val="0"/>
              </a:spcAft>
              <a:buNone/>
            </a:pPr>
            <a:r>
              <a:rPr lang="ru" sz="1000">
                <a:solidFill>
                  <a:srgbClr val="990055"/>
                </a:solidFill>
                <a:highlight>
                  <a:srgbClr val="F5F5F5"/>
                </a:highlight>
                <a:latin typeface="Arial"/>
                <a:ea typeface="Arial"/>
                <a:cs typeface="Arial"/>
                <a:sym typeface="Arial"/>
              </a:rPr>
              <a:t>transform-box</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inherit</a:t>
            </a:r>
            <a:r>
              <a:rPr lang="ru" sz="1000">
                <a:solidFill>
                  <a:srgbClr val="999999"/>
                </a:solidFill>
                <a:highlight>
                  <a:srgbClr val="F5F5F5"/>
                </a:highlight>
                <a:latin typeface="Arial"/>
                <a:ea typeface="Arial"/>
                <a:cs typeface="Arial"/>
                <a:sym typeface="Arial"/>
              </a:rPr>
              <a:t>;</a:t>
            </a:r>
            <a:endParaRPr sz="1000">
              <a:solidFill>
                <a:srgbClr val="303030"/>
              </a:solidFill>
              <a:highlight>
                <a:srgbClr val="F5F5F5"/>
              </a:highlight>
              <a:latin typeface="Arial"/>
              <a:ea typeface="Arial"/>
              <a:cs typeface="Arial"/>
              <a:sym typeface="Arial"/>
            </a:endParaRPr>
          </a:p>
          <a:p>
            <a:pPr indent="0" lvl="0" marL="0" marR="190500" rtl="0" algn="l">
              <a:lnSpc>
                <a:spcPct val="150000"/>
              </a:lnSpc>
              <a:spcBef>
                <a:spcPts val="2300"/>
              </a:spcBef>
              <a:spcAft>
                <a:spcPts val="0"/>
              </a:spcAft>
              <a:buNone/>
            </a:pPr>
            <a:r>
              <a:rPr lang="ru" sz="1000">
                <a:solidFill>
                  <a:srgbClr val="990055"/>
                </a:solidFill>
                <a:highlight>
                  <a:srgbClr val="F5F5F5"/>
                </a:highlight>
                <a:latin typeface="Arial"/>
                <a:ea typeface="Arial"/>
                <a:cs typeface="Arial"/>
                <a:sym typeface="Arial"/>
              </a:rPr>
              <a:t>transform-box</a:t>
            </a:r>
            <a:r>
              <a:rPr lang="ru" sz="1000">
                <a:solidFill>
                  <a:srgbClr val="999999"/>
                </a:solidFill>
                <a:highlight>
                  <a:srgbClr val="F5F5F5"/>
                </a:highlight>
                <a:latin typeface="Arial"/>
                <a:ea typeface="Arial"/>
                <a:cs typeface="Arial"/>
                <a:sym typeface="Arial"/>
              </a:rPr>
              <a:t>:</a:t>
            </a:r>
            <a:r>
              <a:rPr lang="ru" sz="1000">
                <a:solidFill>
                  <a:srgbClr val="303030"/>
                </a:solidFill>
                <a:highlight>
                  <a:srgbClr val="F5F5F5"/>
                </a:highlight>
                <a:latin typeface="Arial"/>
                <a:ea typeface="Arial"/>
                <a:cs typeface="Arial"/>
                <a:sym typeface="Arial"/>
              </a:rPr>
              <a:t> initial</a:t>
            </a:r>
            <a:r>
              <a:rPr lang="ru" sz="1000">
                <a:solidFill>
                  <a:srgbClr val="999999"/>
                </a:solidFill>
                <a:highlight>
                  <a:srgbClr val="F5F5F5"/>
                </a:highlight>
                <a:latin typeface="Arial"/>
                <a:ea typeface="Arial"/>
                <a:cs typeface="Arial"/>
                <a:sym typeface="Arial"/>
              </a:rPr>
              <a:t>;</a:t>
            </a:r>
            <a:endParaRPr sz="1200">
              <a:solidFill>
                <a:srgbClr val="990055"/>
              </a:solidFill>
              <a:highlight>
                <a:srgbClr val="F5F5F5"/>
              </a:highlight>
              <a:latin typeface="Arial"/>
              <a:ea typeface="Arial"/>
              <a:cs typeface="Arial"/>
              <a:sym typeface="Arial"/>
            </a:endParaRPr>
          </a:p>
          <a:p>
            <a:pPr indent="0" lvl="0" marL="0" rtl="0" algn="l">
              <a:lnSpc>
                <a:spcPct val="105000"/>
              </a:lnSpc>
              <a:spcBef>
                <a:spcPts val="2300"/>
              </a:spcBef>
              <a:spcAft>
                <a:spcPts val="1200"/>
              </a:spcAft>
              <a:buSzPts val="358"/>
              <a:buNone/>
            </a:pPr>
            <a:r>
              <a:t/>
            </a:r>
            <a:endParaRPr sz="1000">
              <a:solidFill>
                <a:srgbClr val="990055"/>
              </a:solidFill>
              <a:highlight>
                <a:srgbClr val="F5F5F5"/>
              </a:highlight>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3"/>
          <p:cNvSpPr txBox="1"/>
          <p:nvPr>
            <p:ph type="title"/>
          </p:nvPr>
        </p:nvSpPr>
        <p:spPr>
          <a:xfrm>
            <a:off x="819150" y="845600"/>
            <a:ext cx="7505700" cy="9546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b="1" lang="ru" sz="3188">
                <a:solidFill>
                  <a:srgbClr val="000000"/>
                </a:solidFill>
              </a:rPr>
              <a:t>1.4. Комбинирование функций</a:t>
            </a:r>
            <a:endParaRPr b="1" sz="3188">
              <a:solidFill>
                <a:srgbClr val="000000"/>
              </a:solidFill>
            </a:endParaRPr>
          </a:p>
          <a:p>
            <a:pPr indent="0" lvl="0" marL="0" rtl="0" algn="l">
              <a:spcBef>
                <a:spcPts val="200"/>
              </a:spcBef>
              <a:spcAft>
                <a:spcPts val="0"/>
              </a:spcAft>
              <a:buNone/>
            </a:pPr>
            <a:r>
              <a:t/>
            </a:r>
            <a:endParaRPr/>
          </a:p>
        </p:txBody>
      </p:sp>
      <p:sp>
        <p:nvSpPr>
          <p:cNvPr id="251" name="Google Shape;251;p33"/>
          <p:cNvSpPr txBox="1"/>
          <p:nvPr>
            <p:ph idx="1" type="body"/>
          </p:nvPr>
        </p:nvSpPr>
        <p:spPr>
          <a:xfrm>
            <a:off x="1894050" y="2822500"/>
            <a:ext cx="5194200" cy="11013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714"/>
              </a:lnSpc>
              <a:spcBef>
                <a:spcPts val="0"/>
              </a:spcBef>
              <a:spcAft>
                <a:spcPts val="0"/>
              </a:spcAft>
              <a:buNone/>
            </a:pPr>
            <a:r>
              <a:rPr lang="ru" sz="1200">
                <a:solidFill>
                  <a:srgbClr val="000000"/>
                </a:solidFill>
                <a:latin typeface="Arial"/>
                <a:ea typeface="Arial"/>
                <a:cs typeface="Arial"/>
                <a:sym typeface="Arial"/>
              </a:rPr>
              <a:t>/* Сначала перемещение, потом поворот, потом масштаб */</a:t>
            </a:r>
            <a:endParaRPr sz="1200">
              <a:solidFill>
                <a:srgbClr val="000000"/>
              </a:solidFill>
              <a:latin typeface="Arial"/>
              <a:ea typeface="Arial"/>
              <a:cs typeface="Arial"/>
              <a:sym typeface="Arial"/>
            </a:endParaRPr>
          </a:p>
          <a:p>
            <a:pPr indent="0" lvl="0" marL="0" rtl="0" algn="l">
              <a:lnSpc>
                <a:spcPct val="115714"/>
              </a:lnSpc>
              <a:spcBef>
                <a:spcPts val="0"/>
              </a:spcBef>
              <a:spcAft>
                <a:spcPts val="0"/>
              </a:spcAft>
              <a:buNone/>
            </a:pPr>
            <a:r>
              <a:rPr lang="ru" sz="1200">
                <a:solidFill>
                  <a:srgbClr val="000000"/>
                </a:solidFill>
                <a:latin typeface="Arial"/>
                <a:ea typeface="Arial"/>
                <a:cs typeface="Arial"/>
                <a:sym typeface="Arial"/>
              </a:rPr>
              <a:t>.combined {</a:t>
            </a:r>
            <a:endParaRPr sz="1200">
              <a:solidFill>
                <a:srgbClr val="000000"/>
              </a:solidFill>
              <a:latin typeface="Arial"/>
              <a:ea typeface="Arial"/>
              <a:cs typeface="Arial"/>
              <a:sym typeface="Arial"/>
            </a:endParaRPr>
          </a:p>
          <a:p>
            <a:pPr indent="0" lvl="0" marL="0" rtl="0" algn="l">
              <a:lnSpc>
                <a:spcPct val="115714"/>
              </a:lnSpc>
              <a:spcBef>
                <a:spcPts val="0"/>
              </a:spcBef>
              <a:spcAft>
                <a:spcPts val="0"/>
              </a:spcAft>
              <a:buNone/>
            </a:pPr>
            <a:r>
              <a:rPr lang="ru" sz="1200">
                <a:solidFill>
                  <a:srgbClr val="000000"/>
                </a:solidFill>
                <a:latin typeface="Arial"/>
                <a:ea typeface="Arial"/>
                <a:cs typeface="Arial"/>
                <a:sym typeface="Arial"/>
              </a:rPr>
              <a:t> </a:t>
            </a:r>
            <a:r>
              <a:rPr lang="ru" sz="1200">
                <a:solidFill>
                  <a:srgbClr val="000000"/>
                </a:solidFill>
                <a:highlight>
                  <a:srgbClr val="D5A6BD"/>
                </a:highlight>
                <a:latin typeface="Arial"/>
                <a:ea typeface="Arial"/>
                <a:cs typeface="Arial"/>
                <a:sym typeface="Arial"/>
              </a:rPr>
              <a:t> transform: translateX(50px) rotate(30deg) scale(1.2);</a:t>
            </a:r>
            <a:endParaRPr sz="1200">
              <a:solidFill>
                <a:srgbClr val="000000"/>
              </a:solidFill>
              <a:highlight>
                <a:srgbClr val="D5A6BD"/>
              </a:highlight>
              <a:latin typeface="Arial"/>
              <a:ea typeface="Arial"/>
              <a:cs typeface="Arial"/>
              <a:sym typeface="Arial"/>
            </a:endParaRPr>
          </a:p>
          <a:p>
            <a:pPr indent="0" lvl="0" marL="0" rtl="0" algn="l">
              <a:lnSpc>
                <a:spcPct val="115714"/>
              </a:lnSpc>
              <a:spcBef>
                <a:spcPts val="0"/>
              </a:spcBef>
              <a:spcAft>
                <a:spcPts val="0"/>
              </a:spcAft>
              <a:buNone/>
            </a:pPr>
            <a:r>
              <a:rPr lang="ru"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a:p>
            <a:pPr indent="0" lvl="0" marL="0" rtl="0" algn="l">
              <a:lnSpc>
                <a:spcPct val="115714"/>
              </a:lnSpc>
              <a:spcBef>
                <a:spcPts val="0"/>
              </a:spcBef>
              <a:spcAft>
                <a:spcPts val="0"/>
              </a:spcAft>
              <a:buNone/>
            </a:pPr>
            <a:r>
              <a:t/>
            </a:r>
            <a:endParaRPr sz="1200">
              <a:solidFill>
                <a:srgbClr val="000000"/>
              </a:solidFill>
              <a:latin typeface="Arial"/>
              <a:ea typeface="Arial"/>
              <a:cs typeface="Arial"/>
              <a:sym typeface="Arial"/>
            </a:endParaRPr>
          </a:p>
          <a:p>
            <a:pPr indent="0" lvl="0" marL="0" rtl="0" algn="l">
              <a:lnSpc>
                <a:spcPct val="115714"/>
              </a:lnSpc>
              <a:spcBef>
                <a:spcPts val="0"/>
              </a:spcBef>
              <a:spcAft>
                <a:spcPts val="0"/>
              </a:spcAft>
              <a:buNone/>
            </a:pPr>
            <a:r>
              <a:t/>
            </a:r>
            <a:endParaRPr sz="1200">
              <a:solidFill>
                <a:srgbClr val="000000"/>
              </a:solidFill>
              <a:latin typeface="Arial"/>
              <a:ea typeface="Arial"/>
              <a:cs typeface="Arial"/>
              <a:sym typeface="Arial"/>
            </a:endParaRPr>
          </a:p>
          <a:p>
            <a:pPr indent="0" lvl="0" marL="0" rtl="0" algn="l">
              <a:lnSpc>
                <a:spcPct val="95000"/>
              </a:lnSpc>
              <a:spcBef>
                <a:spcPts val="0"/>
              </a:spcBef>
              <a:spcAft>
                <a:spcPts val="1200"/>
              </a:spcAft>
              <a:buNone/>
            </a:pPr>
            <a:r>
              <a:t/>
            </a:r>
            <a:endParaRPr sz="1200">
              <a:latin typeface="Arial"/>
              <a:ea typeface="Arial"/>
              <a:cs typeface="Arial"/>
              <a:sym typeface="Arial"/>
            </a:endParaRPr>
          </a:p>
        </p:txBody>
      </p:sp>
      <p:sp>
        <p:nvSpPr>
          <p:cNvPr id="252" name="Google Shape;252;p33"/>
          <p:cNvSpPr txBox="1"/>
          <p:nvPr/>
        </p:nvSpPr>
        <p:spPr>
          <a:xfrm>
            <a:off x="819150" y="1628375"/>
            <a:ext cx="7344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500"/>
              <a:t>Несколько функций можно комбинировать в одном правиле . Порядок важен — функции применяются слева направо.</a:t>
            </a:r>
            <a:endParaRPr sz="17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4"/>
          <p:cNvSpPr txBox="1"/>
          <p:nvPr>
            <p:ph type="title"/>
          </p:nvPr>
        </p:nvSpPr>
        <p:spPr>
          <a:xfrm>
            <a:off x="819150" y="544950"/>
            <a:ext cx="7505700" cy="9546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400"/>
              </a:spcBef>
              <a:spcAft>
                <a:spcPts val="0"/>
              </a:spcAft>
              <a:buNone/>
            </a:pPr>
            <a:r>
              <a:rPr b="1" lang="ru" sz="3155">
                <a:solidFill>
                  <a:srgbClr val="000000"/>
                </a:solidFill>
              </a:rPr>
              <a:t>2. </a:t>
            </a:r>
            <a:r>
              <a:rPr b="1" lang="ru" sz="3188">
                <a:solidFill>
                  <a:srgbClr val="303030"/>
                </a:solidFill>
                <a:latin typeface="Trebuchet MS"/>
                <a:ea typeface="Trebuchet MS"/>
                <a:cs typeface="Trebuchet MS"/>
                <a:sym typeface="Trebuchet MS"/>
              </a:rPr>
              <a:t>CSS-переходы</a:t>
            </a:r>
            <a:endParaRPr b="1" sz="3100">
              <a:solidFill>
                <a:srgbClr val="303030"/>
              </a:solidFill>
              <a:highlight>
                <a:srgbClr val="FFFFFF"/>
              </a:highlight>
            </a:endParaRPr>
          </a:p>
          <a:p>
            <a:pPr indent="0" lvl="0" marL="0" rtl="0" algn="l">
              <a:lnSpc>
                <a:spcPct val="115000"/>
              </a:lnSpc>
              <a:spcBef>
                <a:spcPts val="1400"/>
              </a:spcBef>
              <a:spcAft>
                <a:spcPts val="0"/>
              </a:spcAft>
              <a:buNone/>
            </a:pPr>
            <a:r>
              <a:t/>
            </a:r>
            <a:endParaRPr b="1" sz="3155">
              <a:solidFill>
                <a:srgbClr val="000000"/>
              </a:solidFill>
            </a:endParaRPr>
          </a:p>
          <a:p>
            <a:pPr indent="0" lvl="0" marL="0" rtl="0" algn="l">
              <a:spcBef>
                <a:spcPts val="400"/>
              </a:spcBef>
              <a:spcAft>
                <a:spcPts val="0"/>
              </a:spcAft>
              <a:buNone/>
            </a:pPr>
            <a:r>
              <a:t/>
            </a:r>
            <a:endParaRPr/>
          </a:p>
        </p:txBody>
      </p:sp>
      <p:sp>
        <p:nvSpPr>
          <p:cNvPr id="258" name="Google Shape;258;p34"/>
          <p:cNvSpPr txBox="1"/>
          <p:nvPr>
            <p:ph idx="1" type="body"/>
          </p:nvPr>
        </p:nvSpPr>
        <p:spPr>
          <a:xfrm>
            <a:off x="254850" y="1329225"/>
            <a:ext cx="8634300" cy="3604800"/>
          </a:xfrm>
          <a:prstGeom prst="rect">
            <a:avLst/>
          </a:prstGeom>
        </p:spPr>
        <p:txBody>
          <a:bodyPr anchorCtr="0" anchor="t" bIns="91425" lIns="91425" spcFirstLastPara="1" rIns="91425" wrap="square" tIns="91425">
            <a:normAutofit fontScale="92500" lnSpcReduction="20000"/>
          </a:bodyPr>
          <a:lstStyle/>
          <a:p>
            <a:pPr indent="0" lvl="0" marL="0" rtl="0" algn="just">
              <a:spcBef>
                <a:spcPts val="0"/>
              </a:spcBef>
              <a:spcAft>
                <a:spcPts val="0"/>
              </a:spcAft>
              <a:buNone/>
            </a:pPr>
            <a:r>
              <a:rPr b="1" lang="ru" sz="1608">
                <a:solidFill>
                  <a:srgbClr val="303030"/>
                </a:solidFill>
                <a:latin typeface="Arial"/>
                <a:ea typeface="Arial"/>
                <a:cs typeface="Arial"/>
                <a:sym typeface="Arial"/>
              </a:rPr>
              <a:t>CSS-переходы</a:t>
            </a:r>
            <a:r>
              <a:rPr lang="ru" sz="1608">
                <a:solidFill>
                  <a:srgbClr val="303030"/>
                </a:solidFill>
                <a:latin typeface="Arial"/>
                <a:ea typeface="Arial"/>
                <a:cs typeface="Arial"/>
                <a:sym typeface="Arial"/>
              </a:rPr>
              <a:t> позволяют анимировать исходное значение CSS-свойства на новое значение с течением времени, управляя скоростью смены значений свойств. Большинство свойств меняют свои значения за 16 миллисекунд, поэтому рекомендуемое время стандартного перехода — 200ms.</a:t>
            </a:r>
            <a:endParaRPr sz="1608">
              <a:solidFill>
                <a:srgbClr val="303030"/>
              </a:solidFill>
              <a:latin typeface="Arial"/>
              <a:ea typeface="Arial"/>
              <a:cs typeface="Arial"/>
              <a:sym typeface="Arial"/>
            </a:endParaRPr>
          </a:p>
          <a:p>
            <a:pPr indent="0" lvl="0" marL="0" rtl="0" algn="just">
              <a:spcBef>
                <a:spcPts val="1100"/>
              </a:spcBef>
              <a:spcAft>
                <a:spcPts val="0"/>
              </a:spcAft>
              <a:buNone/>
            </a:pPr>
            <a:r>
              <a:rPr lang="ru" sz="1608">
                <a:solidFill>
                  <a:srgbClr val="303030"/>
                </a:solidFill>
                <a:latin typeface="Arial"/>
                <a:ea typeface="Arial"/>
                <a:cs typeface="Arial"/>
                <a:sym typeface="Arial"/>
              </a:rPr>
              <a:t>Смена свойств происходит при наступлении определенного события, которое описывается соответствующим псевдоклассом. Чаще всего используется псевдокласс :hover. Данный псевдокласс не работает на мобильных устройствах, таких как iPhone или Android. Универсальным решением, работающим в настольных и мобильных браузерах, будет обработка событий с помощью JavaScript (например, переключение классов при клике).</a:t>
            </a:r>
            <a:endParaRPr sz="1608">
              <a:solidFill>
                <a:srgbClr val="303030"/>
              </a:solidFill>
              <a:latin typeface="Arial"/>
              <a:ea typeface="Arial"/>
              <a:cs typeface="Arial"/>
              <a:sym typeface="Arial"/>
            </a:endParaRPr>
          </a:p>
          <a:p>
            <a:pPr indent="0" lvl="0" marL="0" rtl="0" algn="just">
              <a:spcBef>
                <a:spcPts val="1100"/>
              </a:spcBef>
              <a:spcAft>
                <a:spcPts val="0"/>
              </a:spcAft>
              <a:buNone/>
            </a:pPr>
            <a:r>
              <a:rPr lang="ru" sz="1608">
                <a:solidFill>
                  <a:srgbClr val="303030"/>
                </a:solidFill>
                <a:latin typeface="Arial"/>
                <a:ea typeface="Arial"/>
                <a:cs typeface="Arial"/>
                <a:sym typeface="Arial"/>
              </a:rPr>
              <a:t>Переходы применяются ко всем элементам, а также к псевдоэлементам :before и :after. Для задания всех свойств перехода обычно используют краткую запись свойства transition.</a:t>
            </a:r>
            <a:endParaRPr sz="1608">
              <a:solidFill>
                <a:srgbClr val="303030"/>
              </a:solidFill>
              <a:latin typeface="Arial"/>
              <a:ea typeface="Arial"/>
              <a:cs typeface="Arial"/>
              <a:sym typeface="Arial"/>
            </a:endParaRPr>
          </a:p>
          <a:p>
            <a:pPr indent="0" lvl="0" marL="0" rtl="0" algn="just">
              <a:spcBef>
                <a:spcPts val="1100"/>
              </a:spcBef>
              <a:spcAft>
                <a:spcPts val="0"/>
              </a:spcAft>
              <a:buNone/>
            </a:pPr>
            <a:r>
              <a:rPr lang="ru" sz="1608">
                <a:solidFill>
                  <a:srgbClr val="303030"/>
                </a:solidFill>
                <a:latin typeface="Arial"/>
                <a:ea typeface="Arial"/>
                <a:cs typeface="Arial"/>
                <a:sym typeface="Arial"/>
              </a:rPr>
              <a:t>CSS3-переходы могут применяться не ко всем свойствам и их значениям. </a:t>
            </a:r>
            <a:endParaRPr sz="1608">
              <a:solidFill>
                <a:srgbClr val="303030"/>
              </a:solidFill>
              <a:latin typeface="Arial"/>
              <a:ea typeface="Arial"/>
              <a:cs typeface="Arial"/>
              <a:sym typeface="Arial"/>
            </a:endParaRPr>
          </a:p>
          <a:p>
            <a:pPr indent="0" lvl="0" marL="0" rtl="0" algn="just">
              <a:lnSpc>
                <a:spcPct val="95000"/>
              </a:lnSpc>
              <a:spcBef>
                <a:spcPts val="1100"/>
              </a:spcBef>
              <a:spcAft>
                <a:spcPts val="1200"/>
              </a:spcAft>
              <a:buSzPct val="84615"/>
              <a:buNone/>
            </a:pPr>
            <a:r>
              <a:t/>
            </a:r>
            <a:endParaRPr sz="617"/>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5"/>
          <p:cNvSpPr txBox="1"/>
          <p:nvPr>
            <p:ph type="title"/>
          </p:nvPr>
        </p:nvSpPr>
        <p:spPr>
          <a:xfrm>
            <a:off x="819150" y="544950"/>
            <a:ext cx="7505700" cy="9546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400"/>
              </a:spcBef>
              <a:spcAft>
                <a:spcPts val="0"/>
              </a:spcAft>
              <a:buNone/>
            </a:pPr>
            <a:r>
              <a:rPr b="1" lang="ru" sz="3155">
                <a:solidFill>
                  <a:srgbClr val="000000"/>
                </a:solidFill>
              </a:rPr>
              <a:t>2.1. </a:t>
            </a:r>
            <a:r>
              <a:rPr b="1" lang="ru" sz="3100">
                <a:solidFill>
                  <a:srgbClr val="303030"/>
                </a:solidFill>
                <a:highlight>
                  <a:srgbClr val="FFFFFF"/>
                </a:highlight>
              </a:rPr>
              <a:t>Название свойства</a:t>
            </a:r>
            <a:r>
              <a:rPr b="1" lang="ru" sz="3100">
                <a:solidFill>
                  <a:srgbClr val="303030"/>
                </a:solidFill>
                <a:highlight>
                  <a:srgbClr val="D5A6BD"/>
                </a:highlight>
              </a:rPr>
              <a:t> transition-property</a:t>
            </a:r>
            <a:endParaRPr b="1" sz="3100">
              <a:solidFill>
                <a:srgbClr val="303030"/>
              </a:solidFill>
              <a:highlight>
                <a:srgbClr val="D5A6BD"/>
              </a:highlight>
            </a:endParaRPr>
          </a:p>
          <a:p>
            <a:pPr indent="0" lvl="0" marL="0" rtl="0" algn="l">
              <a:lnSpc>
                <a:spcPct val="115000"/>
              </a:lnSpc>
              <a:spcBef>
                <a:spcPts val="1400"/>
              </a:spcBef>
              <a:spcAft>
                <a:spcPts val="0"/>
              </a:spcAft>
              <a:buNone/>
            </a:pPr>
            <a:r>
              <a:t/>
            </a:r>
            <a:endParaRPr b="1" sz="3188">
              <a:solidFill>
                <a:srgbClr val="303030"/>
              </a:solidFill>
              <a:latin typeface="Trebuchet MS"/>
              <a:ea typeface="Trebuchet MS"/>
              <a:cs typeface="Trebuchet MS"/>
              <a:sym typeface="Trebuchet MS"/>
            </a:endParaRPr>
          </a:p>
          <a:p>
            <a:pPr indent="0" lvl="0" marL="0" rtl="0" algn="l">
              <a:lnSpc>
                <a:spcPct val="115000"/>
              </a:lnSpc>
              <a:spcBef>
                <a:spcPts val="1400"/>
              </a:spcBef>
              <a:spcAft>
                <a:spcPts val="0"/>
              </a:spcAft>
              <a:buNone/>
            </a:pPr>
            <a:r>
              <a:t/>
            </a:r>
            <a:endParaRPr b="1" sz="3155">
              <a:solidFill>
                <a:srgbClr val="000000"/>
              </a:solidFill>
            </a:endParaRPr>
          </a:p>
          <a:p>
            <a:pPr indent="0" lvl="0" marL="0" rtl="0" algn="l">
              <a:spcBef>
                <a:spcPts val="400"/>
              </a:spcBef>
              <a:spcAft>
                <a:spcPts val="0"/>
              </a:spcAft>
              <a:buNone/>
            </a:pPr>
            <a:r>
              <a:t/>
            </a:r>
            <a:endParaRPr/>
          </a:p>
        </p:txBody>
      </p:sp>
      <p:sp>
        <p:nvSpPr>
          <p:cNvPr id="264" name="Google Shape;264;p35"/>
          <p:cNvSpPr txBox="1"/>
          <p:nvPr>
            <p:ph idx="1" type="body"/>
          </p:nvPr>
        </p:nvSpPr>
        <p:spPr>
          <a:xfrm>
            <a:off x="619675" y="1343475"/>
            <a:ext cx="8070000" cy="1923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500">
                <a:solidFill>
                  <a:srgbClr val="303030"/>
                </a:solidFill>
                <a:highlight>
                  <a:srgbClr val="FFFFFF"/>
                </a:highlight>
                <a:latin typeface="Arial"/>
                <a:ea typeface="Arial"/>
                <a:cs typeface="Arial"/>
                <a:sym typeface="Arial"/>
              </a:rPr>
              <a:t>Содержит название CSS-свойств, к которым будет применен эффект перехода. Значение свойства может содержать как одно свойство, так и список свойств через запятую. При создании перехода можно использовать как начальное, так и конечное состояние элемента. Свойство не наследуется.</a:t>
            </a:r>
            <a:endParaRPr sz="1500">
              <a:solidFill>
                <a:srgbClr val="303030"/>
              </a:solidFill>
              <a:highlight>
                <a:srgbClr val="FFFFFF"/>
              </a:highlight>
              <a:latin typeface="Arial"/>
              <a:ea typeface="Arial"/>
              <a:cs typeface="Arial"/>
              <a:sym typeface="Arial"/>
            </a:endParaRPr>
          </a:p>
          <a:p>
            <a:pPr indent="0" lvl="0" marL="0" rtl="0" algn="l">
              <a:spcBef>
                <a:spcPts val="1100"/>
              </a:spcBef>
              <a:spcAft>
                <a:spcPts val="0"/>
              </a:spcAft>
              <a:buNone/>
            </a:pPr>
            <a:r>
              <a:t/>
            </a:r>
            <a:endParaRPr sz="1500">
              <a:solidFill>
                <a:srgbClr val="303030"/>
              </a:solidFill>
              <a:highlight>
                <a:srgbClr val="FFFFFF"/>
              </a:highlight>
              <a:latin typeface="Arial"/>
              <a:ea typeface="Arial"/>
              <a:cs typeface="Arial"/>
              <a:sym typeface="Arial"/>
            </a:endParaRPr>
          </a:p>
          <a:p>
            <a:pPr indent="0" lvl="0" marL="0" rtl="0" algn="just">
              <a:lnSpc>
                <a:spcPct val="95000"/>
              </a:lnSpc>
              <a:spcBef>
                <a:spcPts val="1100"/>
              </a:spcBef>
              <a:spcAft>
                <a:spcPts val="1200"/>
              </a:spcAft>
              <a:buSzPts val="523"/>
              <a:buNone/>
            </a:pPr>
            <a:r>
              <a:t/>
            </a:r>
            <a:endParaRPr sz="617"/>
          </a:p>
        </p:txBody>
      </p:sp>
      <p:sp>
        <p:nvSpPr>
          <p:cNvPr id="265" name="Google Shape;265;p35"/>
          <p:cNvSpPr txBox="1"/>
          <p:nvPr/>
        </p:nvSpPr>
        <p:spPr>
          <a:xfrm>
            <a:off x="2297925" y="2825225"/>
            <a:ext cx="4244100" cy="1477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ru" sz="1200">
                <a:solidFill>
                  <a:srgbClr val="669900"/>
                </a:solidFill>
                <a:highlight>
                  <a:srgbClr val="F5F5F5"/>
                </a:highlight>
              </a:rPr>
              <a:t>div</a:t>
            </a:r>
            <a:r>
              <a:rPr lang="ru" sz="1200">
                <a:solidFill>
                  <a:srgbClr val="303030"/>
                </a:solidFill>
                <a:highlight>
                  <a:srgbClr val="F5F5F5"/>
                </a:highlight>
              </a:rPr>
              <a:t> </a:t>
            </a:r>
            <a:r>
              <a:rPr lang="ru" sz="1200">
                <a:solidFill>
                  <a:srgbClr val="999999"/>
                </a:solidFill>
                <a:highlight>
                  <a:srgbClr val="F5F5F5"/>
                </a:highlight>
              </a:rPr>
              <a:t>{</a:t>
            </a:r>
            <a:endParaRPr sz="1200">
              <a:solidFill>
                <a:srgbClr val="303030"/>
              </a:solidFill>
              <a:highlight>
                <a:srgbClr val="F5F5F5"/>
              </a:highlight>
            </a:endParaRPr>
          </a:p>
          <a:p>
            <a:pPr indent="0" lvl="0" marL="0" rtl="0" algn="l">
              <a:spcBef>
                <a:spcPts val="0"/>
              </a:spcBef>
              <a:spcAft>
                <a:spcPts val="0"/>
              </a:spcAft>
              <a:buNone/>
            </a:pPr>
            <a:r>
              <a:rPr lang="ru" sz="1200">
                <a:solidFill>
                  <a:srgbClr val="990055"/>
                </a:solidFill>
                <a:highlight>
                  <a:srgbClr val="F5F5F5"/>
                </a:highlight>
              </a:rPr>
              <a:t>width</a:t>
            </a:r>
            <a:r>
              <a:rPr lang="ru" sz="1200">
                <a:solidFill>
                  <a:srgbClr val="999999"/>
                </a:solidFill>
                <a:highlight>
                  <a:srgbClr val="F5F5F5"/>
                </a:highlight>
              </a:rPr>
              <a:t>:</a:t>
            </a:r>
            <a:r>
              <a:rPr lang="ru" sz="1200">
                <a:solidFill>
                  <a:srgbClr val="303030"/>
                </a:solidFill>
                <a:highlight>
                  <a:srgbClr val="F5F5F5"/>
                </a:highlight>
              </a:rPr>
              <a:t> 100px</a:t>
            </a:r>
            <a:r>
              <a:rPr lang="ru" sz="1200">
                <a:solidFill>
                  <a:srgbClr val="999999"/>
                </a:solidFill>
                <a:highlight>
                  <a:srgbClr val="F5F5F5"/>
                </a:highlight>
              </a:rPr>
              <a:t>;</a:t>
            </a:r>
            <a:endParaRPr sz="1200">
              <a:solidFill>
                <a:srgbClr val="303030"/>
              </a:solidFill>
              <a:highlight>
                <a:srgbClr val="F5F5F5"/>
              </a:highlight>
            </a:endParaRPr>
          </a:p>
          <a:p>
            <a:pPr indent="0" lvl="0" marL="0" rtl="0" algn="l">
              <a:spcBef>
                <a:spcPts val="0"/>
              </a:spcBef>
              <a:spcAft>
                <a:spcPts val="0"/>
              </a:spcAft>
              <a:buNone/>
            </a:pPr>
            <a:r>
              <a:rPr lang="ru" sz="1200">
                <a:solidFill>
                  <a:srgbClr val="990055"/>
                </a:solidFill>
                <a:highlight>
                  <a:srgbClr val="D5A6BD"/>
                </a:highlight>
              </a:rPr>
              <a:t>transition-property</a:t>
            </a:r>
            <a:r>
              <a:rPr lang="ru" sz="1200">
                <a:solidFill>
                  <a:srgbClr val="999999"/>
                </a:solidFill>
                <a:highlight>
                  <a:srgbClr val="D5A6BD"/>
                </a:highlight>
              </a:rPr>
              <a:t>:</a:t>
            </a:r>
            <a:r>
              <a:rPr lang="ru" sz="1200">
                <a:solidFill>
                  <a:srgbClr val="303030"/>
                </a:solidFill>
                <a:highlight>
                  <a:srgbClr val="F5F5F5"/>
                </a:highlight>
              </a:rPr>
              <a:t> width</a:t>
            </a:r>
            <a:r>
              <a:rPr lang="ru" sz="1200">
                <a:solidFill>
                  <a:srgbClr val="999999"/>
                </a:solidFill>
                <a:highlight>
                  <a:srgbClr val="F5F5F5"/>
                </a:highlight>
              </a:rPr>
              <a:t>;</a:t>
            </a:r>
            <a:endParaRPr sz="1200">
              <a:solidFill>
                <a:srgbClr val="303030"/>
              </a:solidFill>
              <a:highlight>
                <a:srgbClr val="F5F5F5"/>
              </a:highlight>
            </a:endParaRPr>
          </a:p>
          <a:p>
            <a:pPr indent="0" lvl="0" marL="0" rtl="0" algn="l">
              <a:spcBef>
                <a:spcPts val="0"/>
              </a:spcBef>
              <a:spcAft>
                <a:spcPts val="0"/>
              </a:spcAft>
              <a:buNone/>
            </a:pPr>
            <a:r>
              <a:rPr lang="ru" sz="1200">
                <a:solidFill>
                  <a:srgbClr val="999999"/>
                </a:solidFill>
                <a:highlight>
                  <a:srgbClr val="F5F5F5"/>
                </a:highlight>
              </a:rPr>
              <a:t>}</a:t>
            </a:r>
            <a:endParaRPr sz="1200">
              <a:solidFill>
                <a:srgbClr val="303030"/>
              </a:solidFill>
              <a:highlight>
                <a:srgbClr val="F5F5F5"/>
              </a:highlight>
            </a:endParaRPr>
          </a:p>
          <a:p>
            <a:pPr indent="0" lvl="0" marL="0" rtl="0" algn="l">
              <a:spcBef>
                <a:spcPts val="0"/>
              </a:spcBef>
              <a:spcAft>
                <a:spcPts val="0"/>
              </a:spcAft>
              <a:buNone/>
            </a:pPr>
            <a:r>
              <a:rPr lang="ru" sz="1200">
                <a:solidFill>
                  <a:srgbClr val="669900"/>
                </a:solidFill>
                <a:highlight>
                  <a:srgbClr val="F5F5F5"/>
                </a:highlight>
              </a:rPr>
              <a:t>div:hover</a:t>
            </a:r>
            <a:r>
              <a:rPr lang="ru" sz="1200">
                <a:solidFill>
                  <a:srgbClr val="303030"/>
                </a:solidFill>
                <a:highlight>
                  <a:srgbClr val="F5F5F5"/>
                </a:highlight>
              </a:rPr>
              <a:t> </a:t>
            </a:r>
            <a:r>
              <a:rPr lang="ru" sz="1200">
                <a:solidFill>
                  <a:srgbClr val="999999"/>
                </a:solidFill>
                <a:highlight>
                  <a:srgbClr val="F5F5F5"/>
                </a:highlight>
              </a:rPr>
              <a:t>{</a:t>
            </a:r>
            <a:endParaRPr sz="1200">
              <a:solidFill>
                <a:srgbClr val="303030"/>
              </a:solidFill>
              <a:highlight>
                <a:srgbClr val="F5F5F5"/>
              </a:highlight>
            </a:endParaRPr>
          </a:p>
          <a:p>
            <a:pPr indent="0" lvl="0" marL="0" rtl="0" algn="l">
              <a:spcBef>
                <a:spcPts val="0"/>
              </a:spcBef>
              <a:spcAft>
                <a:spcPts val="0"/>
              </a:spcAft>
              <a:buNone/>
            </a:pPr>
            <a:r>
              <a:rPr lang="ru" sz="1200">
                <a:solidFill>
                  <a:srgbClr val="990055"/>
                </a:solidFill>
                <a:highlight>
                  <a:srgbClr val="F5F5F5"/>
                </a:highlight>
              </a:rPr>
              <a:t>width</a:t>
            </a:r>
            <a:r>
              <a:rPr lang="ru" sz="1200">
                <a:solidFill>
                  <a:srgbClr val="999999"/>
                </a:solidFill>
                <a:highlight>
                  <a:srgbClr val="F5F5F5"/>
                </a:highlight>
              </a:rPr>
              <a:t>:</a:t>
            </a:r>
            <a:r>
              <a:rPr lang="ru" sz="1200">
                <a:solidFill>
                  <a:srgbClr val="303030"/>
                </a:solidFill>
                <a:highlight>
                  <a:srgbClr val="F5F5F5"/>
                </a:highlight>
              </a:rPr>
              <a:t> 300px</a:t>
            </a:r>
            <a:r>
              <a:rPr lang="ru" sz="1200">
                <a:solidFill>
                  <a:srgbClr val="999999"/>
                </a:solidFill>
                <a:highlight>
                  <a:srgbClr val="F5F5F5"/>
                </a:highlight>
              </a:rPr>
              <a:t>;</a:t>
            </a:r>
            <a:endParaRPr sz="1200">
              <a:solidFill>
                <a:srgbClr val="303030"/>
              </a:solidFill>
              <a:highlight>
                <a:srgbClr val="F5F5F5"/>
              </a:highlight>
            </a:endParaRPr>
          </a:p>
          <a:p>
            <a:pPr indent="0" lvl="0" marL="190500" marR="190500" rtl="0" algn="l">
              <a:lnSpc>
                <a:spcPct val="150000"/>
              </a:lnSpc>
              <a:spcBef>
                <a:spcPts val="0"/>
              </a:spcBef>
              <a:spcAft>
                <a:spcPts val="2300"/>
              </a:spcAft>
              <a:buNone/>
            </a:pPr>
            <a:r>
              <a:rPr lang="ru" sz="1200">
                <a:solidFill>
                  <a:srgbClr val="999999"/>
                </a:solidFill>
                <a:highlight>
                  <a:srgbClr val="F5F5F5"/>
                </a:highlight>
              </a:rPr>
              <a:t>}</a:t>
            </a:r>
            <a:endParaRPr sz="1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6"/>
          <p:cNvSpPr txBox="1"/>
          <p:nvPr>
            <p:ph type="title"/>
          </p:nvPr>
        </p:nvSpPr>
        <p:spPr>
          <a:xfrm>
            <a:off x="819150" y="544950"/>
            <a:ext cx="7505700" cy="9546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400"/>
              </a:spcBef>
              <a:spcAft>
                <a:spcPts val="0"/>
              </a:spcAft>
              <a:buNone/>
            </a:pPr>
            <a:r>
              <a:rPr b="1" lang="ru" sz="3155">
                <a:solidFill>
                  <a:srgbClr val="000000"/>
                </a:solidFill>
              </a:rPr>
              <a:t>2.1. </a:t>
            </a:r>
            <a:r>
              <a:rPr b="1" lang="ru" sz="3100">
                <a:solidFill>
                  <a:srgbClr val="303030"/>
                </a:solidFill>
                <a:highlight>
                  <a:srgbClr val="FFFFFF"/>
                </a:highlight>
              </a:rPr>
              <a:t>Название свойства</a:t>
            </a:r>
            <a:r>
              <a:rPr b="1" lang="ru" sz="3100">
                <a:solidFill>
                  <a:srgbClr val="303030"/>
                </a:solidFill>
                <a:highlight>
                  <a:srgbClr val="D5A6BD"/>
                </a:highlight>
              </a:rPr>
              <a:t> transition-property</a:t>
            </a:r>
            <a:endParaRPr b="1" sz="3100">
              <a:solidFill>
                <a:srgbClr val="303030"/>
              </a:solidFill>
              <a:highlight>
                <a:srgbClr val="D5A6BD"/>
              </a:highlight>
            </a:endParaRPr>
          </a:p>
          <a:p>
            <a:pPr indent="0" lvl="0" marL="0" rtl="0" algn="l">
              <a:lnSpc>
                <a:spcPct val="115000"/>
              </a:lnSpc>
              <a:spcBef>
                <a:spcPts val="1400"/>
              </a:spcBef>
              <a:spcAft>
                <a:spcPts val="0"/>
              </a:spcAft>
              <a:buNone/>
            </a:pPr>
            <a:r>
              <a:t/>
            </a:r>
            <a:endParaRPr b="1" sz="3188">
              <a:solidFill>
                <a:srgbClr val="303030"/>
              </a:solidFill>
              <a:latin typeface="Trebuchet MS"/>
              <a:ea typeface="Trebuchet MS"/>
              <a:cs typeface="Trebuchet MS"/>
              <a:sym typeface="Trebuchet MS"/>
            </a:endParaRPr>
          </a:p>
          <a:p>
            <a:pPr indent="0" lvl="0" marL="0" rtl="0" algn="l">
              <a:lnSpc>
                <a:spcPct val="115000"/>
              </a:lnSpc>
              <a:spcBef>
                <a:spcPts val="1400"/>
              </a:spcBef>
              <a:spcAft>
                <a:spcPts val="0"/>
              </a:spcAft>
              <a:buNone/>
            </a:pPr>
            <a:r>
              <a:t/>
            </a:r>
            <a:endParaRPr b="1" sz="3155">
              <a:solidFill>
                <a:srgbClr val="000000"/>
              </a:solidFill>
            </a:endParaRPr>
          </a:p>
          <a:p>
            <a:pPr indent="0" lvl="0" marL="0" rtl="0" algn="l">
              <a:spcBef>
                <a:spcPts val="400"/>
              </a:spcBef>
              <a:spcAft>
                <a:spcPts val="0"/>
              </a:spcAft>
              <a:buNone/>
            </a:pPr>
            <a:r>
              <a:t/>
            </a:r>
            <a:endParaRPr/>
          </a:p>
        </p:txBody>
      </p:sp>
      <p:graphicFrame>
        <p:nvGraphicFramePr>
          <p:cNvPr id="271" name="Google Shape;271;p36"/>
          <p:cNvGraphicFramePr/>
          <p:nvPr/>
        </p:nvGraphicFramePr>
        <p:xfrm>
          <a:off x="1192500" y="1499550"/>
          <a:ext cx="3000000" cy="3000000"/>
        </p:xfrm>
        <a:graphic>
          <a:graphicData uri="http://schemas.openxmlformats.org/drawingml/2006/table">
            <a:tbl>
              <a:tblPr>
                <a:solidFill>
                  <a:srgbClr val="FFFFFF"/>
                </a:solidFill>
                <a:tableStyleId>{69577998-B902-4363-BD42-2B2995AA7EB3}</a:tableStyleId>
              </a:tblPr>
              <a:tblGrid>
                <a:gridCol w="1304925"/>
                <a:gridCol w="5219700"/>
              </a:tblGrid>
              <a:tr h="371475">
                <a:tc gridSpan="2">
                  <a:txBody>
                    <a:bodyPr/>
                    <a:lstStyle/>
                    <a:p>
                      <a:pPr indent="0" lvl="0" marL="0" rtl="0" algn="ctr">
                        <a:lnSpc>
                          <a:spcPct val="115000"/>
                        </a:lnSpc>
                        <a:spcBef>
                          <a:spcPts val="0"/>
                        </a:spcBef>
                        <a:spcAft>
                          <a:spcPts val="0"/>
                        </a:spcAft>
                        <a:buNone/>
                      </a:pPr>
                      <a:r>
                        <a:rPr b="1" lang="ru" sz="1200">
                          <a:highlight>
                            <a:srgbClr val="D5A6BD"/>
                          </a:highlight>
                        </a:rPr>
                        <a:t>transition-property</a:t>
                      </a:r>
                      <a:endParaRPr b="1" sz="1200">
                        <a:highlight>
                          <a:srgbClr val="D5A6BD"/>
                        </a:highlight>
                      </a:endParaRPr>
                    </a:p>
                  </a:txBody>
                  <a:tcPr marT="95250" marB="9525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hMerge="1"/>
              </a:tr>
              <a:tr h="314325">
                <a:tc>
                  <a:txBody>
                    <a:bodyPr/>
                    <a:lstStyle/>
                    <a:p>
                      <a:pPr indent="0" lvl="0" marL="0" rtl="0" algn="ctr">
                        <a:lnSpc>
                          <a:spcPct val="115000"/>
                        </a:lnSpc>
                        <a:spcBef>
                          <a:spcPts val="0"/>
                        </a:spcBef>
                        <a:spcAft>
                          <a:spcPts val="0"/>
                        </a:spcAft>
                        <a:buNone/>
                      </a:pPr>
                      <a:r>
                        <a:rPr b="1" lang="ru" sz="1200">
                          <a:solidFill>
                            <a:srgbClr val="303030"/>
                          </a:solidFill>
                        </a:rPr>
                        <a:t>Значения:</a:t>
                      </a:r>
                      <a:endParaRPr b="1" sz="1200">
                        <a:solidFill>
                          <a:srgbClr val="303030"/>
                        </a:solidFill>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ru" sz="1200"/>
                        <a:t>Описание</a:t>
                      </a:r>
                      <a:endParaRPr b="1"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4800">
                <a:tc>
                  <a:txBody>
                    <a:bodyPr/>
                    <a:lstStyle/>
                    <a:p>
                      <a:pPr indent="0" lvl="0" marL="0" rtl="0" algn="just">
                        <a:lnSpc>
                          <a:spcPct val="115000"/>
                        </a:lnSpc>
                        <a:spcBef>
                          <a:spcPts val="0"/>
                        </a:spcBef>
                        <a:spcAft>
                          <a:spcPts val="0"/>
                        </a:spcAft>
                        <a:buNone/>
                      </a:pPr>
                      <a:r>
                        <a:rPr lang="ru" sz="1200">
                          <a:solidFill>
                            <a:srgbClr val="303030"/>
                          </a:solidFill>
                          <a:highlight>
                            <a:srgbClr val="D5A6BD"/>
                          </a:highlight>
                        </a:rPr>
                        <a:t>none</a:t>
                      </a:r>
                      <a:endParaRPr sz="1200">
                        <a:solidFill>
                          <a:srgbClr val="303030"/>
                        </a:solidFill>
                        <a:highlight>
                          <a:srgbClr val="D5A6BD"/>
                        </a:highlight>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solidFill>
                            <a:srgbClr val="303030"/>
                          </a:solidFill>
                        </a:rPr>
                        <a:t>Отсутствие свойства для перехода.</a:t>
                      </a:r>
                      <a:endParaRPr sz="1200">
                        <a:solidFill>
                          <a:srgbClr val="303030"/>
                        </a:solidFill>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6725">
                <a:tc>
                  <a:txBody>
                    <a:bodyPr/>
                    <a:lstStyle/>
                    <a:p>
                      <a:pPr indent="0" lvl="0" marL="0" rtl="0" algn="just">
                        <a:lnSpc>
                          <a:spcPct val="115000"/>
                        </a:lnSpc>
                        <a:spcBef>
                          <a:spcPts val="0"/>
                        </a:spcBef>
                        <a:spcAft>
                          <a:spcPts val="0"/>
                        </a:spcAft>
                        <a:buNone/>
                      </a:pPr>
                      <a:r>
                        <a:rPr lang="ru" sz="1200">
                          <a:solidFill>
                            <a:srgbClr val="303030"/>
                          </a:solidFill>
                          <a:highlight>
                            <a:srgbClr val="D5A6BD"/>
                          </a:highlight>
                        </a:rPr>
                        <a:t>all</a:t>
                      </a:r>
                      <a:endParaRPr sz="1200">
                        <a:solidFill>
                          <a:srgbClr val="303030"/>
                        </a:solidFill>
                        <a:highlight>
                          <a:srgbClr val="D5A6BD"/>
                        </a:highlight>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solidFill>
                            <a:srgbClr val="303030"/>
                          </a:solidFill>
                        </a:rPr>
                        <a:t>Значение по умолчанию. Применяет эффект перехода ко всем свойствам элемента.</a:t>
                      </a:r>
                      <a:endParaRPr sz="1200">
                        <a:solidFill>
                          <a:srgbClr val="303030"/>
                        </a:solidFill>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6725">
                <a:tc>
                  <a:txBody>
                    <a:bodyPr/>
                    <a:lstStyle/>
                    <a:p>
                      <a:pPr indent="0" lvl="0" marL="0" rtl="0" algn="just">
                        <a:lnSpc>
                          <a:spcPct val="115000"/>
                        </a:lnSpc>
                        <a:spcBef>
                          <a:spcPts val="0"/>
                        </a:spcBef>
                        <a:spcAft>
                          <a:spcPts val="0"/>
                        </a:spcAft>
                        <a:buNone/>
                      </a:pPr>
                      <a:r>
                        <a:rPr lang="ru" sz="1200">
                          <a:solidFill>
                            <a:srgbClr val="303030"/>
                          </a:solidFill>
                          <a:highlight>
                            <a:srgbClr val="D5A6BD"/>
                          </a:highlight>
                        </a:rPr>
                        <a:t>свойство</a:t>
                      </a:r>
                      <a:endParaRPr sz="1200">
                        <a:solidFill>
                          <a:srgbClr val="303030"/>
                        </a:solidFill>
                        <a:highlight>
                          <a:srgbClr val="D5A6BD"/>
                        </a:highlight>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solidFill>
                            <a:srgbClr val="303030"/>
                          </a:solidFill>
                        </a:rPr>
                        <a:t>Определяет список CSS-свойств, перечисленных через запятую, участвующих в переходе.</a:t>
                      </a:r>
                      <a:endParaRPr sz="1200">
                        <a:solidFill>
                          <a:srgbClr val="303030"/>
                        </a:solidFill>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4800">
                <a:tc>
                  <a:txBody>
                    <a:bodyPr/>
                    <a:lstStyle/>
                    <a:p>
                      <a:pPr indent="0" lvl="0" marL="0" rtl="0" algn="just">
                        <a:lnSpc>
                          <a:spcPct val="115000"/>
                        </a:lnSpc>
                        <a:spcBef>
                          <a:spcPts val="0"/>
                        </a:spcBef>
                        <a:spcAft>
                          <a:spcPts val="0"/>
                        </a:spcAft>
                        <a:buNone/>
                      </a:pPr>
                      <a:r>
                        <a:rPr lang="ru" sz="1200">
                          <a:solidFill>
                            <a:srgbClr val="303030"/>
                          </a:solidFill>
                          <a:highlight>
                            <a:srgbClr val="D5A6BD"/>
                          </a:highlight>
                        </a:rPr>
                        <a:t>initial</a:t>
                      </a:r>
                      <a:endParaRPr sz="1200">
                        <a:solidFill>
                          <a:srgbClr val="303030"/>
                        </a:solidFill>
                        <a:highlight>
                          <a:srgbClr val="D5A6BD"/>
                        </a:highlight>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solidFill>
                            <a:srgbClr val="303030"/>
                          </a:solidFill>
                        </a:rPr>
                        <a:t>Устанавливает значение свойства в значение по умолчанию.</a:t>
                      </a:r>
                      <a:endParaRPr sz="1200">
                        <a:solidFill>
                          <a:srgbClr val="303030"/>
                        </a:solidFill>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4325">
                <a:tc>
                  <a:txBody>
                    <a:bodyPr/>
                    <a:lstStyle/>
                    <a:p>
                      <a:pPr indent="0" lvl="0" marL="0" rtl="0" algn="just">
                        <a:lnSpc>
                          <a:spcPct val="115000"/>
                        </a:lnSpc>
                        <a:spcBef>
                          <a:spcPts val="0"/>
                        </a:spcBef>
                        <a:spcAft>
                          <a:spcPts val="0"/>
                        </a:spcAft>
                        <a:buNone/>
                      </a:pPr>
                      <a:r>
                        <a:rPr lang="ru" sz="1200">
                          <a:solidFill>
                            <a:srgbClr val="303030"/>
                          </a:solidFill>
                          <a:highlight>
                            <a:srgbClr val="D5A6BD"/>
                          </a:highlight>
                        </a:rPr>
                        <a:t>inherit</a:t>
                      </a:r>
                      <a:endParaRPr sz="1200">
                        <a:solidFill>
                          <a:srgbClr val="303030"/>
                        </a:solidFill>
                        <a:highlight>
                          <a:srgbClr val="D5A6BD"/>
                        </a:highlight>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solidFill>
                            <a:srgbClr val="303030"/>
                          </a:solidFill>
                        </a:rPr>
                        <a:t>Наследует значение свойства от родительского элемента.</a:t>
                      </a:r>
                      <a:endParaRPr sz="1200">
                        <a:solidFill>
                          <a:srgbClr val="303030"/>
                        </a:solidFill>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7"/>
          <p:cNvSpPr/>
          <p:nvPr/>
        </p:nvSpPr>
        <p:spPr>
          <a:xfrm>
            <a:off x="592725" y="1668675"/>
            <a:ext cx="7763700" cy="1943700"/>
          </a:xfrm>
          <a:prstGeom prst="rect">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7" name="Google Shape;277;p37"/>
          <p:cNvSpPr txBox="1"/>
          <p:nvPr/>
        </p:nvSpPr>
        <p:spPr>
          <a:xfrm>
            <a:off x="4907275" y="697725"/>
            <a:ext cx="3000000" cy="3668100"/>
          </a:xfrm>
          <a:prstGeom prst="rect">
            <a:avLst/>
          </a:prstGeom>
          <a:solidFill>
            <a:schemeClr val="dk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95000"/>
              </a:lnSpc>
              <a:spcBef>
                <a:spcPts val="0"/>
              </a:spcBef>
              <a:spcAft>
                <a:spcPts val="0"/>
              </a:spcAft>
              <a:buNone/>
            </a:pPr>
            <a:r>
              <a:rPr lang="ru">
                <a:solidFill>
                  <a:schemeClr val="dk2"/>
                </a:solidFill>
              </a:rPr>
              <a:t>/* Краткая запись */</a:t>
            </a:r>
            <a:endParaRPr>
              <a:solidFill>
                <a:schemeClr val="dk2"/>
              </a:solidFill>
            </a:endParaRPr>
          </a:p>
          <a:p>
            <a:pPr indent="0" lvl="0" marL="0" rtl="0" algn="l">
              <a:lnSpc>
                <a:spcPct val="95000"/>
              </a:lnSpc>
              <a:spcBef>
                <a:spcPts val="1200"/>
              </a:spcBef>
              <a:spcAft>
                <a:spcPts val="0"/>
              </a:spcAft>
              <a:buNone/>
            </a:pPr>
            <a:r>
              <a:rPr lang="ru">
                <a:solidFill>
                  <a:schemeClr val="dk2"/>
                </a:solidFill>
              </a:rPr>
              <a:t>.element {</a:t>
            </a:r>
            <a:endParaRPr>
              <a:solidFill>
                <a:schemeClr val="dk2"/>
              </a:solidFill>
            </a:endParaRPr>
          </a:p>
          <a:p>
            <a:pPr indent="0" lvl="0" marL="0" rtl="0" algn="l">
              <a:lnSpc>
                <a:spcPct val="95000"/>
              </a:lnSpc>
              <a:spcBef>
                <a:spcPts val="1200"/>
              </a:spcBef>
              <a:spcAft>
                <a:spcPts val="0"/>
              </a:spcAft>
              <a:buNone/>
            </a:pPr>
            <a:r>
              <a:rPr lang="ru">
                <a:solidFill>
                  <a:schemeClr val="dk2"/>
                </a:solidFill>
              </a:rPr>
              <a:t>  </a:t>
            </a:r>
            <a:r>
              <a:rPr lang="ru">
                <a:solidFill>
                  <a:schemeClr val="dk2"/>
                </a:solidFill>
                <a:highlight>
                  <a:srgbClr val="D5A6BD"/>
                </a:highlight>
              </a:rPr>
              <a:t>transition</a:t>
            </a:r>
            <a:r>
              <a:rPr lang="ru">
                <a:solidFill>
                  <a:schemeClr val="dk2"/>
                </a:solidFill>
              </a:rPr>
              <a:t>: transform 0.3s ease-in-out 0.1s;</a:t>
            </a:r>
            <a:endParaRPr>
              <a:solidFill>
                <a:schemeClr val="dk2"/>
              </a:solidFill>
            </a:endParaRPr>
          </a:p>
          <a:p>
            <a:pPr indent="0" lvl="0" marL="0" rtl="0" algn="l">
              <a:lnSpc>
                <a:spcPct val="95000"/>
              </a:lnSpc>
              <a:spcBef>
                <a:spcPts val="1200"/>
              </a:spcBef>
              <a:spcAft>
                <a:spcPts val="0"/>
              </a:spcAft>
              <a:buNone/>
            </a:pPr>
            <a:r>
              <a:rPr lang="ru">
                <a:solidFill>
                  <a:schemeClr val="dk2"/>
                </a:solidFill>
              </a:rPr>
              <a:t>}</a:t>
            </a:r>
            <a:endParaRPr>
              <a:solidFill>
                <a:schemeClr val="dk2"/>
              </a:solidFill>
            </a:endParaRPr>
          </a:p>
          <a:p>
            <a:pPr indent="0" lvl="0" marL="0" rtl="0" algn="l">
              <a:lnSpc>
                <a:spcPct val="95000"/>
              </a:lnSpc>
              <a:spcBef>
                <a:spcPts val="1200"/>
              </a:spcBef>
              <a:spcAft>
                <a:spcPts val="0"/>
              </a:spcAft>
              <a:buNone/>
            </a:pPr>
            <a:r>
              <a:t/>
            </a:r>
            <a:endParaRPr>
              <a:solidFill>
                <a:schemeClr val="dk2"/>
              </a:solidFill>
            </a:endParaRPr>
          </a:p>
          <a:p>
            <a:pPr indent="0" lvl="0" marL="0" rtl="0" algn="l">
              <a:lnSpc>
                <a:spcPct val="95000"/>
              </a:lnSpc>
              <a:spcBef>
                <a:spcPts val="1200"/>
              </a:spcBef>
              <a:spcAft>
                <a:spcPts val="0"/>
              </a:spcAft>
              <a:buNone/>
            </a:pPr>
            <a:r>
              <a:rPr lang="ru">
                <a:solidFill>
                  <a:schemeClr val="dk2"/>
                </a:solidFill>
              </a:rPr>
              <a:t>/* Несколько свойств */</a:t>
            </a:r>
            <a:endParaRPr>
              <a:solidFill>
                <a:schemeClr val="dk2"/>
              </a:solidFill>
            </a:endParaRPr>
          </a:p>
          <a:p>
            <a:pPr indent="0" lvl="0" marL="0" rtl="0" algn="l">
              <a:lnSpc>
                <a:spcPct val="95000"/>
              </a:lnSpc>
              <a:spcBef>
                <a:spcPts val="1200"/>
              </a:spcBef>
              <a:spcAft>
                <a:spcPts val="0"/>
              </a:spcAft>
              <a:buNone/>
            </a:pPr>
            <a:r>
              <a:rPr lang="ru">
                <a:solidFill>
                  <a:schemeClr val="dk2"/>
                </a:solidFill>
              </a:rPr>
              <a:t>.element {</a:t>
            </a:r>
            <a:endParaRPr>
              <a:solidFill>
                <a:schemeClr val="dk2"/>
              </a:solidFill>
            </a:endParaRPr>
          </a:p>
          <a:p>
            <a:pPr indent="0" lvl="0" marL="0" rtl="0" algn="l">
              <a:lnSpc>
                <a:spcPct val="95000"/>
              </a:lnSpc>
              <a:spcBef>
                <a:spcPts val="1200"/>
              </a:spcBef>
              <a:spcAft>
                <a:spcPts val="0"/>
              </a:spcAft>
              <a:buNone/>
            </a:pPr>
            <a:r>
              <a:rPr lang="ru">
                <a:solidFill>
                  <a:schemeClr val="dk2"/>
                </a:solidFill>
              </a:rPr>
              <a:t>  </a:t>
            </a:r>
            <a:r>
              <a:rPr lang="ru">
                <a:solidFill>
                  <a:schemeClr val="dk2"/>
                </a:solidFill>
                <a:highlight>
                  <a:srgbClr val="D5A6BD"/>
                </a:highlight>
              </a:rPr>
              <a:t>transition</a:t>
            </a:r>
            <a:r>
              <a:rPr lang="ru">
                <a:solidFill>
                  <a:schemeClr val="dk2"/>
                </a:solidFill>
              </a:rPr>
              <a:t>: transform 0.3s ease, opacity 0.5s linear;</a:t>
            </a:r>
            <a:endParaRPr>
              <a:solidFill>
                <a:schemeClr val="dk2"/>
              </a:solidFill>
            </a:endParaRPr>
          </a:p>
          <a:p>
            <a:pPr indent="0" lvl="0" marL="0" rtl="0" algn="l">
              <a:lnSpc>
                <a:spcPct val="95000"/>
              </a:lnSpc>
              <a:spcBef>
                <a:spcPts val="1200"/>
              </a:spcBef>
              <a:spcAft>
                <a:spcPts val="1200"/>
              </a:spcAft>
              <a:buNone/>
            </a:pPr>
            <a:r>
              <a:rPr lang="ru">
                <a:solidFill>
                  <a:schemeClr val="dk2"/>
                </a:solidFill>
              </a:rPr>
              <a:t>}</a:t>
            </a:r>
            <a:endParaRPr/>
          </a:p>
        </p:txBody>
      </p:sp>
      <p:sp>
        <p:nvSpPr>
          <p:cNvPr id="278" name="Google Shape;278;p37"/>
          <p:cNvSpPr txBox="1"/>
          <p:nvPr>
            <p:ph idx="1" type="body"/>
          </p:nvPr>
        </p:nvSpPr>
        <p:spPr>
          <a:xfrm>
            <a:off x="797675" y="1245600"/>
            <a:ext cx="3000000" cy="3006600"/>
          </a:xfrm>
          <a:prstGeom prst="rect">
            <a:avLst/>
          </a:prstGeom>
          <a:solidFill>
            <a:schemeClr val="dk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275"/>
              <a:buNone/>
            </a:pPr>
            <a:r>
              <a:rPr lang="ru" sz="1425">
                <a:latin typeface="Arial"/>
                <a:ea typeface="Arial"/>
                <a:cs typeface="Arial"/>
                <a:sym typeface="Arial"/>
              </a:rPr>
              <a:t>/* Полная запись */</a:t>
            </a:r>
            <a:endParaRPr sz="1425">
              <a:latin typeface="Arial"/>
              <a:ea typeface="Arial"/>
              <a:cs typeface="Arial"/>
              <a:sym typeface="Arial"/>
            </a:endParaRPr>
          </a:p>
          <a:p>
            <a:pPr indent="0" lvl="0" marL="0" rtl="0" algn="l">
              <a:lnSpc>
                <a:spcPct val="95000"/>
              </a:lnSpc>
              <a:spcBef>
                <a:spcPts val="1200"/>
              </a:spcBef>
              <a:spcAft>
                <a:spcPts val="0"/>
              </a:spcAft>
              <a:buSzPts val="275"/>
              <a:buNone/>
            </a:pPr>
            <a:r>
              <a:rPr lang="ru" sz="1425">
                <a:latin typeface="Arial"/>
                <a:ea typeface="Arial"/>
                <a:cs typeface="Arial"/>
                <a:sym typeface="Arial"/>
              </a:rPr>
              <a:t>.element {</a:t>
            </a:r>
            <a:endParaRPr sz="1425">
              <a:latin typeface="Arial"/>
              <a:ea typeface="Arial"/>
              <a:cs typeface="Arial"/>
              <a:sym typeface="Arial"/>
            </a:endParaRPr>
          </a:p>
          <a:p>
            <a:pPr indent="0" lvl="0" marL="0" rtl="0" algn="l">
              <a:lnSpc>
                <a:spcPct val="95000"/>
              </a:lnSpc>
              <a:spcBef>
                <a:spcPts val="1200"/>
              </a:spcBef>
              <a:spcAft>
                <a:spcPts val="0"/>
              </a:spcAft>
              <a:buSzPts val="275"/>
              <a:buNone/>
            </a:pPr>
            <a:r>
              <a:rPr lang="ru" sz="1425">
                <a:latin typeface="Arial"/>
                <a:ea typeface="Arial"/>
                <a:cs typeface="Arial"/>
                <a:sym typeface="Arial"/>
              </a:rPr>
              <a:t>  </a:t>
            </a:r>
            <a:r>
              <a:rPr lang="ru" sz="1425">
                <a:highlight>
                  <a:srgbClr val="D5A6BD"/>
                </a:highlight>
                <a:latin typeface="Arial"/>
                <a:ea typeface="Arial"/>
                <a:cs typeface="Arial"/>
                <a:sym typeface="Arial"/>
              </a:rPr>
              <a:t>transition</a:t>
            </a:r>
            <a:r>
              <a:rPr lang="ru" sz="1425">
                <a:latin typeface="Arial"/>
                <a:ea typeface="Arial"/>
                <a:cs typeface="Arial"/>
                <a:sym typeface="Arial"/>
              </a:rPr>
              <a:t>-property: transform;</a:t>
            </a:r>
            <a:endParaRPr sz="1425">
              <a:latin typeface="Arial"/>
              <a:ea typeface="Arial"/>
              <a:cs typeface="Arial"/>
              <a:sym typeface="Arial"/>
            </a:endParaRPr>
          </a:p>
          <a:p>
            <a:pPr indent="0" lvl="0" marL="0" rtl="0" algn="l">
              <a:lnSpc>
                <a:spcPct val="95000"/>
              </a:lnSpc>
              <a:spcBef>
                <a:spcPts val="1200"/>
              </a:spcBef>
              <a:spcAft>
                <a:spcPts val="0"/>
              </a:spcAft>
              <a:buSzPts val="275"/>
              <a:buNone/>
            </a:pPr>
            <a:r>
              <a:rPr lang="ru" sz="1425">
                <a:latin typeface="Arial"/>
                <a:ea typeface="Arial"/>
                <a:cs typeface="Arial"/>
                <a:sym typeface="Arial"/>
              </a:rPr>
              <a:t>  </a:t>
            </a:r>
            <a:r>
              <a:rPr lang="ru" sz="1425">
                <a:highlight>
                  <a:srgbClr val="D5A6BD"/>
                </a:highlight>
                <a:latin typeface="Arial"/>
                <a:ea typeface="Arial"/>
                <a:cs typeface="Arial"/>
                <a:sym typeface="Arial"/>
              </a:rPr>
              <a:t>transition</a:t>
            </a:r>
            <a:r>
              <a:rPr lang="ru" sz="1425">
                <a:latin typeface="Arial"/>
                <a:ea typeface="Arial"/>
                <a:cs typeface="Arial"/>
                <a:sym typeface="Arial"/>
              </a:rPr>
              <a:t>-duration: 0.3s;</a:t>
            </a:r>
            <a:endParaRPr sz="1425">
              <a:latin typeface="Arial"/>
              <a:ea typeface="Arial"/>
              <a:cs typeface="Arial"/>
              <a:sym typeface="Arial"/>
            </a:endParaRPr>
          </a:p>
          <a:p>
            <a:pPr indent="0" lvl="0" marL="0" rtl="0" algn="l">
              <a:lnSpc>
                <a:spcPct val="95000"/>
              </a:lnSpc>
              <a:spcBef>
                <a:spcPts val="1200"/>
              </a:spcBef>
              <a:spcAft>
                <a:spcPts val="0"/>
              </a:spcAft>
              <a:buSzPts val="275"/>
              <a:buNone/>
            </a:pPr>
            <a:r>
              <a:rPr lang="ru" sz="1425">
                <a:latin typeface="Arial"/>
                <a:ea typeface="Arial"/>
                <a:cs typeface="Arial"/>
                <a:sym typeface="Arial"/>
              </a:rPr>
              <a:t>  </a:t>
            </a:r>
            <a:r>
              <a:rPr lang="ru" sz="1425">
                <a:highlight>
                  <a:srgbClr val="D5A6BD"/>
                </a:highlight>
                <a:latin typeface="Arial"/>
                <a:ea typeface="Arial"/>
                <a:cs typeface="Arial"/>
                <a:sym typeface="Arial"/>
              </a:rPr>
              <a:t>transition</a:t>
            </a:r>
            <a:r>
              <a:rPr lang="ru" sz="1425">
                <a:latin typeface="Arial"/>
                <a:ea typeface="Arial"/>
                <a:cs typeface="Arial"/>
                <a:sym typeface="Arial"/>
              </a:rPr>
              <a:t>-timing-function: ease-in-out;</a:t>
            </a:r>
            <a:endParaRPr sz="1425">
              <a:latin typeface="Arial"/>
              <a:ea typeface="Arial"/>
              <a:cs typeface="Arial"/>
              <a:sym typeface="Arial"/>
            </a:endParaRPr>
          </a:p>
          <a:p>
            <a:pPr indent="0" lvl="0" marL="0" rtl="0" algn="l">
              <a:lnSpc>
                <a:spcPct val="95000"/>
              </a:lnSpc>
              <a:spcBef>
                <a:spcPts val="1200"/>
              </a:spcBef>
              <a:spcAft>
                <a:spcPts val="0"/>
              </a:spcAft>
              <a:buSzPts val="275"/>
              <a:buNone/>
            </a:pPr>
            <a:r>
              <a:rPr lang="ru" sz="1425">
                <a:latin typeface="Arial"/>
                <a:ea typeface="Arial"/>
                <a:cs typeface="Arial"/>
                <a:sym typeface="Arial"/>
              </a:rPr>
              <a:t>  </a:t>
            </a:r>
            <a:r>
              <a:rPr lang="ru" sz="1425">
                <a:highlight>
                  <a:srgbClr val="D5A6BD"/>
                </a:highlight>
                <a:latin typeface="Arial"/>
                <a:ea typeface="Arial"/>
                <a:cs typeface="Arial"/>
                <a:sym typeface="Arial"/>
              </a:rPr>
              <a:t>transition</a:t>
            </a:r>
            <a:r>
              <a:rPr lang="ru" sz="1425">
                <a:latin typeface="Arial"/>
                <a:ea typeface="Arial"/>
                <a:cs typeface="Arial"/>
                <a:sym typeface="Arial"/>
              </a:rPr>
              <a:t>-delay: 0.1s;</a:t>
            </a:r>
            <a:endParaRPr sz="1425">
              <a:latin typeface="Arial"/>
              <a:ea typeface="Arial"/>
              <a:cs typeface="Arial"/>
              <a:sym typeface="Arial"/>
            </a:endParaRPr>
          </a:p>
          <a:p>
            <a:pPr indent="0" lvl="0" marL="0" rtl="0" algn="l">
              <a:lnSpc>
                <a:spcPct val="95000"/>
              </a:lnSpc>
              <a:spcBef>
                <a:spcPts val="1200"/>
              </a:spcBef>
              <a:spcAft>
                <a:spcPts val="1200"/>
              </a:spcAft>
              <a:buSzPts val="275"/>
              <a:buNone/>
            </a:pPr>
            <a:r>
              <a:rPr lang="ru" sz="1425">
                <a:latin typeface="Arial"/>
                <a:ea typeface="Arial"/>
                <a:cs typeface="Arial"/>
                <a:sym typeface="Arial"/>
              </a:rPr>
              <a:t>}</a:t>
            </a:r>
            <a:endParaRPr sz="1425">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38"/>
          <p:cNvSpPr txBox="1"/>
          <p:nvPr>
            <p:ph type="title"/>
          </p:nvPr>
        </p:nvSpPr>
        <p:spPr>
          <a:xfrm>
            <a:off x="819150" y="544950"/>
            <a:ext cx="7505700" cy="9546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400"/>
              </a:spcBef>
              <a:spcAft>
                <a:spcPts val="0"/>
              </a:spcAft>
              <a:buNone/>
            </a:pPr>
            <a:r>
              <a:rPr b="1" lang="ru" sz="3155">
                <a:solidFill>
                  <a:srgbClr val="000000"/>
                </a:solidFill>
              </a:rPr>
              <a:t>2.2. </a:t>
            </a:r>
            <a:r>
              <a:rPr b="1" lang="ru" sz="3100">
                <a:solidFill>
                  <a:srgbClr val="303030"/>
                </a:solidFill>
                <a:highlight>
                  <a:srgbClr val="FFFFFF"/>
                </a:highlight>
              </a:rPr>
              <a:t>Продолжительность перехода </a:t>
            </a:r>
            <a:r>
              <a:rPr b="1" lang="ru" sz="3100">
                <a:solidFill>
                  <a:srgbClr val="303030"/>
                </a:solidFill>
                <a:highlight>
                  <a:srgbClr val="D5A6BD"/>
                </a:highlight>
              </a:rPr>
              <a:t>transition-duration</a:t>
            </a:r>
            <a:endParaRPr b="1" sz="3100">
              <a:solidFill>
                <a:srgbClr val="303030"/>
              </a:solidFill>
              <a:highlight>
                <a:srgbClr val="D5A6BD"/>
              </a:highlight>
            </a:endParaRPr>
          </a:p>
          <a:p>
            <a:pPr indent="0" lvl="0" marL="0" rtl="0" algn="l">
              <a:lnSpc>
                <a:spcPct val="115000"/>
              </a:lnSpc>
              <a:spcBef>
                <a:spcPts val="1400"/>
              </a:spcBef>
              <a:spcAft>
                <a:spcPts val="0"/>
              </a:spcAft>
              <a:buNone/>
            </a:pPr>
            <a:r>
              <a:t/>
            </a:r>
            <a:endParaRPr b="1" sz="3100">
              <a:solidFill>
                <a:srgbClr val="303030"/>
              </a:solidFill>
              <a:highlight>
                <a:srgbClr val="FFFFFF"/>
              </a:highlight>
            </a:endParaRPr>
          </a:p>
          <a:p>
            <a:pPr indent="0" lvl="0" marL="0" rtl="0" algn="l">
              <a:lnSpc>
                <a:spcPct val="115000"/>
              </a:lnSpc>
              <a:spcBef>
                <a:spcPts val="1400"/>
              </a:spcBef>
              <a:spcAft>
                <a:spcPts val="0"/>
              </a:spcAft>
              <a:buNone/>
            </a:pPr>
            <a:r>
              <a:t/>
            </a:r>
            <a:endParaRPr b="1" sz="3188">
              <a:solidFill>
                <a:srgbClr val="303030"/>
              </a:solidFill>
              <a:latin typeface="Trebuchet MS"/>
              <a:ea typeface="Trebuchet MS"/>
              <a:cs typeface="Trebuchet MS"/>
              <a:sym typeface="Trebuchet MS"/>
            </a:endParaRPr>
          </a:p>
          <a:p>
            <a:pPr indent="0" lvl="0" marL="0" rtl="0" algn="l">
              <a:lnSpc>
                <a:spcPct val="115000"/>
              </a:lnSpc>
              <a:spcBef>
                <a:spcPts val="1400"/>
              </a:spcBef>
              <a:spcAft>
                <a:spcPts val="0"/>
              </a:spcAft>
              <a:buNone/>
            </a:pPr>
            <a:r>
              <a:t/>
            </a:r>
            <a:endParaRPr b="1" sz="3155">
              <a:solidFill>
                <a:srgbClr val="000000"/>
              </a:solidFill>
            </a:endParaRPr>
          </a:p>
          <a:p>
            <a:pPr indent="0" lvl="0" marL="0" rtl="0" algn="l">
              <a:spcBef>
                <a:spcPts val="400"/>
              </a:spcBef>
              <a:spcAft>
                <a:spcPts val="0"/>
              </a:spcAft>
              <a:buNone/>
            </a:pPr>
            <a:r>
              <a:t/>
            </a:r>
            <a:endParaRPr/>
          </a:p>
        </p:txBody>
      </p:sp>
      <p:sp>
        <p:nvSpPr>
          <p:cNvPr id="284" name="Google Shape;284;p38"/>
          <p:cNvSpPr txBox="1"/>
          <p:nvPr>
            <p:ph idx="1" type="body"/>
          </p:nvPr>
        </p:nvSpPr>
        <p:spPr>
          <a:xfrm>
            <a:off x="633925" y="1671175"/>
            <a:ext cx="8070000" cy="1923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500">
                <a:solidFill>
                  <a:srgbClr val="303030"/>
                </a:solidFill>
                <a:latin typeface="Arial"/>
                <a:ea typeface="Arial"/>
                <a:cs typeface="Arial"/>
                <a:sym typeface="Arial"/>
              </a:rPr>
              <a:t>Задает</a:t>
            </a:r>
            <a:r>
              <a:rPr lang="ru" sz="1500">
                <a:solidFill>
                  <a:srgbClr val="303030"/>
                </a:solidFill>
                <a:latin typeface="Arial"/>
                <a:ea typeface="Arial"/>
                <a:cs typeface="Arial"/>
                <a:sym typeface="Arial"/>
              </a:rPr>
              <a:t> промежуток времени, в течение которого должен осуществляться переход. Если разные свойства имеют разные значения для перехода, они указываются через запятую. Если продолжительность перехода не указана, то анимация при смене значений свойств происходить не будет. Свойство не наследуется.</a:t>
            </a:r>
            <a:endParaRPr sz="1500">
              <a:solidFill>
                <a:srgbClr val="303030"/>
              </a:solidFill>
              <a:latin typeface="Arial"/>
              <a:ea typeface="Arial"/>
              <a:cs typeface="Arial"/>
              <a:sym typeface="Arial"/>
            </a:endParaRPr>
          </a:p>
          <a:p>
            <a:pPr indent="0" lvl="0" marL="0" rtl="0" algn="l">
              <a:spcBef>
                <a:spcPts val="1100"/>
              </a:spcBef>
              <a:spcAft>
                <a:spcPts val="0"/>
              </a:spcAft>
              <a:buNone/>
            </a:pPr>
            <a:r>
              <a:t/>
            </a:r>
            <a:endParaRPr sz="1500">
              <a:solidFill>
                <a:srgbClr val="303030"/>
              </a:solidFill>
              <a:highlight>
                <a:srgbClr val="FFFFFF"/>
              </a:highlight>
              <a:latin typeface="Arial"/>
              <a:ea typeface="Arial"/>
              <a:cs typeface="Arial"/>
              <a:sym typeface="Arial"/>
            </a:endParaRPr>
          </a:p>
          <a:p>
            <a:pPr indent="0" lvl="0" marL="0" rtl="0" algn="just">
              <a:lnSpc>
                <a:spcPct val="95000"/>
              </a:lnSpc>
              <a:spcBef>
                <a:spcPts val="1100"/>
              </a:spcBef>
              <a:spcAft>
                <a:spcPts val="1200"/>
              </a:spcAft>
              <a:buSzPts val="523"/>
              <a:buNone/>
            </a:pPr>
            <a:r>
              <a:t/>
            </a:r>
            <a:endParaRPr sz="617"/>
          </a:p>
        </p:txBody>
      </p:sp>
      <p:sp>
        <p:nvSpPr>
          <p:cNvPr id="285" name="Google Shape;285;p38"/>
          <p:cNvSpPr txBox="1"/>
          <p:nvPr/>
        </p:nvSpPr>
        <p:spPr>
          <a:xfrm>
            <a:off x="2668350" y="3124450"/>
            <a:ext cx="3218100" cy="1328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190500" marR="190500" rtl="0" algn="l">
              <a:lnSpc>
                <a:spcPct val="100000"/>
              </a:lnSpc>
              <a:spcBef>
                <a:spcPts val="0"/>
              </a:spcBef>
              <a:spcAft>
                <a:spcPts val="0"/>
              </a:spcAft>
              <a:buNone/>
            </a:pPr>
            <a:r>
              <a:rPr lang="ru" sz="1200">
                <a:solidFill>
                  <a:srgbClr val="669900"/>
                </a:solidFill>
                <a:highlight>
                  <a:srgbClr val="F5F5F5"/>
                </a:highlight>
              </a:rPr>
              <a:t>div</a:t>
            </a:r>
            <a:r>
              <a:rPr lang="ru" sz="1200">
                <a:solidFill>
                  <a:srgbClr val="303030"/>
                </a:solidFill>
                <a:highlight>
                  <a:srgbClr val="F5F5F5"/>
                </a:highlight>
              </a:rPr>
              <a:t> </a:t>
            </a:r>
            <a:r>
              <a:rPr lang="ru" sz="1200">
                <a:solidFill>
                  <a:srgbClr val="999999"/>
                </a:solidFill>
                <a:highlight>
                  <a:srgbClr val="F5F5F5"/>
                </a:highlight>
              </a:rPr>
              <a:t>{</a:t>
            </a:r>
            <a:endParaRPr sz="1200">
              <a:solidFill>
                <a:srgbClr val="303030"/>
              </a:solidFill>
              <a:highlight>
                <a:srgbClr val="F5F5F5"/>
              </a:highlight>
            </a:endParaRPr>
          </a:p>
          <a:p>
            <a:pPr indent="0" lvl="0" marL="190500" marR="190500" rtl="0" algn="l">
              <a:lnSpc>
                <a:spcPct val="100000"/>
              </a:lnSpc>
              <a:spcBef>
                <a:spcPts val="2300"/>
              </a:spcBef>
              <a:spcAft>
                <a:spcPts val="0"/>
              </a:spcAft>
              <a:buNone/>
            </a:pPr>
            <a:r>
              <a:rPr lang="ru" sz="1200">
                <a:solidFill>
                  <a:srgbClr val="990055"/>
                </a:solidFill>
                <a:highlight>
                  <a:srgbClr val="D5A6BD"/>
                </a:highlight>
              </a:rPr>
              <a:t>transition-duration</a:t>
            </a:r>
            <a:r>
              <a:rPr lang="ru" sz="1200">
                <a:solidFill>
                  <a:srgbClr val="999999"/>
                </a:solidFill>
                <a:highlight>
                  <a:srgbClr val="F5F5F5"/>
                </a:highlight>
              </a:rPr>
              <a:t>:</a:t>
            </a:r>
            <a:r>
              <a:rPr lang="ru" sz="1200">
                <a:solidFill>
                  <a:srgbClr val="303030"/>
                </a:solidFill>
                <a:highlight>
                  <a:srgbClr val="F5F5F5"/>
                </a:highlight>
              </a:rPr>
              <a:t> .2s</a:t>
            </a:r>
            <a:r>
              <a:rPr lang="ru" sz="1200">
                <a:solidFill>
                  <a:srgbClr val="999999"/>
                </a:solidFill>
                <a:highlight>
                  <a:srgbClr val="F5F5F5"/>
                </a:highlight>
              </a:rPr>
              <a:t>;</a:t>
            </a:r>
            <a:endParaRPr sz="1200">
              <a:solidFill>
                <a:srgbClr val="303030"/>
              </a:solidFill>
              <a:highlight>
                <a:srgbClr val="F5F5F5"/>
              </a:highlight>
            </a:endParaRPr>
          </a:p>
          <a:p>
            <a:pPr indent="0" lvl="0" marL="190500" marR="190500" rtl="0" algn="l">
              <a:lnSpc>
                <a:spcPct val="100000"/>
              </a:lnSpc>
              <a:spcBef>
                <a:spcPts val="2300"/>
              </a:spcBef>
              <a:spcAft>
                <a:spcPts val="2300"/>
              </a:spcAft>
              <a:buNone/>
            </a:pPr>
            <a:r>
              <a:rPr lang="ru" sz="1200">
                <a:solidFill>
                  <a:srgbClr val="999999"/>
                </a:solidFill>
                <a:highlight>
                  <a:srgbClr val="F5F5F5"/>
                </a:highlight>
              </a:rPr>
              <a:t>}</a:t>
            </a:r>
            <a:endParaRPr sz="1200">
              <a:solidFill>
                <a:srgbClr val="669900"/>
              </a:solidFill>
              <a:highlight>
                <a:srgbClr val="F5F5F5"/>
              </a:high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9"/>
          <p:cNvSpPr txBox="1"/>
          <p:nvPr>
            <p:ph type="title"/>
          </p:nvPr>
        </p:nvSpPr>
        <p:spPr>
          <a:xfrm>
            <a:off x="819150" y="544950"/>
            <a:ext cx="7505700" cy="9546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400"/>
              </a:spcBef>
              <a:spcAft>
                <a:spcPts val="0"/>
              </a:spcAft>
              <a:buNone/>
            </a:pPr>
            <a:r>
              <a:rPr b="1" lang="ru" sz="3155">
                <a:solidFill>
                  <a:srgbClr val="000000"/>
                </a:solidFill>
              </a:rPr>
              <a:t>2.2. </a:t>
            </a:r>
            <a:r>
              <a:rPr b="1" lang="ru" sz="3100">
                <a:solidFill>
                  <a:srgbClr val="303030"/>
                </a:solidFill>
                <a:highlight>
                  <a:srgbClr val="FFFFFF"/>
                </a:highlight>
              </a:rPr>
              <a:t>Продолжительность перехода </a:t>
            </a:r>
            <a:r>
              <a:rPr b="1" lang="ru" sz="3100">
                <a:solidFill>
                  <a:srgbClr val="303030"/>
                </a:solidFill>
                <a:highlight>
                  <a:srgbClr val="D5A6BD"/>
                </a:highlight>
              </a:rPr>
              <a:t>transition-duration</a:t>
            </a:r>
            <a:endParaRPr b="1" sz="3100">
              <a:solidFill>
                <a:srgbClr val="303030"/>
              </a:solidFill>
              <a:highlight>
                <a:srgbClr val="D5A6BD"/>
              </a:highlight>
            </a:endParaRPr>
          </a:p>
          <a:p>
            <a:pPr indent="0" lvl="0" marL="0" rtl="0" algn="l">
              <a:lnSpc>
                <a:spcPct val="115000"/>
              </a:lnSpc>
              <a:spcBef>
                <a:spcPts val="1400"/>
              </a:spcBef>
              <a:spcAft>
                <a:spcPts val="0"/>
              </a:spcAft>
              <a:buNone/>
            </a:pPr>
            <a:r>
              <a:t/>
            </a:r>
            <a:endParaRPr b="1" sz="3100">
              <a:solidFill>
                <a:srgbClr val="303030"/>
              </a:solidFill>
              <a:highlight>
                <a:srgbClr val="FFFFFF"/>
              </a:highlight>
            </a:endParaRPr>
          </a:p>
          <a:p>
            <a:pPr indent="0" lvl="0" marL="0" rtl="0" algn="l">
              <a:lnSpc>
                <a:spcPct val="115000"/>
              </a:lnSpc>
              <a:spcBef>
                <a:spcPts val="1400"/>
              </a:spcBef>
              <a:spcAft>
                <a:spcPts val="0"/>
              </a:spcAft>
              <a:buNone/>
            </a:pPr>
            <a:r>
              <a:t/>
            </a:r>
            <a:endParaRPr b="1" sz="3188">
              <a:solidFill>
                <a:srgbClr val="303030"/>
              </a:solidFill>
              <a:latin typeface="Trebuchet MS"/>
              <a:ea typeface="Trebuchet MS"/>
              <a:cs typeface="Trebuchet MS"/>
              <a:sym typeface="Trebuchet MS"/>
            </a:endParaRPr>
          </a:p>
          <a:p>
            <a:pPr indent="0" lvl="0" marL="0" rtl="0" algn="l">
              <a:lnSpc>
                <a:spcPct val="115000"/>
              </a:lnSpc>
              <a:spcBef>
                <a:spcPts val="1400"/>
              </a:spcBef>
              <a:spcAft>
                <a:spcPts val="0"/>
              </a:spcAft>
              <a:buNone/>
            </a:pPr>
            <a:r>
              <a:t/>
            </a:r>
            <a:endParaRPr b="1" sz="3155">
              <a:solidFill>
                <a:srgbClr val="000000"/>
              </a:solidFill>
            </a:endParaRPr>
          </a:p>
          <a:p>
            <a:pPr indent="0" lvl="0" marL="0" rtl="0" algn="l">
              <a:spcBef>
                <a:spcPts val="400"/>
              </a:spcBef>
              <a:spcAft>
                <a:spcPts val="0"/>
              </a:spcAft>
              <a:buNone/>
            </a:pPr>
            <a:r>
              <a:t/>
            </a:r>
            <a:endParaRPr/>
          </a:p>
        </p:txBody>
      </p:sp>
      <p:graphicFrame>
        <p:nvGraphicFramePr>
          <p:cNvPr id="291" name="Google Shape;291;p39"/>
          <p:cNvGraphicFramePr/>
          <p:nvPr/>
        </p:nvGraphicFramePr>
        <p:xfrm>
          <a:off x="1249500" y="2047375"/>
          <a:ext cx="3000000" cy="3000000"/>
        </p:xfrm>
        <a:graphic>
          <a:graphicData uri="http://schemas.openxmlformats.org/drawingml/2006/table">
            <a:tbl>
              <a:tblPr>
                <a:solidFill>
                  <a:srgbClr val="FFFFFF"/>
                </a:solidFill>
                <a:tableStyleId>{69577998-B902-4363-BD42-2B2995AA7EB3}</a:tableStyleId>
              </a:tblPr>
              <a:tblGrid>
                <a:gridCol w="1304925"/>
                <a:gridCol w="5219700"/>
              </a:tblGrid>
              <a:tr h="371475">
                <a:tc gridSpan="2">
                  <a:txBody>
                    <a:bodyPr/>
                    <a:lstStyle/>
                    <a:p>
                      <a:pPr indent="0" lvl="0" marL="0" rtl="0" algn="ctr">
                        <a:lnSpc>
                          <a:spcPct val="115000"/>
                        </a:lnSpc>
                        <a:spcBef>
                          <a:spcPts val="0"/>
                        </a:spcBef>
                        <a:spcAft>
                          <a:spcPts val="0"/>
                        </a:spcAft>
                        <a:buNone/>
                      </a:pPr>
                      <a:r>
                        <a:rPr b="1" lang="ru" sz="1200">
                          <a:highlight>
                            <a:srgbClr val="D5A6BD"/>
                          </a:highlight>
                        </a:rPr>
                        <a:t>transition-duration</a:t>
                      </a:r>
                      <a:endParaRPr b="1" sz="1200">
                        <a:highlight>
                          <a:srgbClr val="D5A6BD"/>
                        </a:highlight>
                      </a:endParaRPr>
                    </a:p>
                  </a:txBody>
                  <a:tcPr marT="95250" marB="9525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hMerge="1"/>
              </a:tr>
              <a:tr h="314325">
                <a:tc>
                  <a:txBody>
                    <a:bodyPr/>
                    <a:lstStyle/>
                    <a:p>
                      <a:pPr indent="0" lvl="0" marL="0" rtl="0" algn="ctr">
                        <a:lnSpc>
                          <a:spcPct val="115000"/>
                        </a:lnSpc>
                        <a:spcBef>
                          <a:spcPts val="0"/>
                        </a:spcBef>
                        <a:spcAft>
                          <a:spcPts val="0"/>
                        </a:spcAft>
                        <a:buNone/>
                      </a:pPr>
                      <a:r>
                        <a:rPr b="1" lang="ru" sz="1200"/>
                        <a:t>Значения:</a:t>
                      </a:r>
                      <a:endParaRPr b="1"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ru" sz="1200"/>
                        <a:t>Описание</a:t>
                      </a:r>
                      <a:endParaRPr b="1"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6725">
                <a:tc>
                  <a:txBody>
                    <a:bodyPr/>
                    <a:lstStyle/>
                    <a:p>
                      <a:pPr indent="0" lvl="0" marL="0" rtl="0" algn="just">
                        <a:lnSpc>
                          <a:spcPct val="115000"/>
                        </a:lnSpc>
                        <a:spcBef>
                          <a:spcPts val="0"/>
                        </a:spcBef>
                        <a:spcAft>
                          <a:spcPts val="0"/>
                        </a:spcAft>
                        <a:buNone/>
                      </a:pPr>
                      <a:r>
                        <a:rPr lang="ru" sz="1100"/>
                        <a:t>время</a:t>
                      </a:r>
                      <a:endParaRPr sz="11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100"/>
                        <a:t>Время перехода указывается в секундах или миллисекундах, например, </a:t>
                      </a:r>
                      <a:r>
                        <a:rPr lang="ru" sz="1000"/>
                        <a:t>2s</a:t>
                      </a:r>
                      <a:r>
                        <a:rPr lang="ru" sz="1100"/>
                        <a:t> или </a:t>
                      </a:r>
                      <a:r>
                        <a:rPr lang="ru" sz="1000"/>
                        <a:t>5ms</a:t>
                      </a:r>
                      <a:r>
                        <a:rPr lang="ru" sz="1100"/>
                        <a:t>.</a:t>
                      </a:r>
                      <a:endParaRPr sz="11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4800">
                <a:tc>
                  <a:txBody>
                    <a:bodyPr/>
                    <a:lstStyle/>
                    <a:p>
                      <a:pPr indent="0" lvl="0" marL="0" rtl="0" algn="just">
                        <a:lnSpc>
                          <a:spcPct val="115000"/>
                        </a:lnSpc>
                        <a:spcBef>
                          <a:spcPts val="0"/>
                        </a:spcBef>
                        <a:spcAft>
                          <a:spcPts val="0"/>
                        </a:spcAft>
                        <a:buNone/>
                      </a:pPr>
                      <a:r>
                        <a:rPr lang="ru" sz="1000"/>
                        <a:t>initial</a:t>
                      </a:r>
                      <a:endParaRPr sz="10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100"/>
                        <a:t>Устанавливает значение свойства в значение по умолчанию.</a:t>
                      </a:r>
                      <a:endParaRPr sz="11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4325">
                <a:tc>
                  <a:txBody>
                    <a:bodyPr/>
                    <a:lstStyle/>
                    <a:p>
                      <a:pPr indent="0" lvl="0" marL="0" rtl="0" algn="just">
                        <a:lnSpc>
                          <a:spcPct val="115000"/>
                        </a:lnSpc>
                        <a:spcBef>
                          <a:spcPts val="0"/>
                        </a:spcBef>
                        <a:spcAft>
                          <a:spcPts val="0"/>
                        </a:spcAft>
                        <a:buNone/>
                      </a:pPr>
                      <a:r>
                        <a:rPr lang="ru" sz="1000"/>
                        <a:t>inherit</a:t>
                      </a:r>
                      <a:endParaRPr sz="10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100"/>
                        <a:t>Наследует значение свойства от родительского элемента.</a:t>
                      </a:r>
                      <a:endParaRPr sz="11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0"/>
          <p:cNvSpPr txBox="1"/>
          <p:nvPr>
            <p:ph type="title"/>
          </p:nvPr>
        </p:nvSpPr>
        <p:spPr>
          <a:xfrm>
            <a:off x="819150" y="544950"/>
            <a:ext cx="7505700" cy="9546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400"/>
              </a:spcBef>
              <a:spcAft>
                <a:spcPts val="0"/>
              </a:spcAft>
              <a:buNone/>
            </a:pPr>
            <a:r>
              <a:rPr b="1" lang="ru" sz="3155">
                <a:solidFill>
                  <a:srgbClr val="000000"/>
                </a:solidFill>
              </a:rPr>
              <a:t>2.3. </a:t>
            </a:r>
            <a:r>
              <a:rPr b="1" lang="ru" sz="3100">
                <a:solidFill>
                  <a:srgbClr val="303030"/>
                </a:solidFill>
                <a:highlight>
                  <a:srgbClr val="FFFFFF"/>
                </a:highlight>
              </a:rPr>
              <a:t>Функция перехода </a:t>
            </a:r>
            <a:r>
              <a:rPr b="1" lang="ru" sz="3100">
                <a:solidFill>
                  <a:srgbClr val="303030"/>
                </a:solidFill>
                <a:highlight>
                  <a:srgbClr val="D5A6BD"/>
                </a:highlight>
              </a:rPr>
              <a:t>transition-timing-function</a:t>
            </a:r>
            <a:endParaRPr b="1" sz="3100">
              <a:solidFill>
                <a:srgbClr val="303030"/>
              </a:solidFill>
              <a:highlight>
                <a:srgbClr val="D5A6BD"/>
              </a:highlight>
            </a:endParaRPr>
          </a:p>
          <a:p>
            <a:pPr indent="0" lvl="0" marL="0" rtl="0" algn="l">
              <a:lnSpc>
                <a:spcPct val="115000"/>
              </a:lnSpc>
              <a:spcBef>
                <a:spcPts val="1400"/>
              </a:spcBef>
              <a:spcAft>
                <a:spcPts val="0"/>
              </a:spcAft>
              <a:buNone/>
            </a:pPr>
            <a:r>
              <a:t/>
            </a:r>
            <a:endParaRPr b="1" sz="3100">
              <a:solidFill>
                <a:srgbClr val="303030"/>
              </a:solidFill>
              <a:highlight>
                <a:srgbClr val="FFFFFF"/>
              </a:highlight>
            </a:endParaRPr>
          </a:p>
          <a:p>
            <a:pPr indent="0" lvl="0" marL="0" rtl="0" algn="l">
              <a:lnSpc>
                <a:spcPct val="115000"/>
              </a:lnSpc>
              <a:spcBef>
                <a:spcPts val="1400"/>
              </a:spcBef>
              <a:spcAft>
                <a:spcPts val="0"/>
              </a:spcAft>
              <a:buNone/>
            </a:pPr>
            <a:r>
              <a:t/>
            </a:r>
            <a:endParaRPr b="1" sz="3100">
              <a:solidFill>
                <a:srgbClr val="303030"/>
              </a:solidFill>
              <a:highlight>
                <a:srgbClr val="FFFFFF"/>
              </a:highlight>
            </a:endParaRPr>
          </a:p>
          <a:p>
            <a:pPr indent="0" lvl="0" marL="0" rtl="0" algn="l">
              <a:lnSpc>
                <a:spcPct val="115000"/>
              </a:lnSpc>
              <a:spcBef>
                <a:spcPts val="1400"/>
              </a:spcBef>
              <a:spcAft>
                <a:spcPts val="0"/>
              </a:spcAft>
              <a:buNone/>
            </a:pPr>
            <a:r>
              <a:t/>
            </a:r>
            <a:endParaRPr b="1" sz="3188">
              <a:solidFill>
                <a:srgbClr val="303030"/>
              </a:solidFill>
              <a:latin typeface="Trebuchet MS"/>
              <a:ea typeface="Trebuchet MS"/>
              <a:cs typeface="Trebuchet MS"/>
              <a:sym typeface="Trebuchet MS"/>
            </a:endParaRPr>
          </a:p>
          <a:p>
            <a:pPr indent="0" lvl="0" marL="0" rtl="0" algn="l">
              <a:lnSpc>
                <a:spcPct val="115000"/>
              </a:lnSpc>
              <a:spcBef>
                <a:spcPts val="1400"/>
              </a:spcBef>
              <a:spcAft>
                <a:spcPts val="0"/>
              </a:spcAft>
              <a:buNone/>
            </a:pPr>
            <a:r>
              <a:t/>
            </a:r>
            <a:endParaRPr b="1" sz="3155">
              <a:solidFill>
                <a:srgbClr val="000000"/>
              </a:solidFill>
            </a:endParaRPr>
          </a:p>
          <a:p>
            <a:pPr indent="0" lvl="0" marL="0" rtl="0" algn="l">
              <a:spcBef>
                <a:spcPts val="400"/>
              </a:spcBef>
              <a:spcAft>
                <a:spcPts val="0"/>
              </a:spcAft>
              <a:buNone/>
            </a:pPr>
            <a:r>
              <a:t/>
            </a:r>
            <a:endParaRPr/>
          </a:p>
        </p:txBody>
      </p:sp>
      <p:sp>
        <p:nvSpPr>
          <p:cNvPr id="297" name="Google Shape;297;p40"/>
          <p:cNvSpPr txBox="1"/>
          <p:nvPr>
            <p:ph idx="1" type="body"/>
          </p:nvPr>
        </p:nvSpPr>
        <p:spPr>
          <a:xfrm>
            <a:off x="633925" y="1671175"/>
            <a:ext cx="8070000" cy="19236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ru" sz="1500">
                <a:solidFill>
                  <a:srgbClr val="303030"/>
                </a:solidFill>
                <a:latin typeface="Arial"/>
                <a:ea typeface="Arial"/>
                <a:cs typeface="Arial"/>
                <a:sym typeface="Arial"/>
              </a:rPr>
              <a:t>Свойство </a:t>
            </a:r>
            <a:r>
              <a:rPr lang="ru" sz="1500">
                <a:solidFill>
                  <a:srgbClr val="303030"/>
                </a:solidFill>
                <a:latin typeface="Arial"/>
                <a:ea typeface="Arial"/>
                <a:cs typeface="Arial"/>
                <a:sym typeface="Arial"/>
              </a:rPr>
              <a:t>задает</a:t>
            </a:r>
            <a:r>
              <a:rPr lang="ru" sz="1500">
                <a:solidFill>
                  <a:srgbClr val="303030"/>
                </a:solidFill>
                <a:latin typeface="Arial"/>
                <a:ea typeface="Arial"/>
                <a:cs typeface="Arial"/>
                <a:sym typeface="Arial"/>
              </a:rPr>
              <a:t> временную функцию, которая описывает скорость перехода объекта от одного значения к другому. Если вы определяете более одного перехода для элемент, например, цвет фона элемента и его положение, вы можете использовать разные функции для каждого свойства. Свойство не наследуется.</a:t>
            </a:r>
            <a:endParaRPr sz="1500">
              <a:solidFill>
                <a:srgbClr val="303030"/>
              </a:solidFill>
              <a:latin typeface="Arial"/>
              <a:ea typeface="Arial"/>
              <a:cs typeface="Arial"/>
              <a:sym typeface="Arial"/>
            </a:endParaRPr>
          </a:p>
          <a:p>
            <a:pPr indent="0" lvl="0" marL="0" rtl="0" algn="just">
              <a:lnSpc>
                <a:spcPct val="95000"/>
              </a:lnSpc>
              <a:spcBef>
                <a:spcPts val="1100"/>
              </a:spcBef>
              <a:spcAft>
                <a:spcPts val="1200"/>
              </a:spcAft>
              <a:buSzPts val="523"/>
              <a:buNone/>
            </a:pPr>
            <a:r>
              <a:t/>
            </a:r>
            <a:endParaRPr sz="617"/>
          </a:p>
        </p:txBody>
      </p:sp>
      <p:sp>
        <p:nvSpPr>
          <p:cNvPr id="298" name="Google Shape;298;p40"/>
          <p:cNvSpPr txBox="1"/>
          <p:nvPr/>
        </p:nvSpPr>
        <p:spPr>
          <a:xfrm>
            <a:off x="2668350" y="3124450"/>
            <a:ext cx="3218100" cy="1328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190500" marR="190500" rtl="0" algn="l">
              <a:lnSpc>
                <a:spcPct val="100000"/>
              </a:lnSpc>
              <a:spcBef>
                <a:spcPts val="0"/>
              </a:spcBef>
              <a:spcAft>
                <a:spcPts val="0"/>
              </a:spcAft>
              <a:buNone/>
            </a:pPr>
            <a:r>
              <a:rPr lang="ru" sz="1200">
                <a:solidFill>
                  <a:srgbClr val="669900"/>
                </a:solidFill>
                <a:highlight>
                  <a:srgbClr val="F5F5F5"/>
                </a:highlight>
              </a:rPr>
              <a:t>div</a:t>
            </a:r>
            <a:r>
              <a:rPr lang="ru" sz="1200">
                <a:solidFill>
                  <a:srgbClr val="303030"/>
                </a:solidFill>
                <a:highlight>
                  <a:srgbClr val="F5F5F5"/>
                </a:highlight>
              </a:rPr>
              <a:t> </a:t>
            </a:r>
            <a:r>
              <a:rPr lang="ru" sz="1200">
                <a:solidFill>
                  <a:srgbClr val="999999"/>
                </a:solidFill>
                <a:highlight>
                  <a:srgbClr val="F5F5F5"/>
                </a:highlight>
              </a:rPr>
              <a:t>{</a:t>
            </a:r>
            <a:endParaRPr sz="1200">
              <a:solidFill>
                <a:srgbClr val="303030"/>
              </a:solidFill>
              <a:highlight>
                <a:srgbClr val="F5F5F5"/>
              </a:highlight>
            </a:endParaRPr>
          </a:p>
          <a:p>
            <a:pPr indent="0" lvl="0" marL="190500" marR="190500" rtl="0" algn="l">
              <a:lnSpc>
                <a:spcPct val="100000"/>
              </a:lnSpc>
              <a:spcBef>
                <a:spcPts val="2300"/>
              </a:spcBef>
              <a:spcAft>
                <a:spcPts val="0"/>
              </a:spcAft>
              <a:buNone/>
            </a:pPr>
            <a:r>
              <a:rPr lang="ru" sz="1200">
                <a:solidFill>
                  <a:srgbClr val="990055"/>
                </a:solidFill>
                <a:highlight>
                  <a:srgbClr val="D5A6BD"/>
                </a:highlight>
              </a:rPr>
              <a:t>transition-timing-function</a:t>
            </a:r>
            <a:r>
              <a:rPr lang="ru" sz="1200">
                <a:solidFill>
                  <a:srgbClr val="999999"/>
                </a:solidFill>
                <a:highlight>
                  <a:srgbClr val="D5A6BD"/>
                </a:highlight>
              </a:rPr>
              <a:t>:</a:t>
            </a:r>
            <a:r>
              <a:rPr lang="ru" sz="1200">
                <a:solidFill>
                  <a:srgbClr val="303030"/>
                </a:solidFill>
                <a:highlight>
                  <a:srgbClr val="F5F5F5"/>
                </a:highlight>
              </a:rPr>
              <a:t> linear</a:t>
            </a:r>
            <a:r>
              <a:rPr lang="ru" sz="1200">
                <a:solidFill>
                  <a:srgbClr val="999999"/>
                </a:solidFill>
                <a:highlight>
                  <a:srgbClr val="F5F5F5"/>
                </a:highlight>
              </a:rPr>
              <a:t>;</a:t>
            </a:r>
            <a:endParaRPr sz="1200">
              <a:solidFill>
                <a:srgbClr val="303030"/>
              </a:solidFill>
              <a:highlight>
                <a:srgbClr val="F5F5F5"/>
              </a:highlight>
            </a:endParaRPr>
          </a:p>
          <a:p>
            <a:pPr indent="0" lvl="0" marL="190500" marR="190500" rtl="0" algn="l">
              <a:lnSpc>
                <a:spcPct val="100000"/>
              </a:lnSpc>
              <a:spcBef>
                <a:spcPts val="2300"/>
              </a:spcBef>
              <a:spcAft>
                <a:spcPts val="2300"/>
              </a:spcAft>
              <a:buNone/>
            </a:pPr>
            <a:r>
              <a:rPr lang="ru" sz="1200">
                <a:solidFill>
                  <a:srgbClr val="999999"/>
                </a:solidFill>
                <a:highlight>
                  <a:srgbClr val="F5F5F5"/>
                </a:highlight>
              </a:rPr>
              <a:t>}</a:t>
            </a:r>
            <a:endParaRPr>
              <a:solidFill>
                <a:srgbClr val="669900"/>
              </a:solidFill>
              <a:highlight>
                <a:srgbClr val="F5F5F5"/>
              </a:high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graphicFrame>
        <p:nvGraphicFramePr>
          <p:cNvPr id="303" name="Google Shape;303;p41"/>
          <p:cNvGraphicFramePr/>
          <p:nvPr/>
        </p:nvGraphicFramePr>
        <p:xfrm>
          <a:off x="397800" y="342900"/>
          <a:ext cx="3000000" cy="3000000"/>
        </p:xfrm>
        <a:graphic>
          <a:graphicData uri="http://schemas.openxmlformats.org/drawingml/2006/table">
            <a:tbl>
              <a:tblPr>
                <a:solidFill>
                  <a:srgbClr val="FFFFFF"/>
                </a:solidFill>
                <a:tableStyleId>{69577998-B902-4363-BD42-2B2995AA7EB3}</a:tableStyleId>
              </a:tblPr>
              <a:tblGrid>
                <a:gridCol w="1669725"/>
                <a:gridCol w="6678650"/>
              </a:tblGrid>
              <a:tr h="342975">
                <a:tc gridSpan="2">
                  <a:txBody>
                    <a:bodyPr/>
                    <a:lstStyle/>
                    <a:p>
                      <a:pPr indent="0" lvl="0" marL="0" rtl="0" algn="ctr">
                        <a:lnSpc>
                          <a:spcPct val="100000"/>
                        </a:lnSpc>
                        <a:spcBef>
                          <a:spcPts val="0"/>
                        </a:spcBef>
                        <a:spcAft>
                          <a:spcPts val="0"/>
                        </a:spcAft>
                        <a:buNone/>
                      </a:pPr>
                      <a:r>
                        <a:rPr b="1" lang="ru" sz="1200">
                          <a:highlight>
                            <a:srgbClr val="D5A6BD"/>
                          </a:highlight>
                        </a:rPr>
                        <a:t>transition-timing-function</a:t>
                      </a:r>
                      <a:endParaRPr b="1" sz="1200">
                        <a:highlight>
                          <a:srgbClr val="D5A6BD"/>
                        </a:highlight>
                      </a:endParaRPr>
                    </a:p>
                  </a:txBody>
                  <a:tcPr marT="95250" marB="9525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hMerge="1"/>
              </a:tr>
              <a:tr h="307800">
                <a:tc>
                  <a:txBody>
                    <a:bodyPr/>
                    <a:lstStyle/>
                    <a:p>
                      <a:pPr indent="0" lvl="0" marL="0" rtl="0" algn="ctr">
                        <a:lnSpc>
                          <a:spcPct val="100000"/>
                        </a:lnSpc>
                        <a:spcBef>
                          <a:spcPts val="0"/>
                        </a:spcBef>
                        <a:spcAft>
                          <a:spcPts val="0"/>
                        </a:spcAft>
                        <a:buNone/>
                      </a:pPr>
                      <a:r>
                        <a:rPr b="1" lang="ru" sz="1200"/>
                        <a:t>Значения:</a:t>
                      </a:r>
                      <a:endParaRPr b="1"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ru" sz="1200"/>
                        <a:t>Описание</a:t>
                      </a:r>
                      <a:endParaRPr b="1"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4900">
                <a:tc>
                  <a:txBody>
                    <a:bodyPr/>
                    <a:lstStyle/>
                    <a:p>
                      <a:pPr indent="0" lvl="0" marL="0" rtl="0" algn="l">
                        <a:lnSpc>
                          <a:spcPct val="100000"/>
                        </a:lnSpc>
                        <a:spcBef>
                          <a:spcPts val="0"/>
                        </a:spcBef>
                        <a:spcAft>
                          <a:spcPts val="0"/>
                        </a:spcAft>
                        <a:buNone/>
                      </a:pPr>
                      <a:r>
                        <a:rPr lang="ru" sz="1200"/>
                        <a:t>ease</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ru" sz="1200"/>
                        <a:t>Функция по умолчанию, переход начинается медленно, разгоняется быстро и замедляется в конце. Соответствует cubic-bezier(0.25,0.1,0.25,1).</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4900">
                <a:tc>
                  <a:txBody>
                    <a:bodyPr/>
                    <a:lstStyle/>
                    <a:p>
                      <a:pPr indent="0" lvl="0" marL="0" rtl="0" algn="l">
                        <a:lnSpc>
                          <a:spcPct val="100000"/>
                        </a:lnSpc>
                        <a:spcBef>
                          <a:spcPts val="0"/>
                        </a:spcBef>
                        <a:spcAft>
                          <a:spcPts val="0"/>
                        </a:spcAft>
                        <a:buNone/>
                      </a:pPr>
                      <a:r>
                        <a:rPr lang="ru" sz="1200"/>
                        <a:t>linear</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ru" sz="1200"/>
                        <a:t>Переход происходит равномерно на протяжении всего времени, без колебаний в скорости. Соответствует cubic-bezier(0,0,1,1).</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4900">
                <a:tc>
                  <a:txBody>
                    <a:bodyPr/>
                    <a:lstStyle/>
                    <a:p>
                      <a:pPr indent="0" lvl="0" marL="0" rtl="0" algn="l">
                        <a:lnSpc>
                          <a:spcPct val="100000"/>
                        </a:lnSpc>
                        <a:spcBef>
                          <a:spcPts val="0"/>
                        </a:spcBef>
                        <a:spcAft>
                          <a:spcPts val="0"/>
                        </a:spcAft>
                        <a:buNone/>
                      </a:pPr>
                      <a:r>
                        <a:rPr lang="ru" sz="1200"/>
                        <a:t>ease-in</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ru" sz="1200"/>
                        <a:t>Переход начинается медленно, а затем плавно ускоряется в конце. Соответствует cubic-bezier(0.42,0,1,1).</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4900">
                <a:tc>
                  <a:txBody>
                    <a:bodyPr/>
                    <a:lstStyle/>
                    <a:p>
                      <a:pPr indent="0" lvl="0" marL="0" rtl="0" algn="l">
                        <a:lnSpc>
                          <a:spcPct val="100000"/>
                        </a:lnSpc>
                        <a:spcBef>
                          <a:spcPts val="0"/>
                        </a:spcBef>
                        <a:spcAft>
                          <a:spcPts val="0"/>
                        </a:spcAft>
                        <a:buNone/>
                      </a:pPr>
                      <a:r>
                        <a:rPr lang="ru" sz="1200"/>
                        <a:t>ease-out</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ru" sz="1200"/>
                        <a:t>Переход начинается быстро и плавно замедляется в конце. Соответствует cubic-bezier(0,0,0.58,1).</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4900">
                <a:tc>
                  <a:txBody>
                    <a:bodyPr/>
                    <a:lstStyle/>
                    <a:p>
                      <a:pPr indent="0" lvl="0" marL="0" rtl="0" algn="l">
                        <a:lnSpc>
                          <a:spcPct val="100000"/>
                        </a:lnSpc>
                        <a:spcBef>
                          <a:spcPts val="0"/>
                        </a:spcBef>
                        <a:spcAft>
                          <a:spcPts val="0"/>
                        </a:spcAft>
                        <a:buNone/>
                      </a:pPr>
                      <a:r>
                        <a:rPr lang="ru" sz="1200"/>
                        <a:t>ease-in-out</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ru" sz="1200"/>
                        <a:t>Переход медленно начинается и медленно заканчивается. Соответствует cubic-bezier(0.42,0,0.58,1).</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4900">
                <a:tc>
                  <a:txBody>
                    <a:bodyPr/>
                    <a:lstStyle/>
                    <a:p>
                      <a:pPr indent="0" lvl="0" marL="0" rtl="0" algn="l">
                        <a:lnSpc>
                          <a:spcPct val="100000"/>
                        </a:lnSpc>
                        <a:spcBef>
                          <a:spcPts val="0"/>
                        </a:spcBef>
                        <a:spcAft>
                          <a:spcPts val="0"/>
                        </a:spcAft>
                        <a:buNone/>
                      </a:pPr>
                      <a:r>
                        <a:rPr lang="ru" sz="1200"/>
                        <a:t>cubic-bezier(x1, y1, x2, y2)</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ru" sz="1200"/>
                        <a:t>Позволяет вручную установить значения от 0 до 1 для кривой ускорения. </a:t>
                      </a:r>
                      <a:r>
                        <a:rPr lang="ru" sz="1200">
                          <a:uFill>
                            <a:noFill/>
                          </a:uFill>
                          <a:hlinkClick r:id="rId3"/>
                        </a:rPr>
                        <a:t>На этом сайте</a:t>
                      </a:r>
                      <a:r>
                        <a:rPr lang="ru" sz="1200"/>
                        <a:t> вы сможете построить любую траекторию перехода.</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7800">
                <a:tc>
                  <a:txBody>
                    <a:bodyPr/>
                    <a:lstStyle/>
                    <a:p>
                      <a:pPr indent="0" lvl="0" marL="0" rtl="0" algn="l">
                        <a:lnSpc>
                          <a:spcPct val="100000"/>
                        </a:lnSpc>
                        <a:spcBef>
                          <a:spcPts val="0"/>
                        </a:spcBef>
                        <a:spcAft>
                          <a:spcPts val="0"/>
                        </a:spcAft>
                        <a:buNone/>
                      </a:pPr>
                      <a:r>
                        <a:rPr lang="ru" sz="1200"/>
                        <a:t>initial</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ru" sz="1200"/>
                        <a:t>Устанавливает значение свойства в значение по умолчанию.</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7800">
                <a:tc>
                  <a:txBody>
                    <a:bodyPr/>
                    <a:lstStyle/>
                    <a:p>
                      <a:pPr indent="0" lvl="0" marL="0" rtl="0" algn="l">
                        <a:lnSpc>
                          <a:spcPct val="100000"/>
                        </a:lnSpc>
                        <a:spcBef>
                          <a:spcPts val="0"/>
                        </a:spcBef>
                        <a:spcAft>
                          <a:spcPts val="0"/>
                        </a:spcAft>
                        <a:buNone/>
                      </a:pPr>
                      <a:r>
                        <a:rPr lang="ru" sz="1200"/>
                        <a:t>inherit</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ru" sz="1200"/>
                        <a:t>Наследует значение свойства от родительского элемента.</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2"/>
          <p:cNvSpPr/>
          <p:nvPr/>
        </p:nvSpPr>
        <p:spPr>
          <a:xfrm>
            <a:off x="2117525" y="455300"/>
            <a:ext cx="3586500" cy="3683100"/>
          </a:xfrm>
          <a:prstGeom prst="rect">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09" name="Google Shape;309;p42"/>
          <p:cNvSpPr txBox="1"/>
          <p:nvPr>
            <p:ph idx="1" type="body"/>
          </p:nvPr>
        </p:nvSpPr>
        <p:spPr>
          <a:xfrm>
            <a:off x="2491450" y="714200"/>
            <a:ext cx="3753000" cy="3864600"/>
          </a:xfrm>
          <a:prstGeom prst="rect">
            <a:avLst/>
          </a:prstGeom>
          <a:solidFill>
            <a:schemeClr val="dk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714"/>
              </a:lnSpc>
              <a:spcBef>
                <a:spcPts val="0"/>
              </a:spcBef>
              <a:spcAft>
                <a:spcPts val="0"/>
              </a:spcAft>
              <a:buSzPts val="770"/>
              <a:buNone/>
            </a:pPr>
            <a:r>
              <a:rPr b="1" lang="ru" sz="1235">
                <a:solidFill>
                  <a:srgbClr val="000000"/>
                </a:solidFill>
                <a:latin typeface="Arial"/>
                <a:ea typeface="Arial"/>
                <a:cs typeface="Arial"/>
                <a:sym typeface="Arial"/>
              </a:rPr>
              <a:t>/* Разные функции времени */</a:t>
            </a:r>
            <a:endParaRPr b="1" sz="1235">
              <a:solidFill>
                <a:srgbClr val="00000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35">
                <a:solidFill>
                  <a:srgbClr val="000000"/>
                </a:solidFill>
                <a:latin typeface="Arial"/>
                <a:ea typeface="Arial"/>
                <a:cs typeface="Arial"/>
                <a:sym typeface="Arial"/>
              </a:rPr>
              <a:t>.linear-transition {</a:t>
            </a:r>
            <a:endParaRPr sz="1235">
              <a:solidFill>
                <a:srgbClr val="00000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35">
                <a:solidFill>
                  <a:srgbClr val="000000"/>
                </a:solidFill>
                <a:latin typeface="Arial"/>
                <a:ea typeface="Arial"/>
                <a:cs typeface="Arial"/>
                <a:sym typeface="Arial"/>
              </a:rPr>
              <a:t>  transition: all 1s </a:t>
            </a:r>
            <a:r>
              <a:rPr lang="ru" sz="1235">
                <a:solidFill>
                  <a:srgbClr val="000000"/>
                </a:solidFill>
                <a:highlight>
                  <a:srgbClr val="D5A6BD"/>
                </a:highlight>
                <a:latin typeface="Arial"/>
                <a:ea typeface="Arial"/>
                <a:cs typeface="Arial"/>
                <a:sym typeface="Arial"/>
              </a:rPr>
              <a:t>linear</a:t>
            </a:r>
            <a:r>
              <a:rPr lang="ru" sz="1235">
                <a:solidFill>
                  <a:srgbClr val="000000"/>
                </a:solidFill>
                <a:latin typeface="Arial"/>
                <a:ea typeface="Arial"/>
                <a:cs typeface="Arial"/>
                <a:sym typeface="Arial"/>
              </a:rPr>
              <a:t>;</a:t>
            </a:r>
            <a:endParaRPr sz="1235">
              <a:solidFill>
                <a:srgbClr val="00000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35">
                <a:solidFill>
                  <a:srgbClr val="000000"/>
                </a:solidFill>
                <a:latin typeface="Arial"/>
                <a:ea typeface="Arial"/>
                <a:cs typeface="Arial"/>
                <a:sym typeface="Arial"/>
              </a:rPr>
              <a:t>}</a:t>
            </a:r>
            <a:endParaRPr sz="1235">
              <a:solidFill>
                <a:srgbClr val="000000"/>
              </a:solidFill>
              <a:latin typeface="Arial"/>
              <a:ea typeface="Arial"/>
              <a:cs typeface="Arial"/>
              <a:sym typeface="Arial"/>
            </a:endParaRPr>
          </a:p>
          <a:p>
            <a:pPr indent="0" lvl="0" marL="0" rtl="0" algn="l">
              <a:lnSpc>
                <a:spcPct val="115714"/>
              </a:lnSpc>
              <a:spcBef>
                <a:spcPts val="0"/>
              </a:spcBef>
              <a:spcAft>
                <a:spcPts val="0"/>
              </a:spcAft>
              <a:buSzPts val="770"/>
              <a:buNone/>
            </a:pPr>
            <a:r>
              <a:t/>
            </a:r>
            <a:endParaRPr sz="1235">
              <a:solidFill>
                <a:srgbClr val="00000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35">
                <a:solidFill>
                  <a:srgbClr val="000000"/>
                </a:solidFill>
                <a:latin typeface="Arial"/>
                <a:ea typeface="Arial"/>
                <a:cs typeface="Arial"/>
                <a:sym typeface="Arial"/>
              </a:rPr>
              <a:t>.ease-transition {</a:t>
            </a:r>
            <a:endParaRPr sz="1235">
              <a:solidFill>
                <a:srgbClr val="00000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35">
                <a:solidFill>
                  <a:srgbClr val="000000"/>
                </a:solidFill>
                <a:latin typeface="Arial"/>
                <a:ea typeface="Arial"/>
                <a:cs typeface="Arial"/>
                <a:sym typeface="Arial"/>
              </a:rPr>
              <a:t>  transition: all 1s </a:t>
            </a:r>
            <a:r>
              <a:rPr lang="ru" sz="1235">
                <a:solidFill>
                  <a:srgbClr val="000000"/>
                </a:solidFill>
                <a:highlight>
                  <a:srgbClr val="D5A6BD"/>
                </a:highlight>
                <a:latin typeface="Arial"/>
                <a:ea typeface="Arial"/>
                <a:cs typeface="Arial"/>
                <a:sym typeface="Arial"/>
              </a:rPr>
              <a:t>ease</a:t>
            </a:r>
            <a:r>
              <a:rPr lang="ru" sz="1235">
                <a:solidFill>
                  <a:srgbClr val="000000"/>
                </a:solidFill>
                <a:latin typeface="Arial"/>
                <a:ea typeface="Arial"/>
                <a:cs typeface="Arial"/>
                <a:sym typeface="Arial"/>
              </a:rPr>
              <a:t>;</a:t>
            </a:r>
            <a:endParaRPr sz="1235">
              <a:solidFill>
                <a:srgbClr val="00000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35">
                <a:solidFill>
                  <a:srgbClr val="000000"/>
                </a:solidFill>
                <a:latin typeface="Arial"/>
                <a:ea typeface="Arial"/>
                <a:cs typeface="Arial"/>
                <a:sym typeface="Arial"/>
              </a:rPr>
              <a:t>}</a:t>
            </a:r>
            <a:endParaRPr sz="1235">
              <a:solidFill>
                <a:srgbClr val="000000"/>
              </a:solidFill>
              <a:latin typeface="Arial"/>
              <a:ea typeface="Arial"/>
              <a:cs typeface="Arial"/>
              <a:sym typeface="Arial"/>
            </a:endParaRPr>
          </a:p>
          <a:p>
            <a:pPr indent="0" lvl="0" marL="0" rtl="0" algn="l">
              <a:lnSpc>
                <a:spcPct val="115714"/>
              </a:lnSpc>
              <a:spcBef>
                <a:spcPts val="0"/>
              </a:spcBef>
              <a:spcAft>
                <a:spcPts val="0"/>
              </a:spcAft>
              <a:buSzPts val="770"/>
              <a:buNone/>
            </a:pPr>
            <a:r>
              <a:t/>
            </a:r>
            <a:endParaRPr sz="1235">
              <a:solidFill>
                <a:srgbClr val="00000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35">
                <a:solidFill>
                  <a:srgbClr val="000000"/>
                </a:solidFill>
                <a:latin typeface="Arial"/>
                <a:ea typeface="Arial"/>
                <a:cs typeface="Arial"/>
                <a:sym typeface="Arial"/>
              </a:rPr>
              <a:t>.custom-transition {</a:t>
            </a:r>
            <a:endParaRPr sz="1235">
              <a:solidFill>
                <a:srgbClr val="00000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35">
                <a:solidFill>
                  <a:srgbClr val="000000"/>
                </a:solidFill>
                <a:latin typeface="Arial"/>
                <a:ea typeface="Arial"/>
                <a:cs typeface="Arial"/>
                <a:sym typeface="Arial"/>
              </a:rPr>
              <a:t>  transition: all 1s </a:t>
            </a:r>
            <a:r>
              <a:rPr lang="ru" sz="1235">
                <a:solidFill>
                  <a:srgbClr val="000000"/>
                </a:solidFill>
                <a:highlight>
                  <a:srgbClr val="D5A6BD"/>
                </a:highlight>
                <a:latin typeface="Arial"/>
                <a:ea typeface="Arial"/>
                <a:cs typeface="Arial"/>
                <a:sym typeface="Arial"/>
              </a:rPr>
              <a:t>cubic-bezier(</a:t>
            </a:r>
            <a:r>
              <a:rPr lang="ru" sz="1235">
                <a:solidFill>
                  <a:srgbClr val="000000"/>
                </a:solidFill>
                <a:latin typeface="Arial"/>
                <a:ea typeface="Arial"/>
                <a:cs typeface="Arial"/>
                <a:sym typeface="Arial"/>
              </a:rPr>
              <a:t>0.68, -0.55, 0.265, 1.55);</a:t>
            </a:r>
            <a:endParaRPr sz="1235">
              <a:solidFill>
                <a:srgbClr val="00000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35">
                <a:solidFill>
                  <a:srgbClr val="000000"/>
                </a:solidFill>
                <a:latin typeface="Arial"/>
                <a:ea typeface="Arial"/>
                <a:cs typeface="Arial"/>
                <a:sym typeface="Arial"/>
              </a:rPr>
              <a:t>}</a:t>
            </a:r>
            <a:endParaRPr sz="1235">
              <a:solidFill>
                <a:srgbClr val="000000"/>
              </a:solidFill>
              <a:latin typeface="Arial"/>
              <a:ea typeface="Arial"/>
              <a:cs typeface="Arial"/>
              <a:sym typeface="Arial"/>
            </a:endParaRPr>
          </a:p>
          <a:p>
            <a:pPr indent="0" lvl="0" marL="0" rtl="0" algn="l">
              <a:lnSpc>
                <a:spcPct val="115714"/>
              </a:lnSpc>
              <a:spcBef>
                <a:spcPts val="0"/>
              </a:spcBef>
              <a:spcAft>
                <a:spcPts val="0"/>
              </a:spcAft>
              <a:buSzPts val="770"/>
              <a:buNone/>
            </a:pPr>
            <a:r>
              <a:t/>
            </a:r>
            <a:endParaRPr sz="1235">
              <a:solidFill>
                <a:srgbClr val="00000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35">
                <a:solidFill>
                  <a:srgbClr val="000000"/>
                </a:solidFill>
                <a:latin typeface="Arial"/>
                <a:ea typeface="Arial"/>
                <a:cs typeface="Arial"/>
                <a:sym typeface="Arial"/>
              </a:rPr>
              <a:t>.steps-transition {</a:t>
            </a:r>
            <a:endParaRPr sz="1235">
              <a:solidFill>
                <a:srgbClr val="00000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35">
                <a:solidFill>
                  <a:srgbClr val="000000"/>
                </a:solidFill>
                <a:latin typeface="Arial"/>
                <a:ea typeface="Arial"/>
                <a:cs typeface="Arial"/>
                <a:sym typeface="Arial"/>
              </a:rPr>
              <a:t>  transition: all 1s </a:t>
            </a:r>
            <a:r>
              <a:rPr lang="ru" sz="1235">
                <a:solidFill>
                  <a:srgbClr val="000000"/>
                </a:solidFill>
                <a:highlight>
                  <a:srgbClr val="D5A6BD"/>
                </a:highlight>
                <a:latin typeface="Arial"/>
                <a:ea typeface="Arial"/>
                <a:cs typeface="Arial"/>
                <a:sym typeface="Arial"/>
              </a:rPr>
              <a:t>steps</a:t>
            </a:r>
            <a:r>
              <a:rPr lang="ru" sz="1235">
                <a:solidFill>
                  <a:srgbClr val="000000"/>
                </a:solidFill>
                <a:latin typeface="Arial"/>
                <a:ea typeface="Arial"/>
                <a:cs typeface="Arial"/>
                <a:sym typeface="Arial"/>
              </a:rPr>
              <a:t>(5);</a:t>
            </a:r>
            <a:endParaRPr sz="1235">
              <a:solidFill>
                <a:srgbClr val="00000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35">
                <a:solidFill>
                  <a:srgbClr val="000000"/>
                </a:solidFill>
                <a:latin typeface="Arial"/>
                <a:ea typeface="Arial"/>
                <a:cs typeface="Arial"/>
                <a:sym typeface="Arial"/>
              </a:rPr>
              <a:t>}</a:t>
            </a:r>
            <a:endParaRPr sz="1235">
              <a:solidFill>
                <a:srgbClr val="000000"/>
              </a:solidFill>
              <a:latin typeface="Arial"/>
              <a:ea typeface="Arial"/>
              <a:cs typeface="Arial"/>
              <a:sym typeface="Arial"/>
            </a:endParaRPr>
          </a:p>
          <a:p>
            <a:pPr indent="0" lvl="0" marL="0" rtl="0" algn="l">
              <a:lnSpc>
                <a:spcPct val="95000"/>
              </a:lnSpc>
              <a:spcBef>
                <a:spcPts val="0"/>
              </a:spcBef>
              <a:spcAft>
                <a:spcPts val="1200"/>
              </a:spcAft>
              <a:buSzPts val="770"/>
              <a:buNone/>
            </a:pPr>
            <a:r>
              <a:t/>
            </a:r>
            <a:endParaRPr sz="910">
              <a:solidFill>
                <a:srgbClr val="00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3"/>
          <p:cNvSpPr txBox="1"/>
          <p:nvPr>
            <p:ph type="title"/>
          </p:nvPr>
        </p:nvSpPr>
        <p:spPr>
          <a:xfrm>
            <a:off x="819150" y="544950"/>
            <a:ext cx="7505700" cy="9546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400"/>
              </a:spcBef>
              <a:spcAft>
                <a:spcPts val="0"/>
              </a:spcAft>
              <a:buNone/>
            </a:pPr>
            <a:r>
              <a:rPr b="1" lang="ru" sz="3155">
                <a:solidFill>
                  <a:srgbClr val="000000"/>
                </a:solidFill>
              </a:rPr>
              <a:t>2.4. </a:t>
            </a:r>
            <a:r>
              <a:rPr b="1" lang="ru" sz="3100">
                <a:solidFill>
                  <a:srgbClr val="303030"/>
                </a:solidFill>
                <a:highlight>
                  <a:srgbClr val="FFFFFF"/>
                </a:highlight>
              </a:rPr>
              <a:t>Задержка перехода </a:t>
            </a:r>
            <a:r>
              <a:rPr b="1" lang="ru" sz="3100">
                <a:solidFill>
                  <a:srgbClr val="303030"/>
                </a:solidFill>
                <a:highlight>
                  <a:srgbClr val="D5A6BD"/>
                </a:highlight>
              </a:rPr>
              <a:t>transition-delay</a:t>
            </a:r>
            <a:endParaRPr b="1" sz="3100">
              <a:solidFill>
                <a:srgbClr val="303030"/>
              </a:solidFill>
              <a:highlight>
                <a:srgbClr val="D5A6BD"/>
              </a:highlight>
            </a:endParaRPr>
          </a:p>
          <a:p>
            <a:pPr indent="0" lvl="0" marL="0" rtl="0" algn="l">
              <a:lnSpc>
                <a:spcPct val="115000"/>
              </a:lnSpc>
              <a:spcBef>
                <a:spcPts val="1400"/>
              </a:spcBef>
              <a:spcAft>
                <a:spcPts val="0"/>
              </a:spcAft>
              <a:buNone/>
            </a:pPr>
            <a:r>
              <a:t/>
            </a:r>
            <a:endParaRPr b="1" sz="3100">
              <a:solidFill>
                <a:srgbClr val="303030"/>
              </a:solidFill>
              <a:highlight>
                <a:srgbClr val="FFFFFF"/>
              </a:highlight>
            </a:endParaRPr>
          </a:p>
          <a:p>
            <a:pPr indent="0" lvl="0" marL="0" rtl="0" algn="l">
              <a:lnSpc>
                <a:spcPct val="115000"/>
              </a:lnSpc>
              <a:spcBef>
                <a:spcPts val="1400"/>
              </a:spcBef>
              <a:spcAft>
                <a:spcPts val="0"/>
              </a:spcAft>
              <a:buNone/>
            </a:pPr>
            <a:r>
              <a:t/>
            </a:r>
            <a:endParaRPr b="1" sz="3100">
              <a:solidFill>
                <a:srgbClr val="303030"/>
              </a:solidFill>
              <a:highlight>
                <a:srgbClr val="FFFFFF"/>
              </a:highlight>
            </a:endParaRPr>
          </a:p>
          <a:p>
            <a:pPr indent="0" lvl="0" marL="0" rtl="0" algn="l">
              <a:lnSpc>
                <a:spcPct val="115000"/>
              </a:lnSpc>
              <a:spcBef>
                <a:spcPts val="1400"/>
              </a:spcBef>
              <a:spcAft>
                <a:spcPts val="0"/>
              </a:spcAft>
              <a:buNone/>
            </a:pPr>
            <a:r>
              <a:t/>
            </a:r>
            <a:endParaRPr b="1" sz="3188">
              <a:solidFill>
                <a:srgbClr val="303030"/>
              </a:solidFill>
              <a:latin typeface="Trebuchet MS"/>
              <a:ea typeface="Trebuchet MS"/>
              <a:cs typeface="Trebuchet MS"/>
              <a:sym typeface="Trebuchet MS"/>
            </a:endParaRPr>
          </a:p>
          <a:p>
            <a:pPr indent="0" lvl="0" marL="0" rtl="0" algn="l">
              <a:lnSpc>
                <a:spcPct val="115000"/>
              </a:lnSpc>
              <a:spcBef>
                <a:spcPts val="1400"/>
              </a:spcBef>
              <a:spcAft>
                <a:spcPts val="0"/>
              </a:spcAft>
              <a:buNone/>
            </a:pPr>
            <a:r>
              <a:t/>
            </a:r>
            <a:endParaRPr b="1" sz="3155">
              <a:solidFill>
                <a:srgbClr val="000000"/>
              </a:solidFill>
            </a:endParaRPr>
          </a:p>
          <a:p>
            <a:pPr indent="0" lvl="0" marL="0" rtl="0" algn="l">
              <a:spcBef>
                <a:spcPts val="400"/>
              </a:spcBef>
              <a:spcAft>
                <a:spcPts val="0"/>
              </a:spcAft>
              <a:buNone/>
            </a:pPr>
            <a:r>
              <a:t/>
            </a:r>
            <a:endParaRPr/>
          </a:p>
        </p:txBody>
      </p:sp>
      <p:sp>
        <p:nvSpPr>
          <p:cNvPr id="315" name="Google Shape;315;p43"/>
          <p:cNvSpPr txBox="1"/>
          <p:nvPr>
            <p:ph idx="1" type="body"/>
          </p:nvPr>
        </p:nvSpPr>
        <p:spPr>
          <a:xfrm>
            <a:off x="648175" y="1499550"/>
            <a:ext cx="8070000" cy="19236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ru" sz="1500">
                <a:solidFill>
                  <a:srgbClr val="303030"/>
                </a:solidFill>
                <a:latin typeface="Arial"/>
                <a:ea typeface="Arial"/>
                <a:cs typeface="Arial"/>
                <a:sym typeface="Arial"/>
              </a:rPr>
              <a:t>Необязательное свойство, позволяет сделать так, чтобы изменение свойства происходило не моментально, а с некоторой задержкой. Не наследуется.</a:t>
            </a:r>
            <a:endParaRPr sz="1500">
              <a:solidFill>
                <a:srgbClr val="303030"/>
              </a:solidFill>
              <a:latin typeface="Arial"/>
              <a:ea typeface="Arial"/>
              <a:cs typeface="Arial"/>
              <a:sym typeface="Arial"/>
            </a:endParaRPr>
          </a:p>
          <a:p>
            <a:pPr indent="0" lvl="0" marL="0" rtl="0" algn="just">
              <a:lnSpc>
                <a:spcPct val="95000"/>
              </a:lnSpc>
              <a:spcBef>
                <a:spcPts val="1100"/>
              </a:spcBef>
              <a:spcAft>
                <a:spcPts val="1200"/>
              </a:spcAft>
              <a:buSzPts val="523"/>
              <a:buNone/>
            </a:pPr>
            <a:r>
              <a:t/>
            </a:r>
            <a:endParaRPr sz="617"/>
          </a:p>
        </p:txBody>
      </p:sp>
      <p:sp>
        <p:nvSpPr>
          <p:cNvPr id="316" name="Google Shape;316;p43"/>
          <p:cNvSpPr txBox="1"/>
          <p:nvPr/>
        </p:nvSpPr>
        <p:spPr>
          <a:xfrm>
            <a:off x="2962950" y="2711275"/>
            <a:ext cx="3218100" cy="1328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190500" marR="190500" rtl="0" algn="l">
              <a:lnSpc>
                <a:spcPct val="100000"/>
              </a:lnSpc>
              <a:spcBef>
                <a:spcPts val="0"/>
              </a:spcBef>
              <a:spcAft>
                <a:spcPts val="0"/>
              </a:spcAft>
              <a:buNone/>
            </a:pPr>
            <a:r>
              <a:rPr lang="ru" sz="1200">
                <a:solidFill>
                  <a:srgbClr val="669900"/>
                </a:solidFill>
                <a:highlight>
                  <a:srgbClr val="F5F5F5"/>
                </a:highlight>
              </a:rPr>
              <a:t>div</a:t>
            </a:r>
            <a:r>
              <a:rPr lang="ru" sz="1200">
                <a:solidFill>
                  <a:srgbClr val="303030"/>
                </a:solidFill>
                <a:highlight>
                  <a:srgbClr val="F5F5F5"/>
                </a:highlight>
              </a:rPr>
              <a:t> </a:t>
            </a:r>
            <a:r>
              <a:rPr lang="ru" sz="1200">
                <a:solidFill>
                  <a:srgbClr val="999999"/>
                </a:solidFill>
                <a:highlight>
                  <a:srgbClr val="F5F5F5"/>
                </a:highlight>
              </a:rPr>
              <a:t>{</a:t>
            </a:r>
            <a:endParaRPr sz="1200">
              <a:solidFill>
                <a:srgbClr val="303030"/>
              </a:solidFill>
              <a:highlight>
                <a:srgbClr val="F5F5F5"/>
              </a:highlight>
            </a:endParaRPr>
          </a:p>
          <a:p>
            <a:pPr indent="0" lvl="0" marL="190500" marR="190500" rtl="0" algn="l">
              <a:lnSpc>
                <a:spcPct val="100000"/>
              </a:lnSpc>
              <a:spcBef>
                <a:spcPts val="2300"/>
              </a:spcBef>
              <a:spcAft>
                <a:spcPts val="0"/>
              </a:spcAft>
              <a:buNone/>
            </a:pPr>
            <a:r>
              <a:rPr lang="ru" sz="1200">
                <a:solidFill>
                  <a:srgbClr val="990055"/>
                </a:solidFill>
                <a:highlight>
                  <a:srgbClr val="D5A6BD"/>
                </a:highlight>
              </a:rPr>
              <a:t>transition-delay</a:t>
            </a:r>
            <a:r>
              <a:rPr lang="ru" sz="1200">
                <a:solidFill>
                  <a:srgbClr val="999999"/>
                </a:solidFill>
                <a:highlight>
                  <a:srgbClr val="D5A6BD"/>
                </a:highlight>
              </a:rPr>
              <a:t>:</a:t>
            </a:r>
            <a:r>
              <a:rPr lang="ru" sz="1200">
                <a:solidFill>
                  <a:srgbClr val="303030"/>
                </a:solidFill>
                <a:highlight>
                  <a:srgbClr val="F5F5F5"/>
                </a:highlight>
              </a:rPr>
              <a:t> .5s</a:t>
            </a:r>
            <a:r>
              <a:rPr lang="ru" sz="1200">
                <a:solidFill>
                  <a:srgbClr val="999999"/>
                </a:solidFill>
                <a:highlight>
                  <a:srgbClr val="F5F5F5"/>
                </a:highlight>
              </a:rPr>
              <a:t>;</a:t>
            </a:r>
            <a:endParaRPr sz="1200">
              <a:solidFill>
                <a:srgbClr val="303030"/>
              </a:solidFill>
              <a:highlight>
                <a:srgbClr val="F5F5F5"/>
              </a:highlight>
            </a:endParaRPr>
          </a:p>
          <a:p>
            <a:pPr indent="0" lvl="0" marL="190500" marR="190500" rtl="0" algn="l">
              <a:lnSpc>
                <a:spcPct val="100000"/>
              </a:lnSpc>
              <a:spcBef>
                <a:spcPts val="2300"/>
              </a:spcBef>
              <a:spcAft>
                <a:spcPts val="2300"/>
              </a:spcAft>
              <a:buNone/>
            </a:pPr>
            <a:r>
              <a:rPr lang="ru" sz="1200">
                <a:solidFill>
                  <a:srgbClr val="999999"/>
                </a:solidFill>
                <a:highlight>
                  <a:srgbClr val="F5F5F5"/>
                </a:highlight>
              </a:rPr>
              <a:t>}</a:t>
            </a:r>
            <a:endParaRPr sz="1200">
              <a:solidFill>
                <a:srgbClr val="669900"/>
              </a:solidFill>
              <a:highlight>
                <a:srgbClr val="F5F5F5"/>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4"/>
          <p:cNvSpPr txBox="1"/>
          <p:nvPr>
            <p:ph type="title"/>
          </p:nvPr>
        </p:nvSpPr>
        <p:spPr>
          <a:xfrm>
            <a:off x="819150" y="544950"/>
            <a:ext cx="7505700" cy="9546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400"/>
              </a:spcBef>
              <a:spcAft>
                <a:spcPts val="0"/>
              </a:spcAft>
              <a:buNone/>
            </a:pPr>
            <a:r>
              <a:rPr b="1" lang="ru" sz="3155">
                <a:solidFill>
                  <a:srgbClr val="000000"/>
                </a:solidFill>
              </a:rPr>
              <a:t>2.4. </a:t>
            </a:r>
            <a:r>
              <a:rPr b="1" lang="ru" sz="3100">
                <a:solidFill>
                  <a:srgbClr val="303030"/>
                </a:solidFill>
                <a:highlight>
                  <a:srgbClr val="FFFFFF"/>
                </a:highlight>
              </a:rPr>
              <a:t>Задержка перехода </a:t>
            </a:r>
            <a:r>
              <a:rPr b="1" lang="ru" sz="3100">
                <a:solidFill>
                  <a:srgbClr val="303030"/>
                </a:solidFill>
                <a:highlight>
                  <a:srgbClr val="D5A6BD"/>
                </a:highlight>
              </a:rPr>
              <a:t>transition-delay</a:t>
            </a:r>
            <a:endParaRPr b="1" sz="3100">
              <a:solidFill>
                <a:srgbClr val="303030"/>
              </a:solidFill>
              <a:highlight>
                <a:srgbClr val="D5A6BD"/>
              </a:highlight>
            </a:endParaRPr>
          </a:p>
          <a:p>
            <a:pPr indent="0" lvl="0" marL="0" rtl="0" algn="l">
              <a:lnSpc>
                <a:spcPct val="115000"/>
              </a:lnSpc>
              <a:spcBef>
                <a:spcPts val="1400"/>
              </a:spcBef>
              <a:spcAft>
                <a:spcPts val="0"/>
              </a:spcAft>
              <a:buNone/>
            </a:pPr>
            <a:r>
              <a:t/>
            </a:r>
            <a:endParaRPr b="1" sz="3100">
              <a:solidFill>
                <a:srgbClr val="303030"/>
              </a:solidFill>
              <a:highlight>
                <a:srgbClr val="FFFFFF"/>
              </a:highlight>
            </a:endParaRPr>
          </a:p>
          <a:p>
            <a:pPr indent="0" lvl="0" marL="0" rtl="0" algn="l">
              <a:lnSpc>
                <a:spcPct val="115000"/>
              </a:lnSpc>
              <a:spcBef>
                <a:spcPts val="1400"/>
              </a:spcBef>
              <a:spcAft>
                <a:spcPts val="0"/>
              </a:spcAft>
              <a:buNone/>
            </a:pPr>
            <a:r>
              <a:t/>
            </a:r>
            <a:endParaRPr b="1" sz="3100">
              <a:solidFill>
                <a:srgbClr val="303030"/>
              </a:solidFill>
              <a:highlight>
                <a:srgbClr val="FFFFFF"/>
              </a:highlight>
            </a:endParaRPr>
          </a:p>
          <a:p>
            <a:pPr indent="0" lvl="0" marL="0" rtl="0" algn="l">
              <a:lnSpc>
                <a:spcPct val="115000"/>
              </a:lnSpc>
              <a:spcBef>
                <a:spcPts val="1400"/>
              </a:spcBef>
              <a:spcAft>
                <a:spcPts val="0"/>
              </a:spcAft>
              <a:buNone/>
            </a:pPr>
            <a:r>
              <a:t/>
            </a:r>
            <a:endParaRPr b="1" sz="3188">
              <a:solidFill>
                <a:srgbClr val="303030"/>
              </a:solidFill>
              <a:latin typeface="Trebuchet MS"/>
              <a:ea typeface="Trebuchet MS"/>
              <a:cs typeface="Trebuchet MS"/>
              <a:sym typeface="Trebuchet MS"/>
            </a:endParaRPr>
          </a:p>
          <a:p>
            <a:pPr indent="0" lvl="0" marL="0" rtl="0" algn="l">
              <a:lnSpc>
                <a:spcPct val="115000"/>
              </a:lnSpc>
              <a:spcBef>
                <a:spcPts val="1400"/>
              </a:spcBef>
              <a:spcAft>
                <a:spcPts val="0"/>
              </a:spcAft>
              <a:buNone/>
            </a:pPr>
            <a:r>
              <a:t/>
            </a:r>
            <a:endParaRPr b="1" sz="3155">
              <a:solidFill>
                <a:srgbClr val="000000"/>
              </a:solidFill>
            </a:endParaRPr>
          </a:p>
          <a:p>
            <a:pPr indent="0" lvl="0" marL="0" rtl="0" algn="l">
              <a:spcBef>
                <a:spcPts val="400"/>
              </a:spcBef>
              <a:spcAft>
                <a:spcPts val="0"/>
              </a:spcAft>
              <a:buNone/>
            </a:pPr>
            <a:r>
              <a:t/>
            </a:r>
            <a:endParaRPr/>
          </a:p>
        </p:txBody>
      </p:sp>
      <p:graphicFrame>
        <p:nvGraphicFramePr>
          <p:cNvPr id="322" name="Google Shape;322;p44"/>
          <p:cNvGraphicFramePr/>
          <p:nvPr/>
        </p:nvGraphicFramePr>
        <p:xfrm>
          <a:off x="1309688" y="1819400"/>
          <a:ext cx="3000000" cy="3000000"/>
        </p:xfrm>
        <a:graphic>
          <a:graphicData uri="http://schemas.openxmlformats.org/drawingml/2006/table">
            <a:tbl>
              <a:tblPr>
                <a:solidFill>
                  <a:srgbClr val="FFFFFF"/>
                </a:solidFill>
                <a:tableStyleId>{69577998-B902-4363-BD42-2B2995AA7EB3}</a:tableStyleId>
              </a:tblPr>
              <a:tblGrid>
                <a:gridCol w="1304925"/>
                <a:gridCol w="5219700"/>
              </a:tblGrid>
              <a:tr h="371475">
                <a:tc gridSpan="2">
                  <a:txBody>
                    <a:bodyPr/>
                    <a:lstStyle/>
                    <a:p>
                      <a:pPr indent="0" lvl="0" marL="0" rtl="0" algn="ctr">
                        <a:lnSpc>
                          <a:spcPct val="115000"/>
                        </a:lnSpc>
                        <a:spcBef>
                          <a:spcPts val="0"/>
                        </a:spcBef>
                        <a:spcAft>
                          <a:spcPts val="0"/>
                        </a:spcAft>
                        <a:buNone/>
                      </a:pPr>
                      <a:r>
                        <a:rPr b="1" lang="ru" sz="1200">
                          <a:highlight>
                            <a:srgbClr val="D5A6BD"/>
                          </a:highlight>
                        </a:rPr>
                        <a:t>transition-delay</a:t>
                      </a:r>
                      <a:endParaRPr b="1" sz="1200">
                        <a:highlight>
                          <a:srgbClr val="D5A6BD"/>
                        </a:highlight>
                      </a:endParaRPr>
                    </a:p>
                  </a:txBody>
                  <a:tcPr marT="95250" marB="9525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hMerge="1"/>
              </a:tr>
              <a:tr h="314325">
                <a:tc>
                  <a:txBody>
                    <a:bodyPr/>
                    <a:lstStyle/>
                    <a:p>
                      <a:pPr indent="0" lvl="0" marL="0" rtl="0" algn="ctr">
                        <a:lnSpc>
                          <a:spcPct val="115000"/>
                        </a:lnSpc>
                        <a:spcBef>
                          <a:spcPts val="0"/>
                        </a:spcBef>
                        <a:spcAft>
                          <a:spcPts val="0"/>
                        </a:spcAft>
                        <a:buNone/>
                      </a:pPr>
                      <a:r>
                        <a:rPr b="1" lang="ru" sz="1200"/>
                        <a:t>Значения:</a:t>
                      </a:r>
                      <a:endParaRPr b="1"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ru" sz="1200"/>
                        <a:t>Описание</a:t>
                      </a:r>
                      <a:endParaRPr b="1"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4800">
                <a:tc>
                  <a:txBody>
                    <a:bodyPr/>
                    <a:lstStyle/>
                    <a:p>
                      <a:pPr indent="0" lvl="0" marL="0" rtl="0" algn="just">
                        <a:lnSpc>
                          <a:spcPct val="115000"/>
                        </a:lnSpc>
                        <a:spcBef>
                          <a:spcPts val="0"/>
                        </a:spcBef>
                        <a:spcAft>
                          <a:spcPts val="0"/>
                        </a:spcAft>
                        <a:buNone/>
                      </a:pPr>
                      <a:r>
                        <a:rPr lang="ru" sz="1200"/>
                        <a:t>время</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Время задержки перехода указывается в секундах или миллисекундах.</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4800">
                <a:tc>
                  <a:txBody>
                    <a:bodyPr/>
                    <a:lstStyle/>
                    <a:p>
                      <a:pPr indent="0" lvl="0" marL="0" rtl="0" algn="just">
                        <a:lnSpc>
                          <a:spcPct val="115000"/>
                        </a:lnSpc>
                        <a:spcBef>
                          <a:spcPts val="0"/>
                        </a:spcBef>
                        <a:spcAft>
                          <a:spcPts val="0"/>
                        </a:spcAft>
                        <a:buNone/>
                      </a:pPr>
                      <a:r>
                        <a:rPr lang="ru" sz="1200"/>
                        <a:t>initial</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Устанавливает значение свойства в значение по умолчанию.</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4325">
                <a:tc>
                  <a:txBody>
                    <a:bodyPr/>
                    <a:lstStyle/>
                    <a:p>
                      <a:pPr indent="0" lvl="0" marL="0" rtl="0" algn="just">
                        <a:lnSpc>
                          <a:spcPct val="115000"/>
                        </a:lnSpc>
                        <a:spcBef>
                          <a:spcPts val="0"/>
                        </a:spcBef>
                        <a:spcAft>
                          <a:spcPts val="0"/>
                        </a:spcAft>
                        <a:buNone/>
                      </a:pPr>
                      <a:r>
                        <a:rPr lang="ru" sz="1200"/>
                        <a:t>inherit</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Наследует значение свойства от родительского элемента.</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5"/>
          <p:cNvSpPr txBox="1"/>
          <p:nvPr>
            <p:ph type="title"/>
          </p:nvPr>
        </p:nvSpPr>
        <p:spPr>
          <a:xfrm>
            <a:off x="819150" y="544950"/>
            <a:ext cx="7505700" cy="9546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400"/>
              </a:spcBef>
              <a:spcAft>
                <a:spcPts val="0"/>
              </a:spcAft>
              <a:buNone/>
            </a:pPr>
            <a:r>
              <a:rPr b="1" lang="ru" sz="3155">
                <a:solidFill>
                  <a:srgbClr val="000000"/>
                </a:solidFill>
              </a:rPr>
              <a:t>2.5. </a:t>
            </a:r>
            <a:r>
              <a:rPr b="1" lang="ru" sz="3100">
                <a:solidFill>
                  <a:srgbClr val="303030"/>
                </a:solidFill>
                <a:highlight>
                  <a:srgbClr val="FFFFFF"/>
                </a:highlight>
              </a:rPr>
              <a:t>Краткая запись перехода</a:t>
            </a:r>
            <a:endParaRPr b="1" sz="3100">
              <a:solidFill>
                <a:srgbClr val="303030"/>
              </a:solidFill>
              <a:highlight>
                <a:srgbClr val="FFFFFF"/>
              </a:highlight>
            </a:endParaRPr>
          </a:p>
          <a:p>
            <a:pPr indent="0" lvl="0" marL="0" rtl="0" algn="l">
              <a:lnSpc>
                <a:spcPct val="115000"/>
              </a:lnSpc>
              <a:spcBef>
                <a:spcPts val="1400"/>
              </a:spcBef>
              <a:spcAft>
                <a:spcPts val="0"/>
              </a:spcAft>
              <a:buNone/>
            </a:pPr>
            <a:r>
              <a:t/>
            </a:r>
            <a:endParaRPr b="1" sz="3100">
              <a:solidFill>
                <a:srgbClr val="303030"/>
              </a:solidFill>
              <a:highlight>
                <a:srgbClr val="FFFFFF"/>
              </a:highlight>
            </a:endParaRPr>
          </a:p>
          <a:p>
            <a:pPr indent="0" lvl="0" marL="0" rtl="0" algn="l">
              <a:lnSpc>
                <a:spcPct val="115000"/>
              </a:lnSpc>
              <a:spcBef>
                <a:spcPts val="1400"/>
              </a:spcBef>
              <a:spcAft>
                <a:spcPts val="0"/>
              </a:spcAft>
              <a:buNone/>
            </a:pPr>
            <a:r>
              <a:t/>
            </a:r>
            <a:endParaRPr b="1" sz="3100">
              <a:solidFill>
                <a:srgbClr val="303030"/>
              </a:solidFill>
              <a:highlight>
                <a:srgbClr val="FFFFFF"/>
              </a:highlight>
            </a:endParaRPr>
          </a:p>
          <a:p>
            <a:pPr indent="0" lvl="0" marL="0" rtl="0" algn="l">
              <a:lnSpc>
                <a:spcPct val="115000"/>
              </a:lnSpc>
              <a:spcBef>
                <a:spcPts val="1400"/>
              </a:spcBef>
              <a:spcAft>
                <a:spcPts val="0"/>
              </a:spcAft>
              <a:buNone/>
            </a:pPr>
            <a:r>
              <a:t/>
            </a:r>
            <a:endParaRPr b="1" sz="3100">
              <a:solidFill>
                <a:srgbClr val="303030"/>
              </a:solidFill>
              <a:highlight>
                <a:srgbClr val="FFFFFF"/>
              </a:highlight>
            </a:endParaRPr>
          </a:p>
          <a:p>
            <a:pPr indent="0" lvl="0" marL="0" rtl="0" algn="l">
              <a:lnSpc>
                <a:spcPct val="115000"/>
              </a:lnSpc>
              <a:spcBef>
                <a:spcPts val="1400"/>
              </a:spcBef>
              <a:spcAft>
                <a:spcPts val="0"/>
              </a:spcAft>
              <a:buNone/>
            </a:pPr>
            <a:r>
              <a:t/>
            </a:r>
            <a:endParaRPr b="1" sz="3188">
              <a:solidFill>
                <a:srgbClr val="303030"/>
              </a:solidFill>
              <a:latin typeface="Trebuchet MS"/>
              <a:ea typeface="Trebuchet MS"/>
              <a:cs typeface="Trebuchet MS"/>
              <a:sym typeface="Trebuchet MS"/>
            </a:endParaRPr>
          </a:p>
          <a:p>
            <a:pPr indent="0" lvl="0" marL="0" rtl="0" algn="l">
              <a:lnSpc>
                <a:spcPct val="115000"/>
              </a:lnSpc>
              <a:spcBef>
                <a:spcPts val="1400"/>
              </a:spcBef>
              <a:spcAft>
                <a:spcPts val="0"/>
              </a:spcAft>
              <a:buNone/>
            </a:pPr>
            <a:r>
              <a:t/>
            </a:r>
            <a:endParaRPr b="1" sz="3155">
              <a:solidFill>
                <a:srgbClr val="000000"/>
              </a:solidFill>
            </a:endParaRPr>
          </a:p>
          <a:p>
            <a:pPr indent="0" lvl="0" marL="0" rtl="0" algn="l">
              <a:spcBef>
                <a:spcPts val="400"/>
              </a:spcBef>
              <a:spcAft>
                <a:spcPts val="0"/>
              </a:spcAft>
              <a:buNone/>
            </a:pPr>
            <a:r>
              <a:t/>
            </a:r>
            <a:endParaRPr/>
          </a:p>
        </p:txBody>
      </p:sp>
      <p:sp>
        <p:nvSpPr>
          <p:cNvPr id="328" name="Google Shape;328;p45"/>
          <p:cNvSpPr txBox="1"/>
          <p:nvPr>
            <p:ph idx="1" type="body"/>
          </p:nvPr>
        </p:nvSpPr>
        <p:spPr>
          <a:xfrm>
            <a:off x="648175" y="1499550"/>
            <a:ext cx="8070000" cy="2465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ru" sz="1500">
                <a:solidFill>
                  <a:srgbClr val="000000"/>
                </a:solidFill>
                <a:highlight>
                  <a:srgbClr val="FFFFFF"/>
                </a:highlight>
                <a:latin typeface="Arial"/>
                <a:ea typeface="Arial"/>
                <a:cs typeface="Arial"/>
                <a:sym typeface="Arial"/>
              </a:rPr>
              <a:t>Все свойства, отвечающие за изменение внешнего вида элемента, можно объединить в одно свойство</a:t>
            </a:r>
            <a:r>
              <a:rPr lang="ru" sz="1500">
                <a:solidFill>
                  <a:srgbClr val="000000"/>
                </a:solidFill>
                <a:highlight>
                  <a:srgbClr val="D5A6BD"/>
                </a:highlight>
                <a:latin typeface="Arial"/>
                <a:ea typeface="Arial"/>
                <a:cs typeface="Arial"/>
                <a:sym typeface="Arial"/>
              </a:rPr>
              <a:t> transition</a:t>
            </a:r>
            <a:br>
              <a:rPr lang="ru" sz="1500">
                <a:solidFill>
                  <a:srgbClr val="000000"/>
                </a:solidFill>
                <a:highlight>
                  <a:srgbClr val="D5A6BD"/>
                </a:highlight>
                <a:latin typeface="Arial"/>
                <a:ea typeface="Arial"/>
                <a:cs typeface="Arial"/>
                <a:sym typeface="Arial"/>
              </a:rPr>
            </a:br>
            <a:r>
              <a:rPr lang="ru" sz="1500">
                <a:solidFill>
                  <a:srgbClr val="000000"/>
                </a:solidFill>
                <a:highlight>
                  <a:srgbClr val="D5A6BD"/>
                </a:highlight>
                <a:latin typeface="Arial"/>
                <a:ea typeface="Arial"/>
                <a:cs typeface="Arial"/>
                <a:sym typeface="Arial"/>
              </a:rPr>
              <a:t>transition: transition-property transition-duration transition-timing-function transition-delay;</a:t>
            </a:r>
            <a:endParaRPr sz="1500">
              <a:solidFill>
                <a:srgbClr val="000000"/>
              </a:solidFill>
              <a:highlight>
                <a:srgbClr val="D5A6BD"/>
              </a:highlight>
              <a:latin typeface="Arial"/>
              <a:ea typeface="Arial"/>
              <a:cs typeface="Arial"/>
              <a:sym typeface="Arial"/>
            </a:endParaRPr>
          </a:p>
          <a:p>
            <a:pPr indent="0" lvl="0" marL="0" rtl="0" algn="l">
              <a:spcBef>
                <a:spcPts val="1100"/>
              </a:spcBef>
              <a:spcAft>
                <a:spcPts val="0"/>
              </a:spcAft>
              <a:buNone/>
            </a:pPr>
            <a:r>
              <a:rPr lang="ru" sz="1500">
                <a:solidFill>
                  <a:srgbClr val="000000"/>
                </a:solidFill>
                <a:highlight>
                  <a:srgbClr val="FFFFFF"/>
                </a:highlight>
                <a:latin typeface="Arial"/>
                <a:ea typeface="Arial"/>
                <a:cs typeface="Arial"/>
                <a:sym typeface="Arial"/>
              </a:rPr>
              <a:t>Если воспользоваться значениями по умолчанию, то запись</a:t>
            </a:r>
            <a:endParaRPr sz="1500">
              <a:solidFill>
                <a:srgbClr val="000000"/>
              </a:solidFill>
              <a:highlight>
                <a:srgbClr val="FFFFFF"/>
              </a:highlight>
              <a:latin typeface="Arial"/>
              <a:ea typeface="Arial"/>
              <a:cs typeface="Arial"/>
              <a:sym typeface="Arial"/>
            </a:endParaRPr>
          </a:p>
          <a:p>
            <a:pPr indent="0" lvl="0" marL="0" rtl="0" algn="just">
              <a:spcBef>
                <a:spcPts val="1100"/>
              </a:spcBef>
              <a:spcAft>
                <a:spcPts val="0"/>
              </a:spcAft>
              <a:buNone/>
            </a:pPr>
            <a:br>
              <a:rPr lang="ru" sz="1500">
                <a:solidFill>
                  <a:srgbClr val="303030"/>
                </a:solidFill>
                <a:latin typeface="Arial"/>
                <a:ea typeface="Arial"/>
                <a:cs typeface="Arial"/>
                <a:sym typeface="Arial"/>
              </a:rPr>
            </a:br>
            <a:br>
              <a:rPr lang="ru" sz="1500">
                <a:solidFill>
                  <a:srgbClr val="303030"/>
                </a:solidFill>
                <a:latin typeface="Arial"/>
                <a:ea typeface="Arial"/>
                <a:cs typeface="Arial"/>
                <a:sym typeface="Arial"/>
              </a:rPr>
            </a:br>
            <a:r>
              <a:rPr lang="ru" sz="1500">
                <a:solidFill>
                  <a:srgbClr val="303030"/>
                </a:solidFill>
                <a:highlight>
                  <a:srgbClr val="FFFFFF"/>
                </a:highlight>
                <a:latin typeface="Arial"/>
                <a:ea typeface="Arial"/>
                <a:cs typeface="Arial"/>
                <a:sym typeface="Arial"/>
              </a:rPr>
              <a:t>будет эквивалентна</a:t>
            </a:r>
            <a:endParaRPr sz="1500">
              <a:solidFill>
                <a:srgbClr val="303030"/>
              </a:solidFill>
              <a:latin typeface="Arial"/>
              <a:ea typeface="Arial"/>
              <a:cs typeface="Arial"/>
              <a:sym typeface="Arial"/>
            </a:endParaRPr>
          </a:p>
          <a:p>
            <a:pPr indent="0" lvl="0" marL="0" rtl="0" algn="just">
              <a:lnSpc>
                <a:spcPct val="95000"/>
              </a:lnSpc>
              <a:spcBef>
                <a:spcPts val="1100"/>
              </a:spcBef>
              <a:spcAft>
                <a:spcPts val="1200"/>
              </a:spcAft>
              <a:buSzPts val="523"/>
              <a:buNone/>
            </a:pPr>
            <a:r>
              <a:t/>
            </a:r>
            <a:endParaRPr sz="1500"/>
          </a:p>
        </p:txBody>
      </p:sp>
      <p:sp>
        <p:nvSpPr>
          <p:cNvPr id="329" name="Google Shape;329;p45"/>
          <p:cNvSpPr txBox="1"/>
          <p:nvPr/>
        </p:nvSpPr>
        <p:spPr>
          <a:xfrm>
            <a:off x="3475875" y="2953475"/>
            <a:ext cx="1883400" cy="36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190500" marR="190500" rtl="0" algn="l">
              <a:lnSpc>
                <a:spcPct val="150000"/>
              </a:lnSpc>
              <a:spcBef>
                <a:spcPts val="0"/>
              </a:spcBef>
              <a:spcAft>
                <a:spcPts val="2300"/>
              </a:spcAft>
              <a:buNone/>
            </a:pPr>
            <a:r>
              <a:rPr lang="ru" sz="1200">
                <a:solidFill>
                  <a:srgbClr val="669900"/>
                </a:solidFill>
                <a:highlight>
                  <a:srgbClr val="F5F5F5"/>
                </a:highlight>
              </a:rPr>
              <a:t>div</a:t>
            </a:r>
            <a:r>
              <a:rPr lang="ru" sz="1200">
                <a:solidFill>
                  <a:srgbClr val="303030"/>
                </a:solidFill>
                <a:highlight>
                  <a:srgbClr val="F5F5F5"/>
                </a:highlight>
              </a:rPr>
              <a:t> </a:t>
            </a:r>
            <a:r>
              <a:rPr lang="ru" sz="1200">
                <a:solidFill>
                  <a:srgbClr val="999999"/>
                </a:solidFill>
                <a:highlight>
                  <a:srgbClr val="F5F5F5"/>
                </a:highlight>
              </a:rPr>
              <a:t>{</a:t>
            </a:r>
            <a:r>
              <a:rPr lang="ru" sz="1200">
                <a:solidFill>
                  <a:srgbClr val="990055"/>
                </a:solidFill>
                <a:highlight>
                  <a:srgbClr val="F5F5F5"/>
                </a:highlight>
              </a:rPr>
              <a:t>transition</a:t>
            </a:r>
            <a:r>
              <a:rPr lang="ru" sz="1200">
                <a:solidFill>
                  <a:srgbClr val="999999"/>
                </a:solidFill>
                <a:highlight>
                  <a:srgbClr val="F5F5F5"/>
                </a:highlight>
              </a:rPr>
              <a:t>:</a:t>
            </a:r>
            <a:r>
              <a:rPr lang="ru" sz="1200">
                <a:solidFill>
                  <a:srgbClr val="303030"/>
                </a:solidFill>
                <a:highlight>
                  <a:srgbClr val="F5F5F5"/>
                </a:highlight>
              </a:rPr>
              <a:t> 1s</a:t>
            </a:r>
            <a:r>
              <a:rPr lang="ru" sz="1200">
                <a:solidFill>
                  <a:srgbClr val="999999"/>
                </a:solidFill>
                <a:highlight>
                  <a:srgbClr val="F5F5F5"/>
                </a:highlight>
              </a:rPr>
              <a:t>;}</a:t>
            </a:r>
            <a:endParaRPr sz="1200">
              <a:solidFill>
                <a:srgbClr val="669900"/>
              </a:solidFill>
              <a:highlight>
                <a:srgbClr val="F5F5F5"/>
              </a:highlight>
            </a:endParaRPr>
          </a:p>
        </p:txBody>
      </p:sp>
      <p:sp>
        <p:nvSpPr>
          <p:cNvPr id="330" name="Google Shape;330;p45"/>
          <p:cNvSpPr txBox="1"/>
          <p:nvPr/>
        </p:nvSpPr>
        <p:spPr>
          <a:xfrm>
            <a:off x="3051150" y="3846950"/>
            <a:ext cx="2664300" cy="36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190500" marR="190500" rtl="0" algn="ctr">
              <a:lnSpc>
                <a:spcPct val="150000"/>
              </a:lnSpc>
              <a:spcBef>
                <a:spcPts val="0"/>
              </a:spcBef>
              <a:spcAft>
                <a:spcPts val="2300"/>
              </a:spcAft>
              <a:buNone/>
            </a:pPr>
            <a:r>
              <a:rPr lang="ru" sz="1200">
                <a:solidFill>
                  <a:srgbClr val="669900"/>
                </a:solidFill>
                <a:highlight>
                  <a:srgbClr val="F5F5F5"/>
                </a:highlight>
              </a:rPr>
              <a:t>div</a:t>
            </a:r>
            <a:r>
              <a:rPr lang="ru" sz="1200">
                <a:solidFill>
                  <a:srgbClr val="303030"/>
                </a:solidFill>
                <a:highlight>
                  <a:srgbClr val="F5F5F5"/>
                </a:highlight>
              </a:rPr>
              <a:t> </a:t>
            </a:r>
            <a:r>
              <a:rPr lang="ru" sz="1200">
                <a:solidFill>
                  <a:srgbClr val="999999"/>
                </a:solidFill>
                <a:highlight>
                  <a:srgbClr val="F5F5F5"/>
                </a:highlight>
              </a:rPr>
              <a:t>{</a:t>
            </a:r>
            <a:r>
              <a:rPr lang="ru" sz="1200">
                <a:solidFill>
                  <a:srgbClr val="990055"/>
                </a:solidFill>
                <a:highlight>
                  <a:srgbClr val="F5F5F5"/>
                </a:highlight>
              </a:rPr>
              <a:t>transition</a:t>
            </a:r>
            <a:r>
              <a:rPr lang="ru" sz="1200">
                <a:solidFill>
                  <a:srgbClr val="999999"/>
                </a:solidFill>
                <a:highlight>
                  <a:srgbClr val="F5F5F5"/>
                </a:highlight>
              </a:rPr>
              <a:t>:</a:t>
            </a:r>
            <a:r>
              <a:rPr lang="ru" sz="1200">
                <a:solidFill>
                  <a:srgbClr val="303030"/>
                </a:solidFill>
                <a:highlight>
                  <a:srgbClr val="F5F5F5"/>
                </a:highlight>
              </a:rPr>
              <a:t> all 1s ease 0s</a:t>
            </a:r>
            <a:r>
              <a:rPr lang="ru" sz="1200">
                <a:solidFill>
                  <a:srgbClr val="999999"/>
                </a:solidFill>
                <a:highlight>
                  <a:srgbClr val="F5F5F5"/>
                </a:highlight>
              </a:rPr>
              <a:t>;}</a:t>
            </a:r>
            <a:endParaRPr sz="1200">
              <a:solidFill>
                <a:srgbClr val="999999"/>
              </a:solidFill>
              <a:highlight>
                <a:srgbClr val="F5F5F5"/>
              </a:high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6"/>
          <p:cNvSpPr txBox="1"/>
          <p:nvPr>
            <p:ph type="title"/>
          </p:nvPr>
        </p:nvSpPr>
        <p:spPr>
          <a:xfrm>
            <a:off x="819150" y="544950"/>
            <a:ext cx="7831500" cy="6702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400"/>
              </a:spcBef>
              <a:spcAft>
                <a:spcPts val="0"/>
              </a:spcAft>
              <a:buNone/>
            </a:pPr>
            <a:r>
              <a:rPr b="1" lang="ru" sz="3155">
                <a:solidFill>
                  <a:srgbClr val="000000"/>
                </a:solidFill>
              </a:rPr>
              <a:t>2.6. </a:t>
            </a:r>
            <a:r>
              <a:rPr b="1" lang="ru" sz="3100">
                <a:solidFill>
                  <a:srgbClr val="303030"/>
                </a:solidFill>
                <a:highlight>
                  <a:srgbClr val="FFFFFF"/>
                </a:highlight>
                <a:latin typeface="Arial"/>
                <a:ea typeface="Arial"/>
                <a:cs typeface="Arial"/>
                <a:sym typeface="Arial"/>
              </a:rPr>
              <a:t>Плавный переход нескольких свойств</a:t>
            </a:r>
            <a:endParaRPr b="1" sz="3100">
              <a:solidFill>
                <a:srgbClr val="303030"/>
              </a:solidFill>
              <a:highlight>
                <a:srgbClr val="FFFFFF"/>
              </a:highlight>
              <a:latin typeface="Arial"/>
              <a:ea typeface="Arial"/>
              <a:cs typeface="Arial"/>
              <a:sym typeface="Arial"/>
            </a:endParaRPr>
          </a:p>
          <a:p>
            <a:pPr indent="0" lvl="0" marL="0" rtl="0" algn="l">
              <a:lnSpc>
                <a:spcPct val="115000"/>
              </a:lnSpc>
              <a:spcBef>
                <a:spcPts val="1400"/>
              </a:spcBef>
              <a:spcAft>
                <a:spcPts val="0"/>
              </a:spcAft>
              <a:buNone/>
            </a:pPr>
            <a:r>
              <a:t/>
            </a:r>
            <a:endParaRPr b="1" sz="3100">
              <a:solidFill>
                <a:srgbClr val="303030"/>
              </a:solidFill>
              <a:highlight>
                <a:srgbClr val="FFFFFF"/>
              </a:highlight>
            </a:endParaRPr>
          </a:p>
          <a:p>
            <a:pPr indent="0" lvl="0" marL="0" rtl="0" algn="l">
              <a:lnSpc>
                <a:spcPct val="115000"/>
              </a:lnSpc>
              <a:spcBef>
                <a:spcPts val="1400"/>
              </a:spcBef>
              <a:spcAft>
                <a:spcPts val="0"/>
              </a:spcAft>
              <a:buNone/>
            </a:pPr>
            <a:r>
              <a:t/>
            </a:r>
            <a:endParaRPr b="1" sz="3100">
              <a:solidFill>
                <a:srgbClr val="303030"/>
              </a:solidFill>
              <a:highlight>
                <a:srgbClr val="FFFFFF"/>
              </a:highlight>
            </a:endParaRPr>
          </a:p>
          <a:p>
            <a:pPr indent="0" lvl="0" marL="0" rtl="0" algn="l">
              <a:lnSpc>
                <a:spcPct val="115000"/>
              </a:lnSpc>
              <a:spcBef>
                <a:spcPts val="1400"/>
              </a:spcBef>
              <a:spcAft>
                <a:spcPts val="0"/>
              </a:spcAft>
              <a:buNone/>
            </a:pPr>
            <a:r>
              <a:t/>
            </a:r>
            <a:endParaRPr b="1" sz="3100">
              <a:solidFill>
                <a:srgbClr val="303030"/>
              </a:solidFill>
              <a:highlight>
                <a:srgbClr val="FFFFFF"/>
              </a:highlight>
            </a:endParaRPr>
          </a:p>
          <a:p>
            <a:pPr indent="0" lvl="0" marL="0" rtl="0" algn="l">
              <a:lnSpc>
                <a:spcPct val="115000"/>
              </a:lnSpc>
              <a:spcBef>
                <a:spcPts val="1400"/>
              </a:spcBef>
              <a:spcAft>
                <a:spcPts val="0"/>
              </a:spcAft>
              <a:buNone/>
            </a:pPr>
            <a:r>
              <a:t/>
            </a:r>
            <a:endParaRPr b="1" sz="3188">
              <a:solidFill>
                <a:srgbClr val="303030"/>
              </a:solidFill>
              <a:latin typeface="Trebuchet MS"/>
              <a:ea typeface="Trebuchet MS"/>
              <a:cs typeface="Trebuchet MS"/>
              <a:sym typeface="Trebuchet MS"/>
            </a:endParaRPr>
          </a:p>
          <a:p>
            <a:pPr indent="0" lvl="0" marL="0" rtl="0" algn="l">
              <a:lnSpc>
                <a:spcPct val="115000"/>
              </a:lnSpc>
              <a:spcBef>
                <a:spcPts val="1400"/>
              </a:spcBef>
              <a:spcAft>
                <a:spcPts val="0"/>
              </a:spcAft>
              <a:buNone/>
            </a:pPr>
            <a:r>
              <a:t/>
            </a:r>
            <a:endParaRPr b="1" sz="3155">
              <a:solidFill>
                <a:srgbClr val="000000"/>
              </a:solidFill>
            </a:endParaRPr>
          </a:p>
          <a:p>
            <a:pPr indent="0" lvl="0" marL="0" rtl="0" algn="l">
              <a:spcBef>
                <a:spcPts val="400"/>
              </a:spcBef>
              <a:spcAft>
                <a:spcPts val="0"/>
              </a:spcAft>
              <a:buNone/>
            </a:pPr>
            <a:r>
              <a:t/>
            </a:r>
            <a:endParaRPr/>
          </a:p>
        </p:txBody>
      </p:sp>
      <p:sp>
        <p:nvSpPr>
          <p:cNvPr id="336" name="Google Shape;336;p46"/>
          <p:cNvSpPr txBox="1"/>
          <p:nvPr>
            <p:ph idx="1" type="body"/>
          </p:nvPr>
        </p:nvSpPr>
        <p:spPr>
          <a:xfrm>
            <a:off x="648175" y="1499550"/>
            <a:ext cx="8070000" cy="19236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ru" sz="1500">
                <a:solidFill>
                  <a:srgbClr val="303030"/>
                </a:solidFill>
                <a:highlight>
                  <a:srgbClr val="FFFFFF"/>
                </a:highlight>
                <a:latin typeface="Arial"/>
                <a:ea typeface="Arial"/>
                <a:cs typeface="Arial"/>
                <a:sym typeface="Arial"/>
              </a:rPr>
              <a:t>Для элемента можно задать несколько последовательных переходов, перечислив их через запятую. Каждый переход можно оформить своей временной функцией.</a:t>
            </a:r>
            <a:endParaRPr sz="1500">
              <a:solidFill>
                <a:srgbClr val="303030"/>
              </a:solidFill>
              <a:latin typeface="Arial"/>
              <a:ea typeface="Arial"/>
              <a:cs typeface="Arial"/>
              <a:sym typeface="Arial"/>
            </a:endParaRPr>
          </a:p>
          <a:p>
            <a:pPr indent="0" lvl="0" marL="0" rtl="0" algn="just">
              <a:lnSpc>
                <a:spcPct val="95000"/>
              </a:lnSpc>
              <a:spcBef>
                <a:spcPts val="1100"/>
              </a:spcBef>
              <a:spcAft>
                <a:spcPts val="0"/>
              </a:spcAft>
              <a:buSzPts val="523"/>
              <a:buNone/>
            </a:pPr>
            <a:r>
              <a:t/>
            </a:r>
            <a:endParaRPr sz="1500">
              <a:latin typeface="Arial"/>
              <a:ea typeface="Arial"/>
              <a:cs typeface="Arial"/>
              <a:sym typeface="Arial"/>
            </a:endParaRPr>
          </a:p>
          <a:p>
            <a:pPr indent="0" lvl="0" marL="0" rtl="0" algn="just">
              <a:lnSpc>
                <a:spcPct val="95000"/>
              </a:lnSpc>
              <a:spcBef>
                <a:spcPts val="1200"/>
              </a:spcBef>
              <a:spcAft>
                <a:spcPts val="0"/>
              </a:spcAft>
              <a:buSzPts val="523"/>
              <a:buNone/>
            </a:pPr>
            <a:r>
              <a:t/>
            </a:r>
            <a:endParaRPr sz="1500">
              <a:latin typeface="Arial"/>
              <a:ea typeface="Arial"/>
              <a:cs typeface="Arial"/>
              <a:sym typeface="Arial"/>
            </a:endParaRPr>
          </a:p>
          <a:p>
            <a:pPr indent="0" lvl="0" marL="0" rtl="0" algn="just">
              <a:lnSpc>
                <a:spcPct val="95000"/>
              </a:lnSpc>
              <a:spcBef>
                <a:spcPts val="1200"/>
              </a:spcBef>
              <a:spcAft>
                <a:spcPts val="1200"/>
              </a:spcAft>
              <a:buSzPts val="523"/>
              <a:buNone/>
            </a:pPr>
            <a:r>
              <a:rPr lang="ru" sz="1500">
                <a:solidFill>
                  <a:srgbClr val="303030"/>
                </a:solidFill>
                <a:highlight>
                  <a:srgbClr val="FFFFFF"/>
                </a:highlight>
                <a:latin typeface="Arial"/>
                <a:ea typeface="Arial"/>
                <a:cs typeface="Arial"/>
                <a:sym typeface="Arial"/>
              </a:rPr>
              <a:t>или</a:t>
            </a:r>
            <a:endParaRPr sz="1500">
              <a:latin typeface="Arial"/>
              <a:ea typeface="Arial"/>
              <a:cs typeface="Arial"/>
              <a:sym typeface="Arial"/>
            </a:endParaRPr>
          </a:p>
        </p:txBody>
      </p:sp>
      <p:sp>
        <p:nvSpPr>
          <p:cNvPr id="337" name="Google Shape;337;p46"/>
          <p:cNvSpPr txBox="1"/>
          <p:nvPr/>
        </p:nvSpPr>
        <p:spPr>
          <a:xfrm>
            <a:off x="2176950" y="2571750"/>
            <a:ext cx="4790100" cy="36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190500" marR="190500" rtl="0" algn="l">
              <a:lnSpc>
                <a:spcPct val="150000"/>
              </a:lnSpc>
              <a:spcBef>
                <a:spcPts val="0"/>
              </a:spcBef>
              <a:spcAft>
                <a:spcPts val="2300"/>
              </a:spcAft>
              <a:buNone/>
            </a:pPr>
            <a:r>
              <a:rPr lang="ru" sz="1200">
                <a:solidFill>
                  <a:srgbClr val="669900"/>
                </a:solidFill>
                <a:highlight>
                  <a:srgbClr val="F5F5F5"/>
                </a:highlight>
              </a:rPr>
              <a:t>div</a:t>
            </a:r>
            <a:r>
              <a:rPr lang="ru" sz="1200">
                <a:solidFill>
                  <a:srgbClr val="303030"/>
                </a:solidFill>
                <a:highlight>
                  <a:srgbClr val="F5F5F5"/>
                </a:highlight>
              </a:rPr>
              <a:t> </a:t>
            </a:r>
            <a:r>
              <a:rPr lang="ru" sz="1200">
                <a:solidFill>
                  <a:srgbClr val="999999"/>
                </a:solidFill>
                <a:highlight>
                  <a:srgbClr val="F5F5F5"/>
                </a:highlight>
              </a:rPr>
              <a:t>{</a:t>
            </a:r>
            <a:r>
              <a:rPr lang="ru" sz="1200">
                <a:solidFill>
                  <a:srgbClr val="990055"/>
                </a:solidFill>
                <a:highlight>
                  <a:srgbClr val="D5A6BD"/>
                </a:highlight>
              </a:rPr>
              <a:t>transition</a:t>
            </a:r>
            <a:r>
              <a:rPr lang="ru" sz="1200">
                <a:solidFill>
                  <a:srgbClr val="999999"/>
                </a:solidFill>
                <a:highlight>
                  <a:srgbClr val="D5A6BD"/>
                </a:highlight>
              </a:rPr>
              <a:t>:</a:t>
            </a:r>
            <a:r>
              <a:rPr lang="ru" sz="1200">
                <a:solidFill>
                  <a:srgbClr val="303030"/>
                </a:solidFill>
                <a:highlight>
                  <a:srgbClr val="F5F5F5"/>
                </a:highlight>
              </a:rPr>
              <a:t> background 0.3s ease</a:t>
            </a:r>
            <a:r>
              <a:rPr lang="ru" sz="1200">
                <a:solidFill>
                  <a:srgbClr val="999999"/>
                </a:solidFill>
                <a:highlight>
                  <a:srgbClr val="F5F5F5"/>
                </a:highlight>
              </a:rPr>
              <a:t>,</a:t>
            </a:r>
            <a:r>
              <a:rPr lang="ru" sz="1200">
                <a:solidFill>
                  <a:srgbClr val="303030"/>
                </a:solidFill>
                <a:highlight>
                  <a:srgbClr val="F5F5F5"/>
                </a:highlight>
              </a:rPr>
              <a:t> color 0.2s linear</a:t>
            </a:r>
            <a:r>
              <a:rPr lang="ru" sz="1200">
                <a:solidFill>
                  <a:srgbClr val="999999"/>
                </a:solidFill>
                <a:highlight>
                  <a:srgbClr val="F5F5F5"/>
                </a:highlight>
              </a:rPr>
              <a:t>;}</a:t>
            </a:r>
            <a:endParaRPr sz="1200">
              <a:solidFill>
                <a:srgbClr val="669900"/>
              </a:solidFill>
              <a:highlight>
                <a:srgbClr val="F5F5F5"/>
              </a:highlight>
            </a:endParaRPr>
          </a:p>
        </p:txBody>
      </p:sp>
      <p:sp>
        <p:nvSpPr>
          <p:cNvPr id="338" name="Google Shape;338;p46"/>
          <p:cNvSpPr txBox="1"/>
          <p:nvPr/>
        </p:nvSpPr>
        <p:spPr>
          <a:xfrm>
            <a:off x="2355950" y="3508650"/>
            <a:ext cx="4170000" cy="1108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ru" sz="1200">
                <a:solidFill>
                  <a:srgbClr val="669900"/>
                </a:solidFill>
                <a:highlight>
                  <a:srgbClr val="F5F5F5"/>
                </a:highlight>
              </a:rPr>
              <a:t>div</a:t>
            </a:r>
            <a:r>
              <a:rPr lang="ru" sz="1200">
                <a:solidFill>
                  <a:srgbClr val="303030"/>
                </a:solidFill>
                <a:highlight>
                  <a:srgbClr val="F5F5F5"/>
                </a:highlight>
              </a:rPr>
              <a:t> </a:t>
            </a:r>
            <a:r>
              <a:rPr lang="ru" sz="1200">
                <a:solidFill>
                  <a:srgbClr val="999999"/>
                </a:solidFill>
                <a:highlight>
                  <a:srgbClr val="F5F5F5"/>
                </a:highlight>
              </a:rPr>
              <a:t>{</a:t>
            </a:r>
            <a:endParaRPr sz="1200">
              <a:solidFill>
                <a:srgbClr val="303030"/>
              </a:solidFill>
              <a:highlight>
                <a:srgbClr val="F5F5F5"/>
              </a:highlight>
            </a:endParaRPr>
          </a:p>
          <a:p>
            <a:pPr indent="0" lvl="0" marL="0" rtl="0" algn="l">
              <a:spcBef>
                <a:spcPts val="0"/>
              </a:spcBef>
              <a:spcAft>
                <a:spcPts val="0"/>
              </a:spcAft>
              <a:buNone/>
            </a:pPr>
            <a:r>
              <a:rPr lang="ru" sz="1200">
                <a:solidFill>
                  <a:srgbClr val="990055"/>
                </a:solidFill>
                <a:highlight>
                  <a:srgbClr val="F5F5F5"/>
                </a:highlight>
              </a:rPr>
              <a:t>transition-property</a:t>
            </a:r>
            <a:r>
              <a:rPr lang="ru" sz="1200">
                <a:solidFill>
                  <a:srgbClr val="999999"/>
                </a:solidFill>
                <a:highlight>
                  <a:srgbClr val="F5F5F5"/>
                </a:highlight>
              </a:rPr>
              <a:t>:</a:t>
            </a:r>
            <a:r>
              <a:rPr lang="ru" sz="1200">
                <a:solidFill>
                  <a:srgbClr val="303030"/>
                </a:solidFill>
                <a:highlight>
                  <a:srgbClr val="F5F5F5"/>
                </a:highlight>
              </a:rPr>
              <a:t> height</a:t>
            </a:r>
            <a:r>
              <a:rPr lang="ru" sz="1200">
                <a:solidFill>
                  <a:srgbClr val="999999"/>
                </a:solidFill>
                <a:highlight>
                  <a:srgbClr val="F5F5F5"/>
                </a:highlight>
              </a:rPr>
              <a:t>,</a:t>
            </a:r>
            <a:r>
              <a:rPr lang="ru" sz="1200">
                <a:solidFill>
                  <a:srgbClr val="303030"/>
                </a:solidFill>
                <a:highlight>
                  <a:srgbClr val="F5F5F5"/>
                </a:highlight>
              </a:rPr>
              <a:t> width</a:t>
            </a:r>
            <a:r>
              <a:rPr lang="ru" sz="1200">
                <a:solidFill>
                  <a:srgbClr val="999999"/>
                </a:solidFill>
                <a:highlight>
                  <a:srgbClr val="F5F5F5"/>
                </a:highlight>
              </a:rPr>
              <a:t>,</a:t>
            </a:r>
            <a:r>
              <a:rPr lang="ru" sz="1200">
                <a:solidFill>
                  <a:srgbClr val="303030"/>
                </a:solidFill>
                <a:highlight>
                  <a:srgbClr val="F5F5F5"/>
                </a:highlight>
              </a:rPr>
              <a:t> background-color</a:t>
            </a:r>
            <a:r>
              <a:rPr lang="ru" sz="1200">
                <a:solidFill>
                  <a:srgbClr val="999999"/>
                </a:solidFill>
                <a:highlight>
                  <a:srgbClr val="F5F5F5"/>
                </a:highlight>
              </a:rPr>
              <a:t>;</a:t>
            </a:r>
            <a:endParaRPr sz="1200">
              <a:solidFill>
                <a:srgbClr val="303030"/>
              </a:solidFill>
              <a:highlight>
                <a:srgbClr val="F5F5F5"/>
              </a:highlight>
            </a:endParaRPr>
          </a:p>
          <a:p>
            <a:pPr indent="0" lvl="0" marL="0" rtl="0" algn="l">
              <a:spcBef>
                <a:spcPts val="0"/>
              </a:spcBef>
              <a:spcAft>
                <a:spcPts val="0"/>
              </a:spcAft>
              <a:buNone/>
            </a:pPr>
            <a:r>
              <a:rPr lang="ru" sz="1200">
                <a:solidFill>
                  <a:srgbClr val="990055"/>
                </a:solidFill>
                <a:highlight>
                  <a:srgbClr val="F5F5F5"/>
                </a:highlight>
              </a:rPr>
              <a:t>transition-duration</a:t>
            </a:r>
            <a:r>
              <a:rPr lang="ru" sz="1200">
                <a:solidFill>
                  <a:srgbClr val="999999"/>
                </a:solidFill>
                <a:highlight>
                  <a:srgbClr val="F5F5F5"/>
                </a:highlight>
              </a:rPr>
              <a:t>:</a:t>
            </a:r>
            <a:r>
              <a:rPr lang="ru" sz="1200">
                <a:solidFill>
                  <a:srgbClr val="303030"/>
                </a:solidFill>
                <a:highlight>
                  <a:srgbClr val="F5F5F5"/>
                </a:highlight>
              </a:rPr>
              <a:t> 3s</a:t>
            </a:r>
            <a:r>
              <a:rPr lang="ru" sz="1200">
                <a:solidFill>
                  <a:srgbClr val="999999"/>
                </a:solidFill>
                <a:highlight>
                  <a:srgbClr val="F5F5F5"/>
                </a:highlight>
              </a:rPr>
              <a:t>;</a:t>
            </a:r>
            <a:endParaRPr sz="1200">
              <a:solidFill>
                <a:srgbClr val="303030"/>
              </a:solidFill>
              <a:highlight>
                <a:srgbClr val="F5F5F5"/>
              </a:highlight>
            </a:endParaRPr>
          </a:p>
          <a:p>
            <a:pPr indent="0" lvl="0" marL="0" rtl="0" algn="l">
              <a:spcBef>
                <a:spcPts val="0"/>
              </a:spcBef>
              <a:spcAft>
                <a:spcPts val="0"/>
              </a:spcAft>
              <a:buNone/>
            </a:pPr>
            <a:r>
              <a:rPr lang="ru" sz="1200">
                <a:solidFill>
                  <a:srgbClr val="990055"/>
                </a:solidFill>
                <a:highlight>
                  <a:srgbClr val="F5F5F5"/>
                </a:highlight>
              </a:rPr>
              <a:t>transition-timing-function</a:t>
            </a:r>
            <a:r>
              <a:rPr lang="ru" sz="1200">
                <a:solidFill>
                  <a:srgbClr val="999999"/>
                </a:solidFill>
                <a:highlight>
                  <a:srgbClr val="F5F5F5"/>
                </a:highlight>
              </a:rPr>
              <a:t>:</a:t>
            </a:r>
            <a:r>
              <a:rPr lang="ru" sz="1200">
                <a:solidFill>
                  <a:srgbClr val="303030"/>
                </a:solidFill>
                <a:highlight>
                  <a:srgbClr val="F5F5F5"/>
                </a:highlight>
              </a:rPr>
              <a:t> ease-in</a:t>
            </a:r>
            <a:r>
              <a:rPr lang="ru" sz="1200">
                <a:solidFill>
                  <a:srgbClr val="999999"/>
                </a:solidFill>
                <a:highlight>
                  <a:srgbClr val="F5F5F5"/>
                </a:highlight>
              </a:rPr>
              <a:t>,</a:t>
            </a:r>
            <a:r>
              <a:rPr lang="ru" sz="1200">
                <a:solidFill>
                  <a:srgbClr val="303030"/>
                </a:solidFill>
                <a:highlight>
                  <a:srgbClr val="F5F5F5"/>
                </a:highlight>
              </a:rPr>
              <a:t> ease</a:t>
            </a:r>
            <a:r>
              <a:rPr lang="ru" sz="1200">
                <a:solidFill>
                  <a:srgbClr val="999999"/>
                </a:solidFill>
                <a:highlight>
                  <a:srgbClr val="F5F5F5"/>
                </a:highlight>
              </a:rPr>
              <a:t>,</a:t>
            </a:r>
            <a:r>
              <a:rPr lang="ru" sz="1200">
                <a:solidFill>
                  <a:srgbClr val="303030"/>
                </a:solidFill>
                <a:highlight>
                  <a:srgbClr val="F5F5F5"/>
                </a:highlight>
              </a:rPr>
              <a:t> linear</a:t>
            </a:r>
            <a:r>
              <a:rPr lang="ru" sz="1200">
                <a:solidFill>
                  <a:srgbClr val="999999"/>
                </a:solidFill>
                <a:highlight>
                  <a:srgbClr val="F5F5F5"/>
                </a:highlight>
              </a:rPr>
              <a:t>;</a:t>
            </a:r>
            <a:endParaRPr sz="1200">
              <a:solidFill>
                <a:srgbClr val="303030"/>
              </a:solidFill>
              <a:highlight>
                <a:srgbClr val="F5F5F5"/>
              </a:highlight>
            </a:endParaRPr>
          </a:p>
          <a:p>
            <a:pPr indent="0" lvl="0" marL="190500" marR="190500" rtl="0" algn="l">
              <a:lnSpc>
                <a:spcPct val="150000"/>
              </a:lnSpc>
              <a:spcBef>
                <a:spcPts val="0"/>
              </a:spcBef>
              <a:spcAft>
                <a:spcPts val="2300"/>
              </a:spcAft>
              <a:buNone/>
            </a:pPr>
            <a:r>
              <a:rPr lang="ru" sz="1200">
                <a:solidFill>
                  <a:srgbClr val="999999"/>
                </a:solidFill>
                <a:highlight>
                  <a:srgbClr val="F5F5F5"/>
                </a:highlight>
              </a:rPr>
              <a:t>}</a:t>
            </a:r>
            <a:endParaRPr sz="1200">
              <a:solidFill>
                <a:srgbClr val="999999"/>
              </a:solidFill>
              <a:highlight>
                <a:srgbClr val="F5F5F5"/>
              </a:high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7"/>
          <p:cNvSpPr txBox="1"/>
          <p:nvPr>
            <p:ph type="title"/>
          </p:nvPr>
        </p:nvSpPr>
        <p:spPr>
          <a:xfrm>
            <a:off x="453150" y="587900"/>
            <a:ext cx="8150100" cy="954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3. CSS АНИМАЦИИ</a:t>
            </a:r>
            <a:endParaRPr b="1" sz="2800">
              <a:solidFill>
                <a:srgbClr val="000000"/>
              </a:solidFill>
            </a:endParaRPr>
          </a:p>
          <a:p>
            <a:pPr indent="0" lvl="0" marL="0" rtl="0" algn="l">
              <a:spcBef>
                <a:spcPts val="400"/>
              </a:spcBef>
              <a:spcAft>
                <a:spcPts val="0"/>
              </a:spcAft>
              <a:buNone/>
            </a:pPr>
            <a:r>
              <a:t/>
            </a:r>
            <a:endParaRPr/>
          </a:p>
        </p:txBody>
      </p:sp>
      <p:sp>
        <p:nvSpPr>
          <p:cNvPr id="344" name="Google Shape;344;p47"/>
          <p:cNvSpPr txBox="1"/>
          <p:nvPr>
            <p:ph idx="1" type="body"/>
          </p:nvPr>
        </p:nvSpPr>
        <p:spPr>
          <a:xfrm>
            <a:off x="515025" y="1400125"/>
            <a:ext cx="8021700" cy="29781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ru" sz="1500">
                <a:solidFill>
                  <a:srgbClr val="303030"/>
                </a:solidFill>
                <a:highlight>
                  <a:srgbClr val="D5A6BD"/>
                </a:highlight>
                <a:latin typeface="Arial"/>
                <a:ea typeface="Arial"/>
                <a:cs typeface="Arial"/>
                <a:sym typeface="Arial"/>
              </a:rPr>
              <a:t>CSS-анимация</a:t>
            </a:r>
            <a:r>
              <a:rPr lang="ru" sz="1500">
                <a:solidFill>
                  <a:srgbClr val="303030"/>
                </a:solidFill>
                <a:highlight>
                  <a:srgbClr val="D5A6BD"/>
                </a:highlight>
                <a:latin typeface="Arial"/>
                <a:ea typeface="Arial"/>
                <a:cs typeface="Arial"/>
                <a:sym typeface="Arial"/>
              </a:rPr>
              <a:t> </a:t>
            </a:r>
            <a:r>
              <a:rPr lang="ru" sz="1500">
                <a:solidFill>
                  <a:srgbClr val="303030"/>
                </a:solidFill>
                <a:highlight>
                  <a:srgbClr val="FFFFFF"/>
                </a:highlight>
                <a:latin typeface="Arial"/>
                <a:ea typeface="Arial"/>
                <a:cs typeface="Arial"/>
                <a:sym typeface="Arial"/>
              </a:rPr>
              <a:t>придаёт сайтам динамичность. Она оживляет веб-страницы, улучшая взаимодействие с пользователем. В отличие от CSS-переходов, создание анимации базируется на ключевых кадрах, которые позволяют автоматически воспроизводить и повторять эффекты на протяжении заданного времени, а также останавливать анимацию внутри цикла.</a:t>
            </a:r>
            <a:endParaRPr sz="1500">
              <a:solidFill>
                <a:srgbClr val="303030"/>
              </a:solidFill>
              <a:highlight>
                <a:srgbClr val="FFFFFF"/>
              </a:highlight>
              <a:latin typeface="Arial"/>
              <a:ea typeface="Arial"/>
              <a:cs typeface="Arial"/>
              <a:sym typeface="Arial"/>
            </a:endParaRPr>
          </a:p>
          <a:p>
            <a:pPr indent="0" lvl="0" marL="0" rtl="0" algn="just">
              <a:spcBef>
                <a:spcPts val="1100"/>
              </a:spcBef>
              <a:spcAft>
                <a:spcPts val="0"/>
              </a:spcAft>
              <a:buNone/>
            </a:pPr>
            <a:r>
              <a:rPr b="1" lang="ru" sz="1500">
                <a:solidFill>
                  <a:srgbClr val="303030"/>
                </a:solidFill>
                <a:highlight>
                  <a:srgbClr val="D5A6BD"/>
                </a:highlight>
                <a:latin typeface="Arial"/>
                <a:ea typeface="Arial"/>
                <a:cs typeface="Arial"/>
                <a:sym typeface="Arial"/>
              </a:rPr>
              <a:t>CSS-анимация </a:t>
            </a:r>
            <a:r>
              <a:rPr lang="ru" sz="1500">
                <a:solidFill>
                  <a:srgbClr val="303030"/>
                </a:solidFill>
                <a:highlight>
                  <a:srgbClr val="FFFFFF"/>
                </a:highlight>
                <a:latin typeface="Arial"/>
                <a:ea typeface="Arial"/>
                <a:cs typeface="Arial"/>
                <a:sym typeface="Arial"/>
              </a:rPr>
              <a:t>может применяться практически для всех html-элементов, а также для псевдоэлементов </a:t>
            </a:r>
            <a:r>
              <a:rPr lang="ru" sz="1500">
                <a:solidFill>
                  <a:srgbClr val="303030"/>
                </a:solidFill>
                <a:highlight>
                  <a:srgbClr val="F2F2F2"/>
                </a:highlight>
                <a:latin typeface="Arial"/>
                <a:ea typeface="Arial"/>
                <a:cs typeface="Arial"/>
                <a:sym typeface="Arial"/>
              </a:rPr>
              <a:t>:before</a:t>
            </a:r>
            <a:r>
              <a:rPr lang="ru" sz="1500">
                <a:solidFill>
                  <a:srgbClr val="303030"/>
                </a:solidFill>
                <a:highlight>
                  <a:srgbClr val="FFFFFF"/>
                </a:highlight>
                <a:latin typeface="Arial"/>
                <a:ea typeface="Arial"/>
                <a:cs typeface="Arial"/>
                <a:sym typeface="Arial"/>
              </a:rPr>
              <a:t> и </a:t>
            </a:r>
            <a:r>
              <a:rPr lang="ru" sz="1500">
                <a:solidFill>
                  <a:srgbClr val="303030"/>
                </a:solidFill>
                <a:highlight>
                  <a:srgbClr val="F2F2F2"/>
                </a:highlight>
                <a:latin typeface="Arial"/>
                <a:ea typeface="Arial"/>
                <a:cs typeface="Arial"/>
                <a:sym typeface="Arial"/>
              </a:rPr>
              <a:t>:after</a:t>
            </a:r>
            <a:r>
              <a:rPr lang="ru" sz="1500">
                <a:solidFill>
                  <a:srgbClr val="303030"/>
                </a:solidFill>
                <a:highlight>
                  <a:srgbClr val="FFFFFF"/>
                </a:highlight>
                <a:latin typeface="Arial"/>
                <a:ea typeface="Arial"/>
                <a:cs typeface="Arial"/>
                <a:sym typeface="Arial"/>
              </a:rPr>
              <a:t>. </a:t>
            </a:r>
            <a:endParaRPr sz="1500">
              <a:solidFill>
                <a:srgbClr val="303030"/>
              </a:solidFill>
              <a:highlight>
                <a:srgbClr val="FFFFFF"/>
              </a:highlight>
              <a:latin typeface="Arial"/>
              <a:ea typeface="Arial"/>
              <a:cs typeface="Arial"/>
              <a:sym typeface="Arial"/>
            </a:endParaRPr>
          </a:p>
          <a:p>
            <a:pPr indent="0" lvl="0" marL="0" rtl="0" algn="l">
              <a:spcBef>
                <a:spcPts val="1100"/>
              </a:spcBef>
              <a:spcAft>
                <a:spcPts val="1200"/>
              </a:spcAft>
              <a:buNone/>
            </a:pPr>
            <a:r>
              <a:t/>
            </a:r>
            <a:endParaRPr b="1" sz="1500">
              <a:solidFill>
                <a:srgbClr val="000000"/>
              </a:solidFill>
              <a:latin typeface="Courier New"/>
              <a:ea typeface="Courier New"/>
              <a:cs typeface="Courier New"/>
              <a:sym typeface="Courier New"/>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8"/>
          <p:cNvSpPr txBox="1"/>
          <p:nvPr>
            <p:ph type="title"/>
          </p:nvPr>
        </p:nvSpPr>
        <p:spPr>
          <a:xfrm>
            <a:off x="453150" y="587900"/>
            <a:ext cx="8150100" cy="954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3.1. </a:t>
            </a:r>
            <a:r>
              <a:rPr b="1" lang="ru" sz="2800">
                <a:solidFill>
                  <a:srgbClr val="303030"/>
                </a:solidFill>
                <a:highlight>
                  <a:srgbClr val="FFFFFF"/>
                </a:highlight>
              </a:rPr>
              <a:t>Ключевые кадры</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000000"/>
              </a:solidFill>
            </a:endParaRPr>
          </a:p>
          <a:p>
            <a:pPr indent="0" lvl="0" marL="0" rtl="0" algn="l">
              <a:spcBef>
                <a:spcPts val="400"/>
              </a:spcBef>
              <a:spcAft>
                <a:spcPts val="0"/>
              </a:spcAft>
              <a:buNone/>
            </a:pPr>
            <a:r>
              <a:t/>
            </a:r>
            <a:endParaRPr/>
          </a:p>
        </p:txBody>
      </p:sp>
      <p:sp>
        <p:nvSpPr>
          <p:cNvPr id="350" name="Google Shape;350;p48"/>
          <p:cNvSpPr txBox="1"/>
          <p:nvPr>
            <p:ph idx="1" type="body"/>
          </p:nvPr>
        </p:nvSpPr>
        <p:spPr>
          <a:xfrm>
            <a:off x="340250" y="1172050"/>
            <a:ext cx="8557200" cy="3656400"/>
          </a:xfrm>
          <a:prstGeom prst="rect">
            <a:avLst/>
          </a:prstGeom>
        </p:spPr>
        <p:txBody>
          <a:bodyPr anchorCtr="0" anchor="t" bIns="91425" lIns="91425" spcFirstLastPara="1" rIns="91425" wrap="square" tIns="91425">
            <a:normAutofit/>
          </a:bodyPr>
          <a:lstStyle/>
          <a:p>
            <a:pPr indent="0" lvl="0" marL="0" rtl="0" algn="just">
              <a:lnSpc>
                <a:spcPct val="95000"/>
              </a:lnSpc>
              <a:spcBef>
                <a:spcPts val="0"/>
              </a:spcBef>
              <a:spcAft>
                <a:spcPts val="0"/>
              </a:spcAft>
              <a:buSzPts val="1018"/>
              <a:buNone/>
            </a:pPr>
            <a:r>
              <a:rPr lang="ru" sz="1518">
                <a:solidFill>
                  <a:srgbClr val="303030"/>
                </a:solidFill>
                <a:latin typeface="Arial"/>
                <a:ea typeface="Arial"/>
                <a:cs typeface="Arial"/>
                <a:sym typeface="Arial"/>
              </a:rPr>
              <a:t>Ключевые кадры используются для указания значений свойств анимации в различных точках анимации. Ключевые кадры определяют поведение одного цикла анимации; анимация может повторяться ноль или более раз.</a:t>
            </a:r>
            <a:endParaRPr sz="1518">
              <a:solidFill>
                <a:srgbClr val="303030"/>
              </a:solidFill>
              <a:latin typeface="Arial"/>
              <a:ea typeface="Arial"/>
              <a:cs typeface="Arial"/>
              <a:sym typeface="Arial"/>
            </a:endParaRPr>
          </a:p>
          <a:p>
            <a:pPr indent="0" lvl="0" marL="0" rtl="0" algn="just">
              <a:lnSpc>
                <a:spcPct val="95000"/>
              </a:lnSpc>
              <a:spcBef>
                <a:spcPts val="1100"/>
              </a:spcBef>
              <a:spcAft>
                <a:spcPts val="0"/>
              </a:spcAft>
              <a:buSzPts val="1018"/>
              <a:buNone/>
            </a:pPr>
            <a:r>
              <a:rPr lang="ru" sz="1518">
                <a:solidFill>
                  <a:srgbClr val="303030"/>
                </a:solidFill>
                <a:latin typeface="Arial"/>
                <a:ea typeface="Arial"/>
                <a:cs typeface="Arial"/>
                <a:sym typeface="Arial"/>
              </a:rPr>
              <a:t>Ключевые кадры указываются с помощью правила </a:t>
            </a:r>
            <a:r>
              <a:rPr lang="ru" sz="1518">
                <a:solidFill>
                  <a:srgbClr val="303030"/>
                </a:solidFill>
                <a:highlight>
                  <a:srgbClr val="D5A6BD"/>
                </a:highlight>
                <a:latin typeface="Arial"/>
                <a:ea typeface="Arial"/>
                <a:cs typeface="Arial"/>
                <a:sym typeface="Arial"/>
              </a:rPr>
              <a:t>@keyframes</a:t>
            </a:r>
            <a:r>
              <a:rPr lang="ru" sz="1518">
                <a:solidFill>
                  <a:srgbClr val="303030"/>
                </a:solidFill>
                <a:latin typeface="Arial"/>
                <a:ea typeface="Arial"/>
                <a:cs typeface="Arial"/>
                <a:sym typeface="Arial"/>
              </a:rPr>
              <a:t>, определяемого следующим образом:</a:t>
            </a:r>
            <a:endParaRPr sz="1518">
              <a:solidFill>
                <a:srgbClr val="303030"/>
              </a:solidFill>
              <a:latin typeface="Arial"/>
              <a:ea typeface="Arial"/>
              <a:cs typeface="Arial"/>
              <a:sym typeface="Arial"/>
            </a:endParaRPr>
          </a:p>
          <a:p>
            <a:pPr indent="0" lvl="0" marL="190500" marR="190500" rtl="0" algn="just">
              <a:lnSpc>
                <a:spcPct val="130000"/>
              </a:lnSpc>
              <a:spcBef>
                <a:spcPts val="1100"/>
              </a:spcBef>
              <a:spcAft>
                <a:spcPts val="0"/>
              </a:spcAft>
              <a:buSzPts val="1018"/>
              <a:buNone/>
            </a:pPr>
            <a:r>
              <a:rPr lang="ru" sz="1518">
                <a:solidFill>
                  <a:srgbClr val="0077AA"/>
                </a:solidFill>
                <a:highlight>
                  <a:srgbClr val="D5A6BD"/>
                </a:highlight>
                <a:latin typeface="Arial"/>
                <a:ea typeface="Arial"/>
                <a:cs typeface="Arial"/>
                <a:sym typeface="Arial"/>
              </a:rPr>
              <a:t>@keyframes</a:t>
            </a:r>
            <a:r>
              <a:rPr lang="ru" sz="1518">
                <a:solidFill>
                  <a:srgbClr val="0077AA"/>
                </a:solidFill>
                <a:latin typeface="Arial"/>
                <a:ea typeface="Arial"/>
                <a:cs typeface="Arial"/>
                <a:sym typeface="Arial"/>
              </a:rPr>
              <a:t> имя анимации</a:t>
            </a:r>
            <a:r>
              <a:rPr lang="ru" sz="1518">
                <a:solidFill>
                  <a:srgbClr val="303030"/>
                </a:solidFill>
                <a:latin typeface="Arial"/>
                <a:ea typeface="Arial"/>
                <a:cs typeface="Arial"/>
                <a:sym typeface="Arial"/>
              </a:rPr>
              <a:t> </a:t>
            </a:r>
            <a:r>
              <a:rPr lang="ru" sz="1518">
                <a:solidFill>
                  <a:srgbClr val="999999"/>
                </a:solidFill>
                <a:latin typeface="Arial"/>
                <a:ea typeface="Arial"/>
                <a:cs typeface="Arial"/>
                <a:sym typeface="Arial"/>
              </a:rPr>
              <a:t>{</a:t>
            </a:r>
            <a:r>
              <a:rPr lang="ru" sz="1518">
                <a:solidFill>
                  <a:srgbClr val="303030"/>
                </a:solidFill>
                <a:latin typeface="Arial"/>
                <a:ea typeface="Arial"/>
                <a:cs typeface="Arial"/>
                <a:sym typeface="Arial"/>
              </a:rPr>
              <a:t> список правил </a:t>
            </a:r>
            <a:r>
              <a:rPr lang="ru" sz="1518">
                <a:solidFill>
                  <a:srgbClr val="999999"/>
                </a:solidFill>
                <a:latin typeface="Arial"/>
                <a:ea typeface="Arial"/>
                <a:cs typeface="Arial"/>
                <a:sym typeface="Arial"/>
              </a:rPr>
              <a:t>}</a:t>
            </a:r>
            <a:endParaRPr sz="1518">
              <a:solidFill>
                <a:srgbClr val="303030"/>
              </a:solidFill>
              <a:latin typeface="Arial"/>
              <a:ea typeface="Arial"/>
              <a:cs typeface="Arial"/>
              <a:sym typeface="Arial"/>
            </a:endParaRPr>
          </a:p>
          <a:p>
            <a:pPr indent="0" lvl="0" marL="0" rtl="0" algn="just">
              <a:lnSpc>
                <a:spcPct val="95000"/>
              </a:lnSpc>
              <a:spcBef>
                <a:spcPts val="2300"/>
              </a:spcBef>
              <a:spcAft>
                <a:spcPts val="1100"/>
              </a:spcAft>
              <a:buSzPts val="1018"/>
              <a:buNone/>
            </a:pPr>
            <a:r>
              <a:rPr lang="ru" sz="1518">
                <a:solidFill>
                  <a:srgbClr val="303030"/>
                </a:solidFill>
                <a:latin typeface="Arial"/>
                <a:ea typeface="Arial"/>
                <a:cs typeface="Arial"/>
                <a:sym typeface="Arial"/>
              </a:rPr>
              <a:t>Создание анимации начинается с установки </a:t>
            </a:r>
            <a:r>
              <a:rPr b="1" lang="ru" sz="1518">
                <a:solidFill>
                  <a:srgbClr val="303030"/>
                </a:solidFill>
                <a:latin typeface="Arial"/>
                <a:ea typeface="Arial"/>
                <a:cs typeface="Arial"/>
                <a:sym typeface="Arial"/>
              </a:rPr>
              <a:t>ключевых кадров</a:t>
            </a:r>
            <a:r>
              <a:rPr lang="ru" sz="1518">
                <a:solidFill>
                  <a:srgbClr val="303030"/>
                </a:solidFill>
                <a:latin typeface="Arial"/>
                <a:ea typeface="Arial"/>
                <a:cs typeface="Arial"/>
                <a:sym typeface="Arial"/>
              </a:rPr>
              <a:t> правила </a:t>
            </a:r>
            <a:r>
              <a:rPr lang="ru" sz="1518">
                <a:solidFill>
                  <a:srgbClr val="303030"/>
                </a:solidFill>
                <a:highlight>
                  <a:srgbClr val="D5A6BD"/>
                </a:highlight>
                <a:latin typeface="Arial"/>
                <a:ea typeface="Arial"/>
                <a:cs typeface="Arial"/>
                <a:sym typeface="Arial"/>
              </a:rPr>
              <a:t>@keyframes.</a:t>
            </a:r>
            <a:r>
              <a:rPr lang="ru" sz="1518">
                <a:solidFill>
                  <a:srgbClr val="303030"/>
                </a:solidFill>
                <a:latin typeface="Arial"/>
                <a:ea typeface="Arial"/>
                <a:cs typeface="Arial"/>
                <a:sym typeface="Arial"/>
              </a:rPr>
              <a:t> Кадры определяют, какие свойства на каком шаге будут анимированы. Каждый кадр может включать один или более блоков объявления из одного или более пар свойств и значений. Правило </a:t>
            </a:r>
            <a:r>
              <a:rPr lang="ru" sz="1518">
                <a:solidFill>
                  <a:srgbClr val="303030"/>
                </a:solidFill>
                <a:highlight>
                  <a:srgbClr val="D5A6BD"/>
                </a:highlight>
                <a:latin typeface="Arial"/>
                <a:ea typeface="Arial"/>
                <a:cs typeface="Arial"/>
                <a:sym typeface="Arial"/>
              </a:rPr>
              <a:t>@keyframes</a:t>
            </a:r>
            <a:r>
              <a:rPr lang="ru" sz="1518">
                <a:solidFill>
                  <a:srgbClr val="303030"/>
                </a:solidFill>
                <a:latin typeface="Arial"/>
                <a:ea typeface="Arial"/>
                <a:cs typeface="Arial"/>
                <a:sym typeface="Arial"/>
              </a:rPr>
              <a:t> содержит имя анимации элемента, которое связывает правило и блок объявления элемента.</a:t>
            </a:r>
            <a:endParaRPr b="1" sz="1287">
              <a:solidFill>
                <a:srgbClr val="000000"/>
              </a:solidFill>
              <a:latin typeface="Courier New"/>
              <a:ea typeface="Courier New"/>
              <a:cs typeface="Courier New"/>
              <a:sym typeface="Courier New"/>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9"/>
          <p:cNvSpPr txBox="1"/>
          <p:nvPr>
            <p:ph type="title"/>
          </p:nvPr>
        </p:nvSpPr>
        <p:spPr>
          <a:xfrm>
            <a:off x="453150" y="587900"/>
            <a:ext cx="8150100" cy="954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3.1. </a:t>
            </a:r>
            <a:r>
              <a:rPr b="1" lang="ru" sz="2800">
                <a:solidFill>
                  <a:srgbClr val="303030"/>
                </a:solidFill>
                <a:highlight>
                  <a:srgbClr val="FFFFFF"/>
                </a:highlight>
              </a:rPr>
              <a:t>Ключевые кадры</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000000"/>
              </a:solidFill>
            </a:endParaRPr>
          </a:p>
          <a:p>
            <a:pPr indent="0" lvl="0" marL="0" rtl="0" algn="l">
              <a:spcBef>
                <a:spcPts val="400"/>
              </a:spcBef>
              <a:spcAft>
                <a:spcPts val="0"/>
              </a:spcAft>
              <a:buNone/>
            </a:pPr>
            <a:r>
              <a:t/>
            </a:r>
            <a:endParaRPr/>
          </a:p>
        </p:txBody>
      </p:sp>
      <p:sp>
        <p:nvSpPr>
          <p:cNvPr id="356" name="Google Shape;356;p49"/>
          <p:cNvSpPr txBox="1"/>
          <p:nvPr>
            <p:ph idx="1" type="body"/>
          </p:nvPr>
        </p:nvSpPr>
        <p:spPr>
          <a:xfrm>
            <a:off x="340250" y="1172050"/>
            <a:ext cx="8557200" cy="365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018"/>
              <a:buNone/>
            </a:pPr>
            <a:r>
              <a:rPr lang="ru" sz="1500">
                <a:solidFill>
                  <a:srgbClr val="0077AA"/>
                </a:solidFill>
                <a:highlight>
                  <a:srgbClr val="D5A6BD"/>
                </a:highlight>
                <a:latin typeface="Arial"/>
                <a:ea typeface="Arial"/>
                <a:cs typeface="Arial"/>
                <a:sym typeface="Arial"/>
              </a:rPr>
              <a:t>@keyframes</a:t>
            </a:r>
            <a:r>
              <a:rPr lang="ru" sz="1500">
                <a:solidFill>
                  <a:srgbClr val="0077AA"/>
                </a:solidFill>
                <a:latin typeface="Arial"/>
                <a:ea typeface="Arial"/>
                <a:cs typeface="Arial"/>
                <a:sym typeface="Arial"/>
              </a:rPr>
              <a:t> shadow</a:t>
            </a:r>
            <a:r>
              <a:rPr lang="ru" sz="1500">
                <a:solidFill>
                  <a:srgbClr val="303030"/>
                </a:solidFill>
                <a:latin typeface="Arial"/>
                <a:ea typeface="Arial"/>
                <a:cs typeface="Arial"/>
                <a:sym typeface="Arial"/>
              </a:rPr>
              <a:t> </a:t>
            </a:r>
            <a:r>
              <a:rPr lang="ru" sz="1500">
                <a:solidFill>
                  <a:srgbClr val="999999"/>
                </a:solidFill>
                <a:latin typeface="Arial"/>
                <a:ea typeface="Arial"/>
                <a:cs typeface="Arial"/>
                <a:sym typeface="Arial"/>
              </a:rPr>
              <a:t>{</a:t>
            </a:r>
            <a:endParaRPr sz="1500">
              <a:solidFill>
                <a:srgbClr val="303030"/>
              </a:solidFill>
              <a:latin typeface="Arial"/>
              <a:ea typeface="Arial"/>
              <a:cs typeface="Arial"/>
              <a:sym typeface="Arial"/>
            </a:endParaRPr>
          </a:p>
          <a:p>
            <a:pPr indent="0" lvl="0" marL="0" rtl="0" algn="l">
              <a:lnSpc>
                <a:spcPct val="95000"/>
              </a:lnSpc>
              <a:spcBef>
                <a:spcPts val="1100"/>
              </a:spcBef>
              <a:spcAft>
                <a:spcPts val="0"/>
              </a:spcAft>
              <a:buSzPts val="1018"/>
              <a:buNone/>
            </a:pPr>
            <a:r>
              <a:rPr lang="ru" sz="1500">
                <a:solidFill>
                  <a:srgbClr val="669900"/>
                </a:solidFill>
                <a:latin typeface="Arial"/>
                <a:ea typeface="Arial"/>
                <a:cs typeface="Arial"/>
                <a:sym typeface="Arial"/>
              </a:rPr>
              <a:t>from</a:t>
            </a:r>
            <a:r>
              <a:rPr lang="ru" sz="1500">
                <a:solidFill>
                  <a:srgbClr val="303030"/>
                </a:solidFill>
                <a:latin typeface="Arial"/>
                <a:ea typeface="Arial"/>
                <a:cs typeface="Arial"/>
                <a:sym typeface="Arial"/>
              </a:rPr>
              <a:t> </a:t>
            </a:r>
            <a:r>
              <a:rPr lang="ru" sz="1500">
                <a:solidFill>
                  <a:srgbClr val="999999"/>
                </a:solidFill>
                <a:latin typeface="Arial"/>
                <a:ea typeface="Arial"/>
                <a:cs typeface="Arial"/>
                <a:sym typeface="Arial"/>
              </a:rPr>
              <a:t>{</a:t>
            </a:r>
            <a:r>
              <a:rPr lang="ru" sz="1500">
                <a:solidFill>
                  <a:srgbClr val="990055"/>
                </a:solidFill>
                <a:latin typeface="Arial"/>
                <a:ea typeface="Arial"/>
                <a:cs typeface="Arial"/>
                <a:sym typeface="Arial"/>
              </a:rPr>
              <a:t>text-shadow</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0 0 3px black</a:t>
            </a:r>
            <a:r>
              <a:rPr lang="ru" sz="1500">
                <a:solidFill>
                  <a:srgbClr val="999999"/>
                </a:solidFill>
                <a:latin typeface="Arial"/>
                <a:ea typeface="Arial"/>
                <a:cs typeface="Arial"/>
                <a:sym typeface="Arial"/>
              </a:rPr>
              <a:t>;}</a:t>
            </a:r>
            <a:endParaRPr sz="1500">
              <a:solidFill>
                <a:srgbClr val="303030"/>
              </a:solidFill>
              <a:latin typeface="Arial"/>
              <a:ea typeface="Arial"/>
              <a:cs typeface="Arial"/>
              <a:sym typeface="Arial"/>
            </a:endParaRPr>
          </a:p>
          <a:p>
            <a:pPr indent="0" lvl="0" marL="0" rtl="0" algn="l">
              <a:lnSpc>
                <a:spcPct val="95000"/>
              </a:lnSpc>
              <a:spcBef>
                <a:spcPts val="1100"/>
              </a:spcBef>
              <a:spcAft>
                <a:spcPts val="0"/>
              </a:spcAft>
              <a:buSzPts val="1018"/>
              <a:buNone/>
            </a:pPr>
            <a:r>
              <a:rPr lang="ru" sz="1500">
                <a:solidFill>
                  <a:srgbClr val="669900"/>
                </a:solidFill>
                <a:latin typeface="Arial"/>
                <a:ea typeface="Arial"/>
                <a:cs typeface="Arial"/>
                <a:sym typeface="Arial"/>
              </a:rPr>
              <a:t>50%</a:t>
            </a:r>
            <a:r>
              <a:rPr lang="ru" sz="1500">
                <a:solidFill>
                  <a:srgbClr val="303030"/>
                </a:solidFill>
                <a:latin typeface="Arial"/>
                <a:ea typeface="Arial"/>
                <a:cs typeface="Arial"/>
                <a:sym typeface="Arial"/>
              </a:rPr>
              <a:t> </a:t>
            </a:r>
            <a:r>
              <a:rPr lang="ru" sz="1500">
                <a:solidFill>
                  <a:srgbClr val="999999"/>
                </a:solidFill>
                <a:latin typeface="Arial"/>
                <a:ea typeface="Arial"/>
                <a:cs typeface="Arial"/>
                <a:sym typeface="Arial"/>
              </a:rPr>
              <a:t>{</a:t>
            </a:r>
            <a:r>
              <a:rPr lang="ru" sz="1500">
                <a:solidFill>
                  <a:srgbClr val="990055"/>
                </a:solidFill>
                <a:latin typeface="Arial"/>
                <a:ea typeface="Arial"/>
                <a:cs typeface="Arial"/>
                <a:sym typeface="Arial"/>
              </a:rPr>
              <a:t>text-shadow</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0 0 30px black</a:t>
            </a:r>
            <a:r>
              <a:rPr lang="ru" sz="1500">
                <a:solidFill>
                  <a:srgbClr val="999999"/>
                </a:solidFill>
                <a:latin typeface="Arial"/>
                <a:ea typeface="Arial"/>
                <a:cs typeface="Arial"/>
                <a:sym typeface="Arial"/>
              </a:rPr>
              <a:t>;}</a:t>
            </a:r>
            <a:endParaRPr sz="1500">
              <a:solidFill>
                <a:srgbClr val="303030"/>
              </a:solidFill>
              <a:latin typeface="Arial"/>
              <a:ea typeface="Arial"/>
              <a:cs typeface="Arial"/>
              <a:sym typeface="Arial"/>
            </a:endParaRPr>
          </a:p>
          <a:p>
            <a:pPr indent="0" lvl="0" marL="0" rtl="0" algn="l">
              <a:lnSpc>
                <a:spcPct val="95000"/>
              </a:lnSpc>
              <a:spcBef>
                <a:spcPts val="1100"/>
              </a:spcBef>
              <a:spcAft>
                <a:spcPts val="0"/>
              </a:spcAft>
              <a:buSzPts val="1018"/>
              <a:buNone/>
            </a:pPr>
            <a:r>
              <a:rPr lang="ru" sz="1500">
                <a:solidFill>
                  <a:srgbClr val="669900"/>
                </a:solidFill>
                <a:latin typeface="Arial"/>
                <a:ea typeface="Arial"/>
                <a:cs typeface="Arial"/>
                <a:sym typeface="Arial"/>
              </a:rPr>
              <a:t>to</a:t>
            </a:r>
            <a:r>
              <a:rPr lang="ru" sz="1500">
                <a:solidFill>
                  <a:srgbClr val="303030"/>
                </a:solidFill>
                <a:latin typeface="Arial"/>
                <a:ea typeface="Arial"/>
                <a:cs typeface="Arial"/>
                <a:sym typeface="Arial"/>
              </a:rPr>
              <a:t> </a:t>
            </a:r>
            <a:r>
              <a:rPr lang="ru" sz="1500">
                <a:solidFill>
                  <a:srgbClr val="999999"/>
                </a:solidFill>
                <a:latin typeface="Arial"/>
                <a:ea typeface="Arial"/>
                <a:cs typeface="Arial"/>
                <a:sym typeface="Arial"/>
              </a:rPr>
              <a:t>{</a:t>
            </a:r>
            <a:r>
              <a:rPr lang="ru" sz="1500">
                <a:solidFill>
                  <a:srgbClr val="990055"/>
                </a:solidFill>
                <a:latin typeface="Arial"/>
                <a:ea typeface="Arial"/>
                <a:cs typeface="Arial"/>
                <a:sym typeface="Arial"/>
              </a:rPr>
              <a:t>text-shadow</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0 0 3px black</a:t>
            </a:r>
            <a:r>
              <a:rPr lang="ru" sz="1500">
                <a:solidFill>
                  <a:srgbClr val="999999"/>
                </a:solidFill>
                <a:latin typeface="Arial"/>
                <a:ea typeface="Arial"/>
                <a:cs typeface="Arial"/>
                <a:sym typeface="Arial"/>
              </a:rPr>
              <a:t>;}</a:t>
            </a:r>
            <a:endParaRPr sz="1500">
              <a:solidFill>
                <a:srgbClr val="303030"/>
              </a:solidFill>
              <a:latin typeface="Arial"/>
              <a:ea typeface="Arial"/>
              <a:cs typeface="Arial"/>
              <a:sym typeface="Arial"/>
            </a:endParaRPr>
          </a:p>
          <a:p>
            <a:pPr indent="0" lvl="0" marL="190500" marR="190500" rtl="0" algn="l">
              <a:lnSpc>
                <a:spcPct val="150000"/>
              </a:lnSpc>
              <a:spcBef>
                <a:spcPts val="1100"/>
              </a:spcBef>
              <a:spcAft>
                <a:spcPts val="0"/>
              </a:spcAft>
              <a:buNone/>
            </a:pPr>
            <a:r>
              <a:rPr lang="ru" sz="1500">
                <a:solidFill>
                  <a:srgbClr val="999999"/>
                </a:solidFill>
                <a:latin typeface="Arial"/>
                <a:ea typeface="Arial"/>
                <a:cs typeface="Arial"/>
                <a:sym typeface="Arial"/>
              </a:rPr>
              <a:t>}</a:t>
            </a:r>
            <a:endParaRPr sz="1500">
              <a:solidFill>
                <a:srgbClr val="303030"/>
              </a:solidFill>
              <a:latin typeface="Arial"/>
              <a:ea typeface="Arial"/>
              <a:cs typeface="Arial"/>
              <a:sym typeface="Arial"/>
            </a:endParaRPr>
          </a:p>
          <a:p>
            <a:pPr indent="0" lvl="0" marL="0" rtl="0" algn="just">
              <a:spcBef>
                <a:spcPts val="2300"/>
              </a:spcBef>
              <a:spcAft>
                <a:spcPts val="0"/>
              </a:spcAft>
              <a:buNone/>
            </a:pPr>
            <a:r>
              <a:rPr lang="ru" sz="1500">
                <a:solidFill>
                  <a:srgbClr val="303030"/>
                </a:solidFill>
                <a:latin typeface="Arial"/>
                <a:ea typeface="Arial"/>
                <a:cs typeface="Arial"/>
                <a:sym typeface="Arial"/>
              </a:rPr>
              <a:t>Ключевые кадры создаются с помощью ключевых слов from и to (эквивалентны значениям 0% и 100%) или с помощью процентных пунктов, которых можно задавать сколько угодно. Также можно комбинировать ключевые слова и процентные пункты. Если кадры имеют одинаковые свойства и значения, их можно объединить в одно объявление:</a:t>
            </a:r>
            <a:endParaRPr sz="1500">
              <a:solidFill>
                <a:srgbClr val="303030"/>
              </a:solidFill>
              <a:latin typeface="Arial"/>
              <a:ea typeface="Arial"/>
              <a:cs typeface="Arial"/>
              <a:sym typeface="Arial"/>
            </a:endParaRPr>
          </a:p>
          <a:p>
            <a:pPr indent="0" lvl="0" marL="0" rtl="0" algn="l">
              <a:lnSpc>
                <a:spcPct val="95000"/>
              </a:lnSpc>
              <a:spcBef>
                <a:spcPts val="1100"/>
              </a:spcBef>
              <a:spcAft>
                <a:spcPts val="1100"/>
              </a:spcAft>
              <a:buSzPts val="1018"/>
              <a:buNone/>
            </a:pPr>
            <a:r>
              <a:t/>
            </a:r>
            <a:endParaRPr sz="1518">
              <a:solidFill>
                <a:srgbClr val="30303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0"/>
          <p:cNvSpPr txBox="1"/>
          <p:nvPr>
            <p:ph type="title"/>
          </p:nvPr>
        </p:nvSpPr>
        <p:spPr>
          <a:xfrm>
            <a:off x="453150" y="587900"/>
            <a:ext cx="8150100" cy="954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3.1. </a:t>
            </a:r>
            <a:r>
              <a:rPr b="1" lang="ru" sz="2800">
                <a:solidFill>
                  <a:srgbClr val="303030"/>
                </a:solidFill>
                <a:highlight>
                  <a:srgbClr val="FFFFFF"/>
                </a:highlight>
              </a:rPr>
              <a:t>Ключевые кадры</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000000"/>
              </a:solidFill>
            </a:endParaRPr>
          </a:p>
          <a:p>
            <a:pPr indent="0" lvl="0" marL="0" rtl="0" algn="l">
              <a:spcBef>
                <a:spcPts val="400"/>
              </a:spcBef>
              <a:spcAft>
                <a:spcPts val="0"/>
              </a:spcAft>
              <a:buNone/>
            </a:pPr>
            <a:r>
              <a:t/>
            </a:r>
            <a:endParaRPr/>
          </a:p>
        </p:txBody>
      </p:sp>
      <p:sp>
        <p:nvSpPr>
          <p:cNvPr id="362" name="Google Shape;362;p50"/>
          <p:cNvSpPr txBox="1"/>
          <p:nvPr>
            <p:ph idx="1" type="body"/>
          </p:nvPr>
        </p:nvSpPr>
        <p:spPr>
          <a:xfrm>
            <a:off x="340250" y="1172050"/>
            <a:ext cx="4231800" cy="3656400"/>
          </a:xfrm>
          <a:prstGeom prst="rect">
            <a:avLst/>
          </a:prstGeom>
        </p:spPr>
        <p:txBody>
          <a:bodyPr anchorCtr="0" anchor="t" bIns="91425" lIns="91425" spcFirstLastPara="1" rIns="91425" wrap="square" tIns="91425">
            <a:noAutofit/>
          </a:bodyPr>
          <a:lstStyle/>
          <a:p>
            <a:pPr indent="0" lvl="0" marL="190500" marR="190500" rtl="0" algn="just">
              <a:lnSpc>
                <a:spcPct val="150000"/>
              </a:lnSpc>
              <a:spcBef>
                <a:spcPts val="0"/>
              </a:spcBef>
              <a:spcAft>
                <a:spcPts val="0"/>
              </a:spcAft>
              <a:buNone/>
            </a:pPr>
            <a:r>
              <a:t/>
            </a:r>
            <a:endParaRPr sz="1500">
              <a:solidFill>
                <a:srgbClr val="303030"/>
              </a:solidFill>
              <a:latin typeface="Arial"/>
              <a:ea typeface="Arial"/>
              <a:cs typeface="Arial"/>
              <a:sym typeface="Arial"/>
            </a:endParaRPr>
          </a:p>
          <a:p>
            <a:pPr indent="0" lvl="0" marL="0" rtl="0" algn="just">
              <a:spcBef>
                <a:spcPts val="2300"/>
              </a:spcBef>
              <a:spcAft>
                <a:spcPts val="0"/>
              </a:spcAft>
              <a:buNone/>
            </a:pPr>
            <a:r>
              <a:rPr lang="ru" sz="1500">
                <a:solidFill>
                  <a:srgbClr val="303030"/>
                </a:solidFill>
                <a:latin typeface="Arial"/>
                <a:ea typeface="Arial"/>
                <a:cs typeface="Arial"/>
                <a:sym typeface="Arial"/>
              </a:rPr>
              <a:t>Если 0% или 100% кадры не указаны, то браузер пользователя создает их, используя вычисляемые (первоначально заданные) значения анимируемого свойства.</a:t>
            </a:r>
            <a:endParaRPr sz="1500">
              <a:solidFill>
                <a:srgbClr val="303030"/>
              </a:solidFill>
              <a:latin typeface="Arial"/>
              <a:ea typeface="Arial"/>
              <a:cs typeface="Arial"/>
              <a:sym typeface="Arial"/>
            </a:endParaRPr>
          </a:p>
          <a:p>
            <a:pPr indent="0" lvl="0" marL="0" rtl="0" algn="just">
              <a:spcBef>
                <a:spcPts val="1100"/>
              </a:spcBef>
              <a:spcAft>
                <a:spcPts val="0"/>
              </a:spcAft>
              <a:buNone/>
            </a:pPr>
            <a:r>
              <a:rPr lang="ru" sz="1500">
                <a:solidFill>
                  <a:srgbClr val="303030"/>
                </a:solidFill>
                <a:latin typeface="Arial"/>
                <a:ea typeface="Arial"/>
                <a:cs typeface="Arial"/>
                <a:sym typeface="Arial"/>
              </a:rPr>
              <a:t>Если несколько правил </a:t>
            </a:r>
            <a:r>
              <a:rPr lang="ru" sz="1500">
                <a:solidFill>
                  <a:srgbClr val="303030"/>
                </a:solidFill>
                <a:highlight>
                  <a:srgbClr val="D5A6BD"/>
                </a:highlight>
                <a:latin typeface="Arial"/>
                <a:ea typeface="Arial"/>
                <a:cs typeface="Arial"/>
                <a:sym typeface="Arial"/>
              </a:rPr>
              <a:t>@keyframes </a:t>
            </a:r>
            <a:r>
              <a:rPr lang="ru" sz="1500">
                <a:solidFill>
                  <a:srgbClr val="303030"/>
                </a:solidFill>
                <a:latin typeface="Arial"/>
                <a:ea typeface="Arial"/>
                <a:cs typeface="Arial"/>
                <a:sym typeface="Arial"/>
              </a:rPr>
              <a:t>определены с одним и тем же именем, сработает последнее в порядке документа, а все предыдущие проигнорируются.</a:t>
            </a:r>
            <a:endParaRPr sz="1500">
              <a:solidFill>
                <a:srgbClr val="303030"/>
              </a:solidFill>
              <a:latin typeface="Arial"/>
              <a:ea typeface="Arial"/>
              <a:cs typeface="Arial"/>
              <a:sym typeface="Arial"/>
            </a:endParaRPr>
          </a:p>
          <a:p>
            <a:pPr indent="0" lvl="0" marL="0" rtl="0" algn="just">
              <a:lnSpc>
                <a:spcPct val="95000"/>
              </a:lnSpc>
              <a:spcBef>
                <a:spcPts val="1100"/>
              </a:spcBef>
              <a:spcAft>
                <a:spcPts val="1100"/>
              </a:spcAft>
              <a:buSzPts val="1018"/>
              <a:buNone/>
            </a:pPr>
            <a:r>
              <a:t/>
            </a:r>
            <a:endParaRPr sz="1500">
              <a:solidFill>
                <a:srgbClr val="0077AA"/>
              </a:solidFill>
              <a:highlight>
                <a:srgbClr val="D5A6BD"/>
              </a:highlight>
              <a:latin typeface="Arial"/>
              <a:ea typeface="Arial"/>
              <a:cs typeface="Arial"/>
              <a:sym typeface="Arial"/>
            </a:endParaRPr>
          </a:p>
        </p:txBody>
      </p:sp>
      <p:sp>
        <p:nvSpPr>
          <p:cNvPr id="363" name="Google Shape;363;p50"/>
          <p:cNvSpPr txBox="1"/>
          <p:nvPr/>
        </p:nvSpPr>
        <p:spPr>
          <a:xfrm>
            <a:off x="5007050" y="905175"/>
            <a:ext cx="3000000" cy="3763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95000"/>
              </a:lnSpc>
              <a:spcBef>
                <a:spcPts val="0"/>
              </a:spcBef>
              <a:spcAft>
                <a:spcPts val="0"/>
              </a:spcAft>
              <a:buNone/>
            </a:pPr>
            <a:r>
              <a:rPr lang="ru" sz="1500">
                <a:solidFill>
                  <a:srgbClr val="0077AA"/>
                </a:solidFill>
                <a:highlight>
                  <a:srgbClr val="D5A6BD"/>
                </a:highlight>
              </a:rPr>
              <a:t>@keyframes</a:t>
            </a:r>
            <a:r>
              <a:rPr lang="ru" sz="1500">
                <a:solidFill>
                  <a:srgbClr val="0077AA"/>
                </a:solidFill>
              </a:rPr>
              <a:t> move</a:t>
            </a:r>
            <a:r>
              <a:rPr lang="ru" sz="1500">
                <a:solidFill>
                  <a:srgbClr val="303030"/>
                </a:solidFill>
              </a:rPr>
              <a:t> </a:t>
            </a:r>
            <a:r>
              <a:rPr lang="ru" sz="1500">
                <a:solidFill>
                  <a:srgbClr val="999999"/>
                </a:solidFill>
              </a:rPr>
              <a:t>{</a:t>
            </a:r>
            <a:endParaRPr sz="1500">
              <a:solidFill>
                <a:srgbClr val="303030"/>
              </a:solidFill>
            </a:endParaRPr>
          </a:p>
          <a:p>
            <a:pPr indent="0" lvl="0" marL="0" rtl="0" algn="l">
              <a:lnSpc>
                <a:spcPct val="95000"/>
              </a:lnSpc>
              <a:spcBef>
                <a:spcPts val="1100"/>
              </a:spcBef>
              <a:spcAft>
                <a:spcPts val="0"/>
              </a:spcAft>
              <a:buNone/>
            </a:pPr>
            <a:r>
              <a:rPr lang="ru" sz="1500">
                <a:solidFill>
                  <a:srgbClr val="669900"/>
                </a:solidFill>
              </a:rPr>
              <a:t>from, </a:t>
            </a:r>
            <a:endParaRPr sz="1500">
              <a:solidFill>
                <a:srgbClr val="669900"/>
              </a:solidFill>
            </a:endParaRPr>
          </a:p>
          <a:p>
            <a:pPr indent="0" lvl="0" marL="0" rtl="0" algn="l">
              <a:lnSpc>
                <a:spcPct val="95000"/>
              </a:lnSpc>
              <a:spcBef>
                <a:spcPts val="1100"/>
              </a:spcBef>
              <a:spcAft>
                <a:spcPts val="0"/>
              </a:spcAft>
              <a:buNone/>
            </a:pPr>
            <a:r>
              <a:rPr lang="ru" sz="1500">
                <a:solidFill>
                  <a:srgbClr val="669900"/>
                </a:solidFill>
              </a:rPr>
              <a:t>to</a:t>
            </a:r>
            <a:r>
              <a:rPr lang="ru" sz="1500">
                <a:solidFill>
                  <a:srgbClr val="303030"/>
                </a:solidFill>
              </a:rPr>
              <a:t> </a:t>
            </a:r>
            <a:r>
              <a:rPr lang="ru" sz="1500">
                <a:solidFill>
                  <a:srgbClr val="999999"/>
                </a:solidFill>
              </a:rPr>
              <a:t>{</a:t>
            </a:r>
            <a:endParaRPr sz="1500">
              <a:solidFill>
                <a:srgbClr val="303030"/>
              </a:solidFill>
            </a:endParaRPr>
          </a:p>
          <a:p>
            <a:pPr indent="0" lvl="0" marL="0" rtl="0" algn="l">
              <a:lnSpc>
                <a:spcPct val="95000"/>
              </a:lnSpc>
              <a:spcBef>
                <a:spcPts val="1100"/>
              </a:spcBef>
              <a:spcAft>
                <a:spcPts val="0"/>
              </a:spcAft>
              <a:buNone/>
            </a:pPr>
            <a:r>
              <a:rPr lang="ru" sz="1500">
                <a:solidFill>
                  <a:srgbClr val="990055"/>
                </a:solidFill>
              </a:rPr>
              <a:t>top</a:t>
            </a:r>
            <a:r>
              <a:rPr lang="ru" sz="1500">
                <a:solidFill>
                  <a:srgbClr val="999999"/>
                </a:solidFill>
              </a:rPr>
              <a:t>:</a:t>
            </a:r>
            <a:r>
              <a:rPr lang="ru" sz="1500">
                <a:solidFill>
                  <a:srgbClr val="303030"/>
                </a:solidFill>
              </a:rPr>
              <a:t> 0</a:t>
            </a:r>
            <a:r>
              <a:rPr lang="ru" sz="1500">
                <a:solidFill>
                  <a:srgbClr val="999999"/>
                </a:solidFill>
              </a:rPr>
              <a:t>;</a:t>
            </a:r>
            <a:endParaRPr sz="1500">
              <a:solidFill>
                <a:srgbClr val="303030"/>
              </a:solidFill>
            </a:endParaRPr>
          </a:p>
          <a:p>
            <a:pPr indent="0" lvl="0" marL="0" rtl="0" algn="l">
              <a:lnSpc>
                <a:spcPct val="95000"/>
              </a:lnSpc>
              <a:spcBef>
                <a:spcPts val="1100"/>
              </a:spcBef>
              <a:spcAft>
                <a:spcPts val="0"/>
              </a:spcAft>
              <a:buNone/>
            </a:pPr>
            <a:r>
              <a:rPr lang="ru" sz="1500">
                <a:solidFill>
                  <a:srgbClr val="990055"/>
                </a:solidFill>
              </a:rPr>
              <a:t>left</a:t>
            </a:r>
            <a:r>
              <a:rPr lang="ru" sz="1500">
                <a:solidFill>
                  <a:srgbClr val="999999"/>
                </a:solidFill>
              </a:rPr>
              <a:t>:</a:t>
            </a:r>
            <a:r>
              <a:rPr lang="ru" sz="1500">
                <a:solidFill>
                  <a:srgbClr val="303030"/>
                </a:solidFill>
              </a:rPr>
              <a:t> 0</a:t>
            </a:r>
            <a:r>
              <a:rPr lang="ru" sz="1500">
                <a:solidFill>
                  <a:srgbClr val="999999"/>
                </a:solidFill>
              </a:rPr>
              <a:t>;</a:t>
            </a:r>
            <a:endParaRPr sz="1500">
              <a:solidFill>
                <a:srgbClr val="303030"/>
              </a:solidFill>
            </a:endParaRPr>
          </a:p>
          <a:p>
            <a:pPr indent="0" lvl="0" marL="0" rtl="0" algn="l">
              <a:lnSpc>
                <a:spcPct val="95000"/>
              </a:lnSpc>
              <a:spcBef>
                <a:spcPts val="1100"/>
              </a:spcBef>
              <a:spcAft>
                <a:spcPts val="0"/>
              </a:spcAft>
              <a:buNone/>
            </a:pPr>
            <a:r>
              <a:rPr lang="ru" sz="1500">
                <a:solidFill>
                  <a:srgbClr val="999999"/>
                </a:solidFill>
              </a:rPr>
              <a:t>}</a:t>
            </a:r>
            <a:endParaRPr sz="1500">
              <a:solidFill>
                <a:srgbClr val="303030"/>
              </a:solidFill>
            </a:endParaRPr>
          </a:p>
          <a:p>
            <a:pPr indent="0" lvl="0" marL="0" rtl="0" algn="l">
              <a:lnSpc>
                <a:spcPct val="95000"/>
              </a:lnSpc>
              <a:spcBef>
                <a:spcPts val="1100"/>
              </a:spcBef>
              <a:spcAft>
                <a:spcPts val="0"/>
              </a:spcAft>
              <a:buNone/>
            </a:pPr>
            <a:r>
              <a:rPr lang="ru" sz="1500">
                <a:solidFill>
                  <a:srgbClr val="669900"/>
                </a:solidFill>
              </a:rPr>
              <a:t>25%, </a:t>
            </a:r>
            <a:endParaRPr sz="1500">
              <a:solidFill>
                <a:srgbClr val="669900"/>
              </a:solidFill>
            </a:endParaRPr>
          </a:p>
          <a:p>
            <a:pPr indent="0" lvl="0" marL="0" rtl="0" algn="l">
              <a:lnSpc>
                <a:spcPct val="95000"/>
              </a:lnSpc>
              <a:spcBef>
                <a:spcPts val="1100"/>
              </a:spcBef>
              <a:spcAft>
                <a:spcPts val="0"/>
              </a:spcAft>
              <a:buNone/>
            </a:pPr>
            <a:r>
              <a:rPr lang="ru" sz="1500">
                <a:solidFill>
                  <a:srgbClr val="669900"/>
                </a:solidFill>
              </a:rPr>
              <a:t>75%</a:t>
            </a:r>
            <a:r>
              <a:rPr lang="ru" sz="1500">
                <a:solidFill>
                  <a:srgbClr val="303030"/>
                </a:solidFill>
              </a:rPr>
              <a:t> </a:t>
            </a:r>
            <a:r>
              <a:rPr lang="ru" sz="1500">
                <a:solidFill>
                  <a:srgbClr val="999999"/>
                </a:solidFill>
              </a:rPr>
              <a:t>{</a:t>
            </a:r>
            <a:r>
              <a:rPr lang="ru" sz="1500">
                <a:solidFill>
                  <a:srgbClr val="990055"/>
                </a:solidFill>
              </a:rPr>
              <a:t>top</a:t>
            </a:r>
            <a:r>
              <a:rPr lang="ru" sz="1500">
                <a:solidFill>
                  <a:srgbClr val="999999"/>
                </a:solidFill>
              </a:rPr>
              <a:t>:</a:t>
            </a:r>
            <a:r>
              <a:rPr lang="ru" sz="1500">
                <a:solidFill>
                  <a:srgbClr val="303030"/>
                </a:solidFill>
              </a:rPr>
              <a:t> 100%</a:t>
            </a:r>
            <a:r>
              <a:rPr lang="ru" sz="1500">
                <a:solidFill>
                  <a:srgbClr val="999999"/>
                </a:solidFill>
              </a:rPr>
              <a:t>;}</a:t>
            </a:r>
            <a:endParaRPr sz="1500">
              <a:solidFill>
                <a:srgbClr val="303030"/>
              </a:solidFill>
            </a:endParaRPr>
          </a:p>
          <a:p>
            <a:pPr indent="0" lvl="0" marL="0" rtl="0" algn="l">
              <a:lnSpc>
                <a:spcPct val="95000"/>
              </a:lnSpc>
              <a:spcBef>
                <a:spcPts val="1100"/>
              </a:spcBef>
              <a:spcAft>
                <a:spcPts val="0"/>
              </a:spcAft>
              <a:buNone/>
            </a:pPr>
            <a:r>
              <a:rPr lang="ru" sz="1500">
                <a:solidFill>
                  <a:srgbClr val="669900"/>
                </a:solidFill>
              </a:rPr>
              <a:t>50%</a:t>
            </a:r>
            <a:r>
              <a:rPr lang="ru" sz="1500">
                <a:solidFill>
                  <a:srgbClr val="303030"/>
                </a:solidFill>
              </a:rPr>
              <a:t> </a:t>
            </a:r>
            <a:r>
              <a:rPr lang="ru" sz="1500">
                <a:solidFill>
                  <a:srgbClr val="999999"/>
                </a:solidFill>
              </a:rPr>
              <a:t>{</a:t>
            </a:r>
            <a:r>
              <a:rPr lang="ru" sz="1500">
                <a:solidFill>
                  <a:srgbClr val="990055"/>
                </a:solidFill>
              </a:rPr>
              <a:t>top</a:t>
            </a:r>
            <a:r>
              <a:rPr lang="ru" sz="1500">
                <a:solidFill>
                  <a:srgbClr val="999999"/>
                </a:solidFill>
              </a:rPr>
              <a:t>:</a:t>
            </a:r>
            <a:r>
              <a:rPr lang="ru" sz="1500">
                <a:solidFill>
                  <a:srgbClr val="303030"/>
                </a:solidFill>
              </a:rPr>
              <a:t> 50%</a:t>
            </a:r>
            <a:r>
              <a:rPr lang="ru" sz="1500">
                <a:solidFill>
                  <a:srgbClr val="999999"/>
                </a:solidFill>
              </a:rPr>
              <a:t>;}</a:t>
            </a:r>
            <a:endParaRPr sz="1500">
              <a:solidFill>
                <a:srgbClr val="303030"/>
              </a:solidFill>
            </a:endParaRPr>
          </a:p>
          <a:p>
            <a:pPr indent="0" lvl="0" marL="190500" marR="190500" rtl="0" algn="l">
              <a:lnSpc>
                <a:spcPct val="150000"/>
              </a:lnSpc>
              <a:spcBef>
                <a:spcPts val="1100"/>
              </a:spcBef>
              <a:spcAft>
                <a:spcPts val="2300"/>
              </a:spcAft>
              <a:buNone/>
            </a:pPr>
            <a:r>
              <a:rPr lang="ru" sz="1500">
                <a:solidFill>
                  <a:srgbClr val="999999"/>
                </a:solidFill>
              </a:rPr>
              <a:t>}</a:t>
            </a:r>
            <a:endParaRPr sz="15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1"/>
          <p:cNvSpPr txBox="1"/>
          <p:nvPr>
            <p:ph type="title"/>
          </p:nvPr>
        </p:nvSpPr>
        <p:spPr>
          <a:xfrm>
            <a:off x="407075" y="403550"/>
            <a:ext cx="8150100" cy="954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3.1. </a:t>
            </a:r>
            <a:r>
              <a:rPr b="1" lang="ru" sz="2800">
                <a:solidFill>
                  <a:srgbClr val="303030"/>
                </a:solidFill>
                <a:highlight>
                  <a:srgbClr val="FFFFFF"/>
                </a:highlight>
              </a:rPr>
              <a:t>Ключевые кадры</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000000"/>
              </a:solidFill>
            </a:endParaRPr>
          </a:p>
          <a:p>
            <a:pPr indent="0" lvl="0" marL="0" rtl="0" algn="l">
              <a:spcBef>
                <a:spcPts val="400"/>
              </a:spcBef>
              <a:spcAft>
                <a:spcPts val="0"/>
              </a:spcAft>
              <a:buNone/>
            </a:pPr>
            <a:r>
              <a:t/>
            </a:r>
            <a:endParaRPr/>
          </a:p>
        </p:txBody>
      </p:sp>
      <p:sp>
        <p:nvSpPr>
          <p:cNvPr id="369" name="Google Shape;369;p51"/>
          <p:cNvSpPr txBox="1"/>
          <p:nvPr>
            <p:ph idx="1" type="body"/>
          </p:nvPr>
        </p:nvSpPr>
        <p:spPr>
          <a:xfrm>
            <a:off x="362550" y="1602200"/>
            <a:ext cx="8418900" cy="2350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500">
                <a:solidFill>
                  <a:srgbClr val="303030"/>
                </a:solidFill>
                <a:latin typeface="Arial"/>
                <a:ea typeface="Arial"/>
                <a:cs typeface="Arial"/>
                <a:sym typeface="Arial"/>
              </a:rPr>
              <a:t>После объявления правила</a:t>
            </a:r>
            <a:r>
              <a:rPr lang="ru" sz="1500">
                <a:solidFill>
                  <a:srgbClr val="303030"/>
                </a:solidFill>
                <a:highlight>
                  <a:srgbClr val="D5A6BD"/>
                </a:highlight>
                <a:latin typeface="Arial"/>
                <a:ea typeface="Arial"/>
                <a:cs typeface="Arial"/>
                <a:sym typeface="Arial"/>
              </a:rPr>
              <a:t> @keyframes</a:t>
            </a:r>
            <a:r>
              <a:rPr lang="ru" sz="1500">
                <a:solidFill>
                  <a:srgbClr val="303030"/>
                </a:solidFill>
                <a:latin typeface="Arial"/>
                <a:ea typeface="Arial"/>
                <a:cs typeface="Arial"/>
                <a:sym typeface="Arial"/>
              </a:rPr>
              <a:t>, мы можем ссылаться на него в свойстве animation:</a:t>
            </a:r>
            <a:endParaRPr sz="1500">
              <a:solidFill>
                <a:srgbClr val="303030"/>
              </a:solidFill>
              <a:latin typeface="Arial"/>
              <a:ea typeface="Arial"/>
              <a:cs typeface="Arial"/>
              <a:sym typeface="Arial"/>
            </a:endParaRPr>
          </a:p>
          <a:p>
            <a:pPr indent="0" lvl="0" marL="0" rtl="0" algn="just">
              <a:lnSpc>
                <a:spcPct val="95000"/>
              </a:lnSpc>
              <a:spcBef>
                <a:spcPts val="1100"/>
              </a:spcBef>
              <a:spcAft>
                <a:spcPts val="0"/>
              </a:spcAft>
              <a:buSzPts val="1018"/>
              <a:buNone/>
            </a:pPr>
            <a:r>
              <a:t/>
            </a:r>
            <a:endParaRPr sz="1500">
              <a:solidFill>
                <a:srgbClr val="669900"/>
              </a:solidFill>
              <a:latin typeface="Arial"/>
              <a:ea typeface="Arial"/>
              <a:cs typeface="Arial"/>
              <a:sym typeface="Arial"/>
            </a:endParaRPr>
          </a:p>
          <a:p>
            <a:pPr indent="0" lvl="0" marL="0" rtl="0" algn="just">
              <a:lnSpc>
                <a:spcPct val="95000"/>
              </a:lnSpc>
              <a:spcBef>
                <a:spcPts val="1100"/>
              </a:spcBef>
              <a:spcAft>
                <a:spcPts val="0"/>
              </a:spcAft>
              <a:buSzPts val="1018"/>
              <a:buNone/>
            </a:pPr>
            <a:r>
              <a:rPr lang="ru" sz="1500">
                <a:solidFill>
                  <a:srgbClr val="669900"/>
                </a:solidFill>
                <a:latin typeface="Arial"/>
                <a:ea typeface="Arial"/>
                <a:cs typeface="Arial"/>
                <a:sym typeface="Arial"/>
              </a:rPr>
              <a:t>h1</a:t>
            </a:r>
            <a:r>
              <a:rPr lang="ru" sz="1500">
                <a:solidFill>
                  <a:srgbClr val="303030"/>
                </a:solidFill>
                <a:latin typeface="Arial"/>
                <a:ea typeface="Arial"/>
                <a:cs typeface="Arial"/>
                <a:sym typeface="Arial"/>
              </a:rPr>
              <a:t> </a:t>
            </a:r>
            <a:r>
              <a:rPr lang="ru" sz="1500">
                <a:solidFill>
                  <a:srgbClr val="999999"/>
                </a:solidFill>
                <a:latin typeface="Arial"/>
                <a:ea typeface="Arial"/>
                <a:cs typeface="Arial"/>
                <a:sym typeface="Arial"/>
              </a:rPr>
              <a:t>{</a:t>
            </a:r>
            <a:endParaRPr sz="1500">
              <a:solidFill>
                <a:srgbClr val="303030"/>
              </a:solidFill>
              <a:latin typeface="Arial"/>
              <a:ea typeface="Arial"/>
              <a:cs typeface="Arial"/>
              <a:sym typeface="Arial"/>
            </a:endParaRPr>
          </a:p>
          <a:p>
            <a:pPr indent="0" lvl="0" marL="0" rtl="0" algn="just">
              <a:lnSpc>
                <a:spcPct val="95000"/>
              </a:lnSpc>
              <a:spcBef>
                <a:spcPts val="1100"/>
              </a:spcBef>
              <a:spcAft>
                <a:spcPts val="0"/>
              </a:spcAft>
              <a:buSzPts val="1018"/>
              <a:buNone/>
            </a:pPr>
            <a:r>
              <a:rPr lang="ru" sz="1500">
                <a:solidFill>
                  <a:srgbClr val="990055"/>
                </a:solidFill>
                <a:latin typeface="Arial"/>
                <a:ea typeface="Arial"/>
                <a:cs typeface="Arial"/>
                <a:sym typeface="Arial"/>
              </a:rPr>
              <a:t>font-size</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3.5em</a:t>
            </a:r>
            <a:r>
              <a:rPr lang="ru" sz="1500">
                <a:solidFill>
                  <a:srgbClr val="999999"/>
                </a:solidFill>
                <a:latin typeface="Arial"/>
                <a:ea typeface="Arial"/>
                <a:cs typeface="Arial"/>
                <a:sym typeface="Arial"/>
              </a:rPr>
              <a:t>;</a:t>
            </a:r>
            <a:endParaRPr sz="1500">
              <a:solidFill>
                <a:srgbClr val="303030"/>
              </a:solidFill>
              <a:latin typeface="Arial"/>
              <a:ea typeface="Arial"/>
              <a:cs typeface="Arial"/>
              <a:sym typeface="Arial"/>
            </a:endParaRPr>
          </a:p>
          <a:p>
            <a:pPr indent="0" lvl="0" marL="0" rtl="0" algn="just">
              <a:lnSpc>
                <a:spcPct val="95000"/>
              </a:lnSpc>
              <a:spcBef>
                <a:spcPts val="1100"/>
              </a:spcBef>
              <a:spcAft>
                <a:spcPts val="0"/>
              </a:spcAft>
              <a:buSzPts val="1018"/>
              <a:buNone/>
            </a:pPr>
            <a:r>
              <a:rPr lang="ru" sz="1500">
                <a:solidFill>
                  <a:srgbClr val="990055"/>
                </a:solidFill>
                <a:latin typeface="Arial"/>
                <a:ea typeface="Arial"/>
                <a:cs typeface="Arial"/>
                <a:sym typeface="Arial"/>
              </a:rPr>
              <a:t>color</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darkmagenta</a:t>
            </a:r>
            <a:r>
              <a:rPr lang="ru" sz="1500">
                <a:solidFill>
                  <a:srgbClr val="999999"/>
                </a:solidFill>
                <a:latin typeface="Arial"/>
                <a:ea typeface="Arial"/>
                <a:cs typeface="Arial"/>
                <a:sym typeface="Arial"/>
              </a:rPr>
              <a:t>;</a:t>
            </a:r>
            <a:endParaRPr sz="1500">
              <a:solidFill>
                <a:srgbClr val="303030"/>
              </a:solidFill>
              <a:latin typeface="Arial"/>
              <a:ea typeface="Arial"/>
              <a:cs typeface="Arial"/>
              <a:sym typeface="Arial"/>
            </a:endParaRPr>
          </a:p>
          <a:p>
            <a:pPr indent="0" lvl="0" marL="0" rtl="0" algn="just">
              <a:lnSpc>
                <a:spcPct val="95000"/>
              </a:lnSpc>
              <a:spcBef>
                <a:spcPts val="1100"/>
              </a:spcBef>
              <a:spcAft>
                <a:spcPts val="0"/>
              </a:spcAft>
              <a:buSzPts val="1018"/>
              <a:buNone/>
            </a:pPr>
            <a:r>
              <a:rPr lang="ru" sz="1500">
                <a:solidFill>
                  <a:srgbClr val="990055"/>
                </a:solidFill>
                <a:latin typeface="Arial"/>
                <a:ea typeface="Arial"/>
                <a:cs typeface="Arial"/>
                <a:sym typeface="Arial"/>
              </a:rPr>
              <a:t>animation</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shadow  2s infinite ease-in-out</a:t>
            </a:r>
            <a:r>
              <a:rPr lang="ru" sz="1500">
                <a:solidFill>
                  <a:srgbClr val="999999"/>
                </a:solidFill>
                <a:latin typeface="Arial"/>
                <a:ea typeface="Arial"/>
                <a:cs typeface="Arial"/>
                <a:sym typeface="Arial"/>
              </a:rPr>
              <a:t>;</a:t>
            </a:r>
            <a:endParaRPr sz="1500">
              <a:solidFill>
                <a:srgbClr val="303030"/>
              </a:solidFill>
              <a:latin typeface="Arial"/>
              <a:ea typeface="Arial"/>
              <a:cs typeface="Arial"/>
              <a:sym typeface="Arial"/>
            </a:endParaRPr>
          </a:p>
          <a:p>
            <a:pPr indent="0" lvl="0" marL="190500" marR="190500" rtl="0" algn="l">
              <a:lnSpc>
                <a:spcPct val="150000"/>
              </a:lnSpc>
              <a:spcBef>
                <a:spcPts val="1100"/>
              </a:spcBef>
              <a:spcAft>
                <a:spcPts val="0"/>
              </a:spcAft>
              <a:buNone/>
            </a:pPr>
            <a:r>
              <a:rPr lang="ru" sz="1500">
                <a:solidFill>
                  <a:srgbClr val="999999"/>
                </a:solidFill>
                <a:latin typeface="Arial"/>
                <a:ea typeface="Arial"/>
                <a:cs typeface="Arial"/>
                <a:sym typeface="Arial"/>
              </a:rPr>
              <a:t>}</a:t>
            </a:r>
            <a:endParaRPr sz="1500">
              <a:solidFill>
                <a:srgbClr val="303030"/>
              </a:solidFill>
              <a:latin typeface="Arial"/>
              <a:ea typeface="Arial"/>
              <a:cs typeface="Arial"/>
              <a:sym typeface="Arial"/>
            </a:endParaRPr>
          </a:p>
          <a:p>
            <a:pPr indent="0" lvl="0" marL="0" rtl="0" algn="just">
              <a:lnSpc>
                <a:spcPct val="95000"/>
              </a:lnSpc>
              <a:spcBef>
                <a:spcPts val="2300"/>
              </a:spcBef>
              <a:spcAft>
                <a:spcPts val="1100"/>
              </a:spcAft>
              <a:buSzPts val="1018"/>
              <a:buNone/>
            </a:pPr>
            <a:r>
              <a:t/>
            </a:r>
            <a:endParaRPr sz="1500">
              <a:solidFill>
                <a:srgbClr val="30303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2"/>
          <p:cNvSpPr txBox="1"/>
          <p:nvPr>
            <p:ph type="title"/>
          </p:nvPr>
        </p:nvSpPr>
        <p:spPr>
          <a:xfrm>
            <a:off x="453150" y="587900"/>
            <a:ext cx="8167800" cy="954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3.1. </a:t>
            </a:r>
            <a:r>
              <a:rPr b="1" lang="ru" sz="2800">
                <a:solidFill>
                  <a:srgbClr val="303030"/>
                </a:solidFill>
                <a:highlight>
                  <a:srgbClr val="FFFFFF"/>
                </a:highlight>
              </a:rPr>
              <a:t>Временная функция для ключевых кадров</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000000"/>
              </a:solidFill>
            </a:endParaRPr>
          </a:p>
          <a:p>
            <a:pPr indent="0" lvl="0" marL="0" rtl="0" algn="l">
              <a:spcBef>
                <a:spcPts val="400"/>
              </a:spcBef>
              <a:spcAft>
                <a:spcPts val="0"/>
              </a:spcAft>
              <a:buNone/>
            </a:pPr>
            <a:r>
              <a:t/>
            </a:r>
            <a:endParaRPr/>
          </a:p>
        </p:txBody>
      </p:sp>
      <p:sp>
        <p:nvSpPr>
          <p:cNvPr id="375" name="Google Shape;375;p52"/>
          <p:cNvSpPr txBox="1"/>
          <p:nvPr>
            <p:ph idx="1" type="body"/>
          </p:nvPr>
        </p:nvSpPr>
        <p:spPr>
          <a:xfrm>
            <a:off x="393300" y="1864950"/>
            <a:ext cx="8357400" cy="7068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1100"/>
              </a:spcAft>
              <a:buSzPts val="1018"/>
              <a:buNone/>
            </a:pPr>
            <a:r>
              <a:rPr lang="ru" sz="1500">
                <a:solidFill>
                  <a:srgbClr val="303030"/>
                </a:solidFill>
                <a:highlight>
                  <a:srgbClr val="FFFFFF"/>
                </a:highlight>
                <a:latin typeface="Arial"/>
                <a:ea typeface="Arial"/>
                <a:cs typeface="Arial"/>
                <a:sym typeface="Arial"/>
              </a:rPr>
              <a:t>Правило стиля ключевого кадра также может объявлять временную функцию, которая должна использоваться при перемещении анимации к следующему ключевому кадру.</a:t>
            </a:r>
            <a:endParaRPr sz="1500">
              <a:solidFill>
                <a:srgbClr val="0077AA"/>
              </a:solidFill>
              <a:highlight>
                <a:srgbClr val="D5A6BD"/>
              </a:highlight>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3"/>
          <p:cNvSpPr/>
          <p:nvPr/>
        </p:nvSpPr>
        <p:spPr>
          <a:xfrm>
            <a:off x="2344400" y="910150"/>
            <a:ext cx="3597000" cy="3683100"/>
          </a:xfrm>
          <a:prstGeom prst="rect">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1" name="Google Shape;381;p53"/>
          <p:cNvSpPr txBox="1"/>
          <p:nvPr>
            <p:ph idx="1" type="body"/>
          </p:nvPr>
        </p:nvSpPr>
        <p:spPr>
          <a:xfrm>
            <a:off x="2851800" y="305700"/>
            <a:ext cx="3702000" cy="4532100"/>
          </a:xfrm>
          <a:prstGeom prst="rect">
            <a:avLst/>
          </a:prstGeom>
          <a:solidFill>
            <a:schemeClr val="dk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714"/>
              </a:lnSpc>
              <a:spcBef>
                <a:spcPts val="0"/>
              </a:spcBef>
              <a:spcAft>
                <a:spcPts val="0"/>
              </a:spcAft>
              <a:buSzPts val="770"/>
              <a:buNone/>
            </a:pPr>
            <a:r>
              <a:rPr b="1" lang="ru" sz="1200">
                <a:solidFill>
                  <a:srgbClr val="000000"/>
                </a:solidFill>
                <a:latin typeface="Arial"/>
                <a:ea typeface="Arial"/>
                <a:cs typeface="Arial"/>
                <a:sym typeface="Arial"/>
              </a:rPr>
              <a:t>/</a:t>
            </a:r>
            <a:r>
              <a:rPr lang="ru" sz="1200">
                <a:solidFill>
                  <a:srgbClr val="0077AA"/>
                </a:solidFill>
                <a:highlight>
                  <a:srgbClr val="D5A6BD"/>
                </a:highlight>
                <a:latin typeface="Arial"/>
                <a:ea typeface="Arial"/>
                <a:cs typeface="Arial"/>
                <a:sym typeface="Arial"/>
              </a:rPr>
              <a:t>@keyframes</a:t>
            </a:r>
            <a:r>
              <a:rPr lang="ru" sz="1200">
                <a:solidFill>
                  <a:srgbClr val="0077AA"/>
                </a:solidFill>
                <a:latin typeface="Arial"/>
                <a:ea typeface="Arial"/>
                <a:cs typeface="Arial"/>
                <a:sym typeface="Arial"/>
              </a:rPr>
              <a:t> bounce</a:t>
            </a:r>
            <a:r>
              <a:rPr lang="ru" sz="1200">
                <a:solidFill>
                  <a:srgbClr val="303030"/>
                </a:solidFill>
                <a:latin typeface="Arial"/>
                <a:ea typeface="Arial"/>
                <a:cs typeface="Arial"/>
                <a:sym typeface="Arial"/>
              </a:rPr>
              <a:t> </a:t>
            </a:r>
            <a:r>
              <a:rPr lang="ru" sz="1200">
                <a:solidFill>
                  <a:srgbClr val="999999"/>
                </a:solidFill>
                <a:latin typeface="Arial"/>
                <a:ea typeface="Arial"/>
                <a:cs typeface="Arial"/>
                <a:sym typeface="Arial"/>
              </a:rPr>
              <a:t>{</a:t>
            </a:r>
            <a:endParaRPr sz="1200">
              <a:solidFill>
                <a:srgbClr val="30303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00">
                <a:solidFill>
                  <a:srgbClr val="303030"/>
                </a:solidFill>
                <a:latin typeface="Arial"/>
                <a:ea typeface="Arial"/>
                <a:cs typeface="Arial"/>
                <a:sym typeface="Arial"/>
              </a:rPr>
              <a:t>  </a:t>
            </a:r>
            <a:r>
              <a:rPr lang="ru" sz="1200">
                <a:solidFill>
                  <a:srgbClr val="669900"/>
                </a:solidFill>
                <a:latin typeface="Arial"/>
                <a:ea typeface="Arial"/>
                <a:cs typeface="Arial"/>
                <a:sym typeface="Arial"/>
              </a:rPr>
              <a:t>from</a:t>
            </a:r>
            <a:r>
              <a:rPr lang="ru" sz="1200">
                <a:solidFill>
                  <a:srgbClr val="303030"/>
                </a:solidFill>
                <a:latin typeface="Arial"/>
                <a:ea typeface="Arial"/>
                <a:cs typeface="Arial"/>
                <a:sym typeface="Arial"/>
              </a:rPr>
              <a:t> </a:t>
            </a:r>
            <a:r>
              <a:rPr lang="ru" sz="1200">
                <a:solidFill>
                  <a:srgbClr val="999999"/>
                </a:solidFill>
                <a:latin typeface="Arial"/>
                <a:ea typeface="Arial"/>
                <a:cs typeface="Arial"/>
                <a:sym typeface="Arial"/>
              </a:rPr>
              <a:t>{</a:t>
            </a:r>
            <a:endParaRPr sz="1200">
              <a:solidFill>
                <a:srgbClr val="30303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00">
                <a:solidFill>
                  <a:srgbClr val="303030"/>
                </a:solidFill>
                <a:latin typeface="Arial"/>
                <a:ea typeface="Arial"/>
                <a:cs typeface="Arial"/>
                <a:sym typeface="Arial"/>
              </a:rPr>
              <a:t>    </a:t>
            </a:r>
            <a:r>
              <a:rPr lang="ru" sz="1200">
                <a:solidFill>
                  <a:srgbClr val="990055"/>
                </a:solidFill>
                <a:latin typeface="Arial"/>
                <a:ea typeface="Arial"/>
                <a:cs typeface="Arial"/>
                <a:sym typeface="Arial"/>
              </a:rPr>
              <a:t>top</a:t>
            </a:r>
            <a:r>
              <a:rPr lang="ru" sz="1200">
                <a:solidFill>
                  <a:srgbClr val="999999"/>
                </a:solidFill>
                <a:latin typeface="Arial"/>
                <a:ea typeface="Arial"/>
                <a:cs typeface="Arial"/>
                <a:sym typeface="Arial"/>
              </a:rPr>
              <a:t>:</a:t>
            </a:r>
            <a:r>
              <a:rPr lang="ru" sz="1200">
                <a:solidFill>
                  <a:srgbClr val="303030"/>
                </a:solidFill>
                <a:latin typeface="Arial"/>
                <a:ea typeface="Arial"/>
                <a:cs typeface="Arial"/>
                <a:sym typeface="Arial"/>
              </a:rPr>
              <a:t> 100px</a:t>
            </a:r>
            <a:r>
              <a:rPr lang="ru" sz="1200">
                <a:solidFill>
                  <a:srgbClr val="999999"/>
                </a:solidFill>
                <a:latin typeface="Arial"/>
                <a:ea typeface="Arial"/>
                <a:cs typeface="Arial"/>
                <a:sym typeface="Arial"/>
              </a:rPr>
              <a:t>;</a:t>
            </a:r>
            <a:endParaRPr sz="1200">
              <a:solidFill>
                <a:srgbClr val="30303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00">
                <a:solidFill>
                  <a:srgbClr val="303030"/>
                </a:solidFill>
                <a:latin typeface="Arial"/>
                <a:ea typeface="Arial"/>
                <a:cs typeface="Arial"/>
                <a:sym typeface="Arial"/>
              </a:rPr>
              <a:t>    </a:t>
            </a:r>
            <a:r>
              <a:rPr lang="ru" sz="1200">
                <a:solidFill>
                  <a:srgbClr val="990055"/>
                </a:solidFill>
                <a:latin typeface="Arial"/>
                <a:ea typeface="Arial"/>
                <a:cs typeface="Arial"/>
                <a:sym typeface="Arial"/>
              </a:rPr>
              <a:t>animation-timing-function</a:t>
            </a:r>
            <a:r>
              <a:rPr lang="ru" sz="1200">
                <a:solidFill>
                  <a:srgbClr val="999999"/>
                </a:solidFill>
                <a:latin typeface="Arial"/>
                <a:ea typeface="Arial"/>
                <a:cs typeface="Arial"/>
                <a:sym typeface="Arial"/>
              </a:rPr>
              <a:t>:</a:t>
            </a:r>
            <a:r>
              <a:rPr lang="ru" sz="1200">
                <a:solidFill>
                  <a:srgbClr val="303030"/>
                </a:solidFill>
                <a:latin typeface="Arial"/>
                <a:ea typeface="Arial"/>
                <a:cs typeface="Arial"/>
                <a:sym typeface="Arial"/>
              </a:rPr>
              <a:t> ease-out</a:t>
            </a:r>
            <a:r>
              <a:rPr lang="ru" sz="1200">
                <a:solidFill>
                  <a:srgbClr val="999999"/>
                </a:solidFill>
                <a:latin typeface="Arial"/>
                <a:ea typeface="Arial"/>
                <a:cs typeface="Arial"/>
                <a:sym typeface="Arial"/>
              </a:rPr>
              <a:t>;</a:t>
            </a:r>
            <a:endParaRPr sz="1200">
              <a:solidFill>
                <a:srgbClr val="30303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00">
                <a:solidFill>
                  <a:srgbClr val="303030"/>
                </a:solidFill>
                <a:latin typeface="Arial"/>
                <a:ea typeface="Arial"/>
                <a:cs typeface="Arial"/>
                <a:sym typeface="Arial"/>
              </a:rPr>
              <a:t>  </a:t>
            </a:r>
            <a:r>
              <a:rPr lang="ru" sz="1200">
                <a:solidFill>
                  <a:srgbClr val="999999"/>
                </a:solidFill>
                <a:latin typeface="Arial"/>
                <a:ea typeface="Arial"/>
                <a:cs typeface="Arial"/>
                <a:sym typeface="Arial"/>
              </a:rPr>
              <a:t>}</a:t>
            </a:r>
            <a:endParaRPr sz="1200">
              <a:solidFill>
                <a:srgbClr val="30303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00">
                <a:solidFill>
                  <a:srgbClr val="303030"/>
                </a:solidFill>
                <a:latin typeface="Arial"/>
                <a:ea typeface="Arial"/>
                <a:cs typeface="Arial"/>
                <a:sym typeface="Arial"/>
              </a:rPr>
              <a:t>  </a:t>
            </a:r>
            <a:r>
              <a:rPr lang="ru" sz="1200">
                <a:solidFill>
                  <a:srgbClr val="669900"/>
                </a:solidFill>
                <a:latin typeface="Arial"/>
                <a:ea typeface="Arial"/>
                <a:cs typeface="Arial"/>
                <a:sym typeface="Arial"/>
              </a:rPr>
              <a:t>25%</a:t>
            </a:r>
            <a:r>
              <a:rPr lang="ru" sz="1200">
                <a:solidFill>
                  <a:srgbClr val="303030"/>
                </a:solidFill>
                <a:latin typeface="Arial"/>
                <a:ea typeface="Arial"/>
                <a:cs typeface="Arial"/>
                <a:sym typeface="Arial"/>
              </a:rPr>
              <a:t> </a:t>
            </a:r>
            <a:r>
              <a:rPr lang="ru" sz="1200">
                <a:solidFill>
                  <a:srgbClr val="999999"/>
                </a:solidFill>
                <a:latin typeface="Arial"/>
                <a:ea typeface="Arial"/>
                <a:cs typeface="Arial"/>
                <a:sym typeface="Arial"/>
              </a:rPr>
              <a:t>{</a:t>
            </a:r>
            <a:endParaRPr sz="1200">
              <a:solidFill>
                <a:srgbClr val="30303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00">
                <a:solidFill>
                  <a:srgbClr val="303030"/>
                </a:solidFill>
                <a:latin typeface="Arial"/>
                <a:ea typeface="Arial"/>
                <a:cs typeface="Arial"/>
                <a:sym typeface="Arial"/>
              </a:rPr>
              <a:t>    </a:t>
            </a:r>
            <a:r>
              <a:rPr lang="ru" sz="1200">
                <a:solidFill>
                  <a:srgbClr val="990055"/>
                </a:solidFill>
                <a:latin typeface="Arial"/>
                <a:ea typeface="Arial"/>
                <a:cs typeface="Arial"/>
                <a:sym typeface="Arial"/>
              </a:rPr>
              <a:t>top</a:t>
            </a:r>
            <a:r>
              <a:rPr lang="ru" sz="1200">
                <a:solidFill>
                  <a:srgbClr val="999999"/>
                </a:solidFill>
                <a:latin typeface="Arial"/>
                <a:ea typeface="Arial"/>
                <a:cs typeface="Arial"/>
                <a:sym typeface="Arial"/>
              </a:rPr>
              <a:t>:</a:t>
            </a:r>
            <a:r>
              <a:rPr lang="ru" sz="1200">
                <a:solidFill>
                  <a:srgbClr val="303030"/>
                </a:solidFill>
                <a:latin typeface="Arial"/>
                <a:ea typeface="Arial"/>
                <a:cs typeface="Arial"/>
                <a:sym typeface="Arial"/>
              </a:rPr>
              <a:t> 50px</a:t>
            </a:r>
            <a:r>
              <a:rPr lang="ru" sz="1200">
                <a:solidFill>
                  <a:srgbClr val="999999"/>
                </a:solidFill>
                <a:latin typeface="Arial"/>
                <a:ea typeface="Arial"/>
                <a:cs typeface="Arial"/>
                <a:sym typeface="Arial"/>
              </a:rPr>
              <a:t>;</a:t>
            </a:r>
            <a:endParaRPr sz="1200">
              <a:solidFill>
                <a:srgbClr val="30303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00">
                <a:solidFill>
                  <a:srgbClr val="303030"/>
                </a:solidFill>
                <a:latin typeface="Arial"/>
                <a:ea typeface="Arial"/>
                <a:cs typeface="Arial"/>
                <a:sym typeface="Arial"/>
              </a:rPr>
              <a:t>    </a:t>
            </a:r>
            <a:r>
              <a:rPr lang="ru" sz="1200">
                <a:solidFill>
                  <a:srgbClr val="990055"/>
                </a:solidFill>
                <a:latin typeface="Arial"/>
                <a:ea typeface="Arial"/>
                <a:cs typeface="Arial"/>
                <a:sym typeface="Arial"/>
              </a:rPr>
              <a:t>animation-timing-function</a:t>
            </a:r>
            <a:r>
              <a:rPr lang="ru" sz="1200">
                <a:solidFill>
                  <a:srgbClr val="999999"/>
                </a:solidFill>
                <a:latin typeface="Arial"/>
                <a:ea typeface="Arial"/>
                <a:cs typeface="Arial"/>
                <a:sym typeface="Arial"/>
              </a:rPr>
              <a:t>:</a:t>
            </a:r>
            <a:r>
              <a:rPr lang="ru" sz="1200">
                <a:solidFill>
                  <a:srgbClr val="303030"/>
                </a:solidFill>
                <a:latin typeface="Arial"/>
                <a:ea typeface="Arial"/>
                <a:cs typeface="Arial"/>
                <a:sym typeface="Arial"/>
              </a:rPr>
              <a:t> ease-in</a:t>
            </a:r>
            <a:r>
              <a:rPr lang="ru" sz="1200">
                <a:solidFill>
                  <a:srgbClr val="999999"/>
                </a:solidFill>
                <a:latin typeface="Arial"/>
                <a:ea typeface="Arial"/>
                <a:cs typeface="Arial"/>
                <a:sym typeface="Arial"/>
              </a:rPr>
              <a:t>;</a:t>
            </a:r>
            <a:endParaRPr sz="1200">
              <a:solidFill>
                <a:srgbClr val="30303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00">
                <a:solidFill>
                  <a:srgbClr val="303030"/>
                </a:solidFill>
                <a:latin typeface="Arial"/>
                <a:ea typeface="Arial"/>
                <a:cs typeface="Arial"/>
                <a:sym typeface="Arial"/>
              </a:rPr>
              <a:t>  </a:t>
            </a:r>
            <a:r>
              <a:rPr lang="ru" sz="1200">
                <a:solidFill>
                  <a:srgbClr val="999999"/>
                </a:solidFill>
                <a:latin typeface="Arial"/>
                <a:ea typeface="Arial"/>
                <a:cs typeface="Arial"/>
                <a:sym typeface="Arial"/>
              </a:rPr>
              <a:t>}</a:t>
            </a:r>
            <a:endParaRPr sz="1200">
              <a:solidFill>
                <a:srgbClr val="30303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00">
                <a:solidFill>
                  <a:srgbClr val="303030"/>
                </a:solidFill>
                <a:latin typeface="Arial"/>
                <a:ea typeface="Arial"/>
                <a:cs typeface="Arial"/>
                <a:sym typeface="Arial"/>
              </a:rPr>
              <a:t>  </a:t>
            </a:r>
            <a:r>
              <a:rPr lang="ru" sz="1200">
                <a:solidFill>
                  <a:srgbClr val="669900"/>
                </a:solidFill>
                <a:latin typeface="Arial"/>
                <a:ea typeface="Arial"/>
                <a:cs typeface="Arial"/>
                <a:sym typeface="Arial"/>
              </a:rPr>
              <a:t>50%</a:t>
            </a:r>
            <a:r>
              <a:rPr lang="ru" sz="1200">
                <a:solidFill>
                  <a:srgbClr val="303030"/>
                </a:solidFill>
                <a:latin typeface="Arial"/>
                <a:ea typeface="Arial"/>
                <a:cs typeface="Arial"/>
                <a:sym typeface="Arial"/>
              </a:rPr>
              <a:t> </a:t>
            </a:r>
            <a:r>
              <a:rPr lang="ru" sz="1200">
                <a:solidFill>
                  <a:srgbClr val="999999"/>
                </a:solidFill>
                <a:latin typeface="Arial"/>
                <a:ea typeface="Arial"/>
                <a:cs typeface="Arial"/>
                <a:sym typeface="Arial"/>
              </a:rPr>
              <a:t>{</a:t>
            </a:r>
            <a:endParaRPr sz="1200">
              <a:solidFill>
                <a:srgbClr val="30303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00">
                <a:solidFill>
                  <a:srgbClr val="303030"/>
                </a:solidFill>
                <a:latin typeface="Arial"/>
                <a:ea typeface="Arial"/>
                <a:cs typeface="Arial"/>
                <a:sym typeface="Arial"/>
              </a:rPr>
              <a:t>    </a:t>
            </a:r>
            <a:r>
              <a:rPr lang="ru" sz="1200">
                <a:solidFill>
                  <a:srgbClr val="990055"/>
                </a:solidFill>
                <a:latin typeface="Arial"/>
                <a:ea typeface="Arial"/>
                <a:cs typeface="Arial"/>
                <a:sym typeface="Arial"/>
              </a:rPr>
              <a:t>top</a:t>
            </a:r>
            <a:r>
              <a:rPr lang="ru" sz="1200">
                <a:solidFill>
                  <a:srgbClr val="999999"/>
                </a:solidFill>
                <a:latin typeface="Arial"/>
                <a:ea typeface="Arial"/>
                <a:cs typeface="Arial"/>
                <a:sym typeface="Arial"/>
              </a:rPr>
              <a:t>:</a:t>
            </a:r>
            <a:r>
              <a:rPr lang="ru" sz="1200">
                <a:solidFill>
                  <a:srgbClr val="303030"/>
                </a:solidFill>
                <a:latin typeface="Arial"/>
                <a:ea typeface="Arial"/>
                <a:cs typeface="Arial"/>
                <a:sym typeface="Arial"/>
              </a:rPr>
              <a:t> 100px</a:t>
            </a:r>
            <a:r>
              <a:rPr lang="ru" sz="1200">
                <a:solidFill>
                  <a:srgbClr val="999999"/>
                </a:solidFill>
                <a:latin typeface="Arial"/>
                <a:ea typeface="Arial"/>
                <a:cs typeface="Arial"/>
                <a:sym typeface="Arial"/>
              </a:rPr>
              <a:t>;</a:t>
            </a:r>
            <a:endParaRPr sz="1200">
              <a:solidFill>
                <a:srgbClr val="30303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00">
                <a:solidFill>
                  <a:srgbClr val="303030"/>
                </a:solidFill>
                <a:latin typeface="Arial"/>
                <a:ea typeface="Arial"/>
                <a:cs typeface="Arial"/>
                <a:sym typeface="Arial"/>
              </a:rPr>
              <a:t>    </a:t>
            </a:r>
            <a:r>
              <a:rPr lang="ru" sz="1200">
                <a:solidFill>
                  <a:srgbClr val="990055"/>
                </a:solidFill>
                <a:latin typeface="Arial"/>
                <a:ea typeface="Arial"/>
                <a:cs typeface="Arial"/>
                <a:sym typeface="Arial"/>
              </a:rPr>
              <a:t>animation-timing-function</a:t>
            </a:r>
            <a:r>
              <a:rPr lang="ru" sz="1200">
                <a:solidFill>
                  <a:srgbClr val="999999"/>
                </a:solidFill>
                <a:latin typeface="Arial"/>
                <a:ea typeface="Arial"/>
                <a:cs typeface="Arial"/>
                <a:sym typeface="Arial"/>
              </a:rPr>
              <a:t>:</a:t>
            </a:r>
            <a:r>
              <a:rPr lang="ru" sz="1200">
                <a:solidFill>
                  <a:srgbClr val="303030"/>
                </a:solidFill>
                <a:latin typeface="Arial"/>
                <a:ea typeface="Arial"/>
                <a:cs typeface="Arial"/>
                <a:sym typeface="Arial"/>
              </a:rPr>
              <a:t> ease-out</a:t>
            </a:r>
            <a:r>
              <a:rPr lang="ru" sz="1200">
                <a:solidFill>
                  <a:srgbClr val="999999"/>
                </a:solidFill>
                <a:latin typeface="Arial"/>
                <a:ea typeface="Arial"/>
                <a:cs typeface="Arial"/>
                <a:sym typeface="Arial"/>
              </a:rPr>
              <a:t>;</a:t>
            </a:r>
            <a:endParaRPr sz="1200">
              <a:solidFill>
                <a:srgbClr val="30303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00">
                <a:solidFill>
                  <a:srgbClr val="303030"/>
                </a:solidFill>
                <a:latin typeface="Arial"/>
                <a:ea typeface="Arial"/>
                <a:cs typeface="Arial"/>
                <a:sym typeface="Arial"/>
              </a:rPr>
              <a:t>  </a:t>
            </a:r>
            <a:r>
              <a:rPr lang="ru" sz="1200">
                <a:solidFill>
                  <a:srgbClr val="999999"/>
                </a:solidFill>
                <a:latin typeface="Arial"/>
                <a:ea typeface="Arial"/>
                <a:cs typeface="Arial"/>
                <a:sym typeface="Arial"/>
              </a:rPr>
              <a:t>}</a:t>
            </a:r>
            <a:endParaRPr sz="1200">
              <a:solidFill>
                <a:srgbClr val="30303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00">
                <a:solidFill>
                  <a:srgbClr val="303030"/>
                </a:solidFill>
                <a:latin typeface="Arial"/>
                <a:ea typeface="Arial"/>
                <a:cs typeface="Arial"/>
                <a:sym typeface="Arial"/>
              </a:rPr>
              <a:t>  </a:t>
            </a:r>
            <a:r>
              <a:rPr lang="ru" sz="1200">
                <a:solidFill>
                  <a:srgbClr val="669900"/>
                </a:solidFill>
                <a:latin typeface="Arial"/>
                <a:ea typeface="Arial"/>
                <a:cs typeface="Arial"/>
                <a:sym typeface="Arial"/>
              </a:rPr>
              <a:t>75%</a:t>
            </a:r>
            <a:r>
              <a:rPr lang="ru" sz="1200">
                <a:solidFill>
                  <a:srgbClr val="303030"/>
                </a:solidFill>
                <a:latin typeface="Arial"/>
                <a:ea typeface="Arial"/>
                <a:cs typeface="Arial"/>
                <a:sym typeface="Arial"/>
              </a:rPr>
              <a:t> </a:t>
            </a:r>
            <a:r>
              <a:rPr lang="ru" sz="1200">
                <a:solidFill>
                  <a:srgbClr val="999999"/>
                </a:solidFill>
                <a:latin typeface="Arial"/>
                <a:ea typeface="Arial"/>
                <a:cs typeface="Arial"/>
                <a:sym typeface="Arial"/>
              </a:rPr>
              <a:t>{</a:t>
            </a:r>
            <a:endParaRPr sz="1200">
              <a:solidFill>
                <a:srgbClr val="30303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00">
                <a:solidFill>
                  <a:srgbClr val="303030"/>
                </a:solidFill>
                <a:latin typeface="Arial"/>
                <a:ea typeface="Arial"/>
                <a:cs typeface="Arial"/>
                <a:sym typeface="Arial"/>
              </a:rPr>
              <a:t>    </a:t>
            </a:r>
            <a:r>
              <a:rPr lang="ru" sz="1200">
                <a:solidFill>
                  <a:srgbClr val="990055"/>
                </a:solidFill>
                <a:latin typeface="Arial"/>
                <a:ea typeface="Arial"/>
                <a:cs typeface="Arial"/>
                <a:sym typeface="Arial"/>
              </a:rPr>
              <a:t>top</a:t>
            </a:r>
            <a:r>
              <a:rPr lang="ru" sz="1200">
                <a:solidFill>
                  <a:srgbClr val="999999"/>
                </a:solidFill>
                <a:latin typeface="Arial"/>
                <a:ea typeface="Arial"/>
                <a:cs typeface="Arial"/>
                <a:sym typeface="Arial"/>
              </a:rPr>
              <a:t>:</a:t>
            </a:r>
            <a:r>
              <a:rPr lang="ru" sz="1200">
                <a:solidFill>
                  <a:srgbClr val="303030"/>
                </a:solidFill>
                <a:latin typeface="Arial"/>
                <a:ea typeface="Arial"/>
                <a:cs typeface="Arial"/>
                <a:sym typeface="Arial"/>
              </a:rPr>
              <a:t> 75px</a:t>
            </a:r>
            <a:r>
              <a:rPr lang="ru" sz="1200">
                <a:solidFill>
                  <a:srgbClr val="999999"/>
                </a:solidFill>
                <a:latin typeface="Arial"/>
                <a:ea typeface="Arial"/>
                <a:cs typeface="Arial"/>
                <a:sym typeface="Arial"/>
              </a:rPr>
              <a:t>;</a:t>
            </a:r>
            <a:endParaRPr sz="1200">
              <a:solidFill>
                <a:srgbClr val="30303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00">
                <a:solidFill>
                  <a:srgbClr val="303030"/>
                </a:solidFill>
                <a:latin typeface="Arial"/>
                <a:ea typeface="Arial"/>
                <a:cs typeface="Arial"/>
                <a:sym typeface="Arial"/>
              </a:rPr>
              <a:t>    </a:t>
            </a:r>
            <a:r>
              <a:rPr lang="ru" sz="1200">
                <a:solidFill>
                  <a:srgbClr val="990055"/>
                </a:solidFill>
                <a:latin typeface="Arial"/>
                <a:ea typeface="Arial"/>
                <a:cs typeface="Arial"/>
                <a:sym typeface="Arial"/>
              </a:rPr>
              <a:t>animation-timing-function</a:t>
            </a:r>
            <a:r>
              <a:rPr lang="ru" sz="1200">
                <a:solidFill>
                  <a:srgbClr val="999999"/>
                </a:solidFill>
                <a:latin typeface="Arial"/>
                <a:ea typeface="Arial"/>
                <a:cs typeface="Arial"/>
                <a:sym typeface="Arial"/>
              </a:rPr>
              <a:t>:</a:t>
            </a:r>
            <a:r>
              <a:rPr lang="ru" sz="1200">
                <a:solidFill>
                  <a:srgbClr val="303030"/>
                </a:solidFill>
                <a:latin typeface="Arial"/>
                <a:ea typeface="Arial"/>
                <a:cs typeface="Arial"/>
                <a:sym typeface="Arial"/>
              </a:rPr>
              <a:t> ease-in</a:t>
            </a:r>
            <a:r>
              <a:rPr lang="ru" sz="1200">
                <a:solidFill>
                  <a:srgbClr val="999999"/>
                </a:solidFill>
                <a:latin typeface="Arial"/>
                <a:ea typeface="Arial"/>
                <a:cs typeface="Arial"/>
                <a:sym typeface="Arial"/>
              </a:rPr>
              <a:t>;</a:t>
            </a:r>
            <a:endParaRPr sz="1200">
              <a:solidFill>
                <a:srgbClr val="30303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00">
                <a:solidFill>
                  <a:srgbClr val="303030"/>
                </a:solidFill>
                <a:latin typeface="Arial"/>
                <a:ea typeface="Arial"/>
                <a:cs typeface="Arial"/>
                <a:sym typeface="Arial"/>
              </a:rPr>
              <a:t>  </a:t>
            </a:r>
            <a:r>
              <a:rPr lang="ru" sz="1200">
                <a:solidFill>
                  <a:srgbClr val="999999"/>
                </a:solidFill>
                <a:latin typeface="Arial"/>
                <a:ea typeface="Arial"/>
                <a:cs typeface="Arial"/>
                <a:sym typeface="Arial"/>
              </a:rPr>
              <a:t>}</a:t>
            </a:r>
            <a:endParaRPr sz="1200">
              <a:solidFill>
                <a:srgbClr val="30303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00">
                <a:solidFill>
                  <a:srgbClr val="303030"/>
                </a:solidFill>
                <a:latin typeface="Arial"/>
                <a:ea typeface="Arial"/>
                <a:cs typeface="Arial"/>
                <a:sym typeface="Arial"/>
              </a:rPr>
              <a:t>  </a:t>
            </a:r>
            <a:r>
              <a:rPr lang="ru" sz="1200">
                <a:solidFill>
                  <a:srgbClr val="669900"/>
                </a:solidFill>
                <a:latin typeface="Arial"/>
                <a:ea typeface="Arial"/>
                <a:cs typeface="Arial"/>
                <a:sym typeface="Arial"/>
              </a:rPr>
              <a:t>to</a:t>
            </a:r>
            <a:r>
              <a:rPr lang="ru" sz="1200">
                <a:solidFill>
                  <a:srgbClr val="303030"/>
                </a:solidFill>
                <a:latin typeface="Arial"/>
                <a:ea typeface="Arial"/>
                <a:cs typeface="Arial"/>
                <a:sym typeface="Arial"/>
              </a:rPr>
              <a:t> </a:t>
            </a:r>
            <a:r>
              <a:rPr lang="ru" sz="1200">
                <a:solidFill>
                  <a:srgbClr val="999999"/>
                </a:solidFill>
                <a:latin typeface="Arial"/>
                <a:ea typeface="Arial"/>
                <a:cs typeface="Arial"/>
                <a:sym typeface="Arial"/>
              </a:rPr>
              <a:t>{</a:t>
            </a:r>
            <a:endParaRPr sz="1200">
              <a:solidFill>
                <a:srgbClr val="30303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00">
                <a:solidFill>
                  <a:srgbClr val="303030"/>
                </a:solidFill>
                <a:latin typeface="Arial"/>
                <a:ea typeface="Arial"/>
                <a:cs typeface="Arial"/>
                <a:sym typeface="Arial"/>
              </a:rPr>
              <a:t>    </a:t>
            </a:r>
            <a:r>
              <a:rPr lang="ru" sz="1200">
                <a:solidFill>
                  <a:srgbClr val="990055"/>
                </a:solidFill>
                <a:latin typeface="Arial"/>
                <a:ea typeface="Arial"/>
                <a:cs typeface="Arial"/>
                <a:sym typeface="Arial"/>
              </a:rPr>
              <a:t>top</a:t>
            </a:r>
            <a:r>
              <a:rPr lang="ru" sz="1200">
                <a:solidFill>
                  <a:srgbClr val="999999"/>
                </a:solidFill>
                <a:latin typeface="Arial"/>
                <a:ea typeface="Arial"/>
                <a:cs typeface="Arial"/>
                <a:sym typeface="Arial"/>
              </a:rPr>
              <a:t>:</a:t>
            </a:r>
            <a:r>
              <a:rPr lang="ru" sz="1200">
                <a:solidFill>
                  <a:srgbClr val="303030"/>
                </a:solidFill>
                <a:latin typeface="Arial"/>
                <a:ea typeface="Arial"/>
                <a:cs typeface="Arial"/>
                <a:sym typeface="Arial"/>
              </a:rPr>
              <a:t> 100px</a:t>
            </a:r>
            <a:r>
              <a:rPr lang="ru" sz="1200">
                <a:solidFill>
                  <a:srgbClr val="999999"/>
                </a:solidFill>
                <a:latin typeface="Arial"/>
                <a:ea typeface="Arial"/>
                <a:cs typeface="Arial"/>
                <a:sym typeface="Arial"/>
              </a:rPr>
              <a:t>;</a:t>
            </a:r>
            <a:endParaRPr sz="1200">
              <a:solidFill>
                <a:srgbClr val="303030"/>
              </a:solidFill>
              <a:latin typeface="Arial"/>
              <a:ea typeface="Arial"/>
              <a:cs typeface="Arial"/>
              <a:sym typeface="Arial"/>
            </a:endParaRPr>
          </a:p>
          <a:p>
            <a:pPr indent="0" lvl="0" marL="0" rtl="0" algn="l">
              <a:lnSpc>
                <a:spcPct val="115714"/>
              </a:lnSpc>
              <a:spcBef>
                <a:spcPts val="0"/>
              </a:spcBef>
              <a:spcAft>
                <a:spcPts val="0"/>
              </a:spcAft>
              <a:buSzPts val="770"/>
              <a:buNone/>
            </a:pPr>
            <a:r>
              <a:rPr lang="ru" sz="1200">
                <a:solidFill>
                  <a:srgbClr val="303030"/>
                </a:solidFill>
                <a:latin typeface="Arial"/>
                <a:ea typeface="Arial"/>
                <a:cs typeface="Arial"/>
                <a:sym typeface="Arial"/>
              </a:rPr>
              <a:t>  </a:t>
            </a:r>
            <a:r>
              <a:rPr lang="ru" sz="1200">
                <a:solidFill>
                  <a:srgbClr val="999999"/>
                </a:solidFill>
                <a:latin typeface="Arial"/>
                <a:ea typeface="Arial"/>
                <a:cs typeface="Arial"/>
                <a:sym typeface="Arial"/>
              </a:rPr>
              <a:t>}</a:t>
            </a:r>
            <a:endParaRPr sz="1200">
              <a:solidFill>
                <a:srgbClr val="303030"/>
              </a:solidFill>
              <a:latin typeface="Arial"/>
              <a:ea typeface="Arial"/>
              <a:cs typeface="Arial"/>
              <a:sym typeface="Arial"/>
            </a:endParaRPr>
          </a:p>
          <a:p>
            <a:pPr indent="0" lvl="0" marL="0" rtl="0" algn="l">
              <a:lnSpc>
                <a:spcPct val="115714"/>
              </a:lnSpc>
              <a:spcBef>
                <a:spcPts val="0"/>
              </a:spcBef>
              <a:spcAft>
                <a:spcPts val="0"/>
              </a:spcAft>
              <a:buNone/>
            </a:pPr>
            <a:r>
              <a:rPr lang="ru" sz="1200">
                <a:solidFill>
                  <a:srgbClr val="999999"/>
                </a:solidFill>
                <a:latin typeface="Arial"/>
                <a:ea typeface="Arial"/>
                <a:cs typeface="Arial"/>
                <a:sym typeface="Arial"/>
              </a:rPr>
              <a:t>}</a:t>
            </a:r>
            <a:endParaRPr sz="1200">
              <a:solidFill>
                <a:srgbClr val="999999"/>
              </a:solidFill>
              <a:latin typeface="Arial"/>
              <a:ea typeface="Arial"/>
              <a:cs typeface="Arial"/>
              <a:sym typeface="Arial"/>
            </a:endParaRPr>
          </a:p>
          <a:p>
            <a:pPr indent="0" lvl="0" marL="0" rtl="0" algn="l">
              <a:lnSpc>
                <a:spcPct val="115714"/>
              </a:lnSpc>
              <a:spcBef>
                <a:spcPts val="0"/>
              </a:spcBef>
              <a:spcAft>
                <a:spcPts val="0"/>
              </a:spcAft>
              <a:buSzPts val="770"/>
              <a:buNone/>
            </a:pPr>
            <a:r>
              <a:t/>
            </a:r>
            <a:endParaRPr b="1" sz="1200">
              <a:solidFill>
                <a:srgbClr val="000000"/>
              </a:solidFill>
              <a:latin typeface="Arial"/>
              <a:ea typeface="Arial"/>
              <a:cs typeface="Arial"/>
              <a:sym typeface="Arial"/>
            </a:endParaRPr>
          </a:p>
          <a:p>
            <a:pPr indent="0" lvl="0" marL="0" rtl="0" algn="l">
              <a:lnSpc>
                <a:spcPct val="95000"/>
              </a:lnSpc>
              <a:spcBef>
                <a:spcPts val="0"/>
              </a:spcBef>
              <a:spcAft>
                <a:spcPts val="1200"/>
              </a:spcAft>
              <a:buSzPts val="770"/>
              <a:buNone/>
            </a:pPr>
            <a:r>
              <a:t/>
            </a:r>
            <a:endParaRPr sz="1200">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54"/>
          <p:cNvSpPr/>
          <p:nvPr/>
        </p:nvSpPr>
        <p:spPr>
          <a:xfrm>
            <a:off x="2225275" y="1486150"/>
            <a:ext cx="4133700" cy="2104500"/>
          </a:xfrm>
          <a:prstGeom prst="rect">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7" name="Google Shape;387;p54"/>
          <p:cNvSpPr txBox="1"/>
          <p:nvPr>
            <p:ph idx="1" type="body"/>
          </p:nvPr>
        </p:nvSpPr>
        <p:spPr>
          <a:xfrm>
            <a:off x="2944975" y="799950"/>
            <a:ext cx="2694300" cy="3543600"/>
          </a:xfrm>
          <a:prstGeom prst="rect">
            <a:avLst/>
          </a:prstGeom>
          <a:solidFill>
            <a:srgbClr val="F7F8FC"/>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358"/>
              <a:buNone/>
            </a:pPr>
            <a:r>
              <a:rPr lang="ru" sz="1322">
                <a:highlight>
                  <a:srgbClr val="C27BA0"/>
                </a:highlight>
                <a:latin typeface="Arial"/>
                <a:ea typeface="Arial"/>
                <a:cs typeface="Arial"/>
                <a:sym typeface="Arial"/>
              </a:rPr>
              <a:t>@keyframes </a:t>
            </a:r>
            <a:r>
              <a:rPr lang="ru" sz="1322">
                <a:latin typeface="Arial"/>
                <a:ea typeface="Arial"/>
                <a:cs typeface="Arial"/>
                <a:sym typeface="Arial"/>
              </a:rPr>
              <a:t>fadeIn {</a:t>
            </a:r>
            <a:endParaRPr sz="1322">
              <a:latin typeface="Arial"/>
              <a:ea typeface="Arial"/>
              <a:cs typeface="Arial"/>
              <a:sym typeface="Arial"/>
            </a:endParaRPr>
          </a:p>
          <a:p>
            <a:pPr indent="0" lvl="0" marL="0" rtl="0" algn="l">
              <a:lnSpc>
                <a:spcPct val="105000"/>
              </a:lnSpc>
              <a:spcBef>
                <a:spcPts val="1200"/>
              </a:spcBef>
              <a:spcAft>
                <a:spcPts val="0"/>
              </a:spcAft>
              <a:buSzPts val="358"/>
              <a:buNone/>
            </a:pPr>
            <a:r>
              <a:rPr lang="ru" sz="1322">
                <a:latin typeface="Arial"/>
                <a:ea typeface="Arial"/>
                <a:cs typeface="Arial"/>
                <a:sym typeface="Arial"/>
              </a:rPr>
              <a:t>  from {</a:t>
            </a:r>
            <a:endParaRPr sz="1322">
              <a:latin typeface="Arial"/>
              <a:ea typeface="Arial"/>
              <a:cs typeface="Arial"/>
              <a:sym typeface="Arial"/>
            </a:endParaRPr>
          </a:p>
          <a:p>
            <a:pPr indent="0" lvl="0" marL="0" rtl="0" algn="l">
              <a:lnSpc>
                <a:spcPct val="105000"/>
              </a:lnSpc>
              <a:spcBef>
                <a:spcPts val="1200"/>
              </a:spcBef>
              <a:spcAft>
                <a:spcPts val="0"/>
              </a:spcAft>
              <a:buSzPts val="358"/>
              <a:buNone/>
            </a:pPr>
            <a:r>
              <a:rPr lang="ru" sz="1322">
                <a:latin typeface="Arial"/>
                <a:ea typeface="Arial"/>
                <a:cs typeface="Arial"/>
                <a:sym typeface="Arial"/>
              </a:rPr>
              <a:t>    opacity: 0;</a:t>
            </a:r>
            <a:endParaRPr sz="1322">
              <a:latin typeface="Arial"/>
              <a:ea typeface="Arial"/>
              <a:cs typeface="Arial"/>
              <a:sym typeface="Arial"/>
            </a:endParaRPr>
          </a:p>
          <a:p>
            <a:pPr indent="0" lvl="0" marL="0" rtl="0" algn="l">
              <a:lnSpc>
                <a:spcPct val="105000"/>
              </a:lnSpc>
              <a:spcBef>
                <a:spcPts val="1200"/>
              </a:spcBef>
              <a:spcAft>
                <a:spcPts val="0"/>
              </a:spcAft>
              <a:buSzPts val="358"/>
              <a:buNone/>
            </a:pPr>
            <a:r>
              <a:rPr lang="ru" sz="1322">
                <a:latin typeface="Arial"/>
                <a:ea typeface="Arial"/>
                <a:cs typeface="Arial"/>
                <a:sym typeface="Arial"/>
              </a:rPr>
              <a:t>    transform: translateY(20px);</a:t>
            </a:r>
            <a:endParaRPr sz="1322">
              <a:latin typeface="Arial"/>
              <a:ea typeface="Arial"/>
              <a:cs typeface="Arial"/>
              <a:sym typeface="Arial"/>
            </a:endParaRPr>
          </a:p>
          <a:p>
            <a:pPr indent="0" lvl="0" marL="0" rtl="0" algn="l">
              <a:lnSpc>
                <a:spcPct val="105000"/>
              </a:lnSpc>
              <a:spcBef>
                <a:spcPts val="1200"/>
              </a:spcBef>
              <a:spcAft>
                <a:spcPts val="0"/>
              </a:spcAft>
              <a:buSzPts val="358"/>
              <a:buNone/>
            </a:pPr>
            <a:r>
              <a:rPr lang="ru" sz="1322">
                <a:latin typeface="Arial"/>
                <a:ea typeface="Arial"/>
                <a:cs typeface="Arial"/>
                <a:sym typeface="Arial"/>
              </a:rPr>
              <a:t>  }</a:t>
            </a:r>
            <a:endParaRPr sz="1322">
              <a:latin typeface="Arial"/>
              <a:ea typeface="Arial"/>
              <a:cs typeface="Arial"/>
              <a:sym typeface="Arial"/>
            </a:endParaRPr>
          </a:p>
          <a:p>
            <a:pPr indent="0" lvl="0" marL="0" rtl="0" algn="l">
              <a:lnSpc>
                <a:spcPct val="105000"/>
              </a:lnSpc>
              <a:spcBef>
                <a:spcPts val="1200"/>
              </a:spcBef>
              <a:spcAft>
                <a:spcPts val="0"/>
              </a:spcAft>
              <a:buSzPts val="358"/>
              <a:buNone/>
            </a:pPr>
            <a:r>
              <a:rPr lang="ru" sz="1322">
                <a:latin typeface="Arial"/>
                <a:ea typeface="Arial"/>
                <a:cs typeface="Arial"/>
                <a:sym typeface="Arial"/>
              </a:rPr>
              <a:t>  to {</a:t>
            </a:r>
            <a:endParaRPr sz="1322">
              <a:latin typeface="Arial"/>
              <a:ea typeface="Arial"/>
              <a:cs typeface="Arial"/>
              <a:sym typeface="Arial"/>
            </a:endParaRPr>
          </a:p>
          <a:p>
            <a:pPr indent="0" lvl="0" marL="0" rtl="0" algn="l">
              <a:lnSpc>
                <a:spcPct val="105000"/>
              </a:lnSpc>
              <a:spcBef>
                <a:spcPts val="1200"/>
              </a:spcBef>
              <a:spcAft>
                <a:spcPts val="0"/>
              </a:spcAft>
              <a:buSzPts val="358"/>
              <a:buNone/>
            </a:pPr>
            <a:r>
              <a:rPr lang="ru" sz="1322">
                <a:latin typeface="Arial"/>
                <a:ea typeface="Arial"/>
                <a:cs typeface="Arial"/>
                <a:sym typeface="Arial"/>
              </a:rPr>
              <a:t>    opacity: 1;</a:t>
            </a:r>
            <a:endParaRPr sz="1322">
              <a:latin typeface="Arial"/>
              <a:ea typeface="Arial"/>
              <a:cs typeface="Arial"/>
              <a:sym typeface="Arial"/>
            </a:endParaRPr>
          </a:p>
          <a:p>
            <a:pPr indent="0" lvl="0" marL="0" rtl="0" algn="l">
              <a:lnSpc>
                <a:spcPct val="105000"/>
              </a:lnSpc>
              <a:spcBef>
                <a:spcPts val="1200"/>
              </a:spcBef>
              <a:spcAft>
                <a:spcPts val="0"/>
              </a:spcAft>
              <a:buSzPts val="358"/>
              <a:buNone/>
            </a:pPr>
            <a:r>
              <a:rPr lang="ru" sz="1322">
                <a:latin typeface="Arial"/>
                <a:ea typeface="Arial"/>
                <a:cs typeface="Arial"/>
                <a:sym typeface="Arial"/>
              </a:rPr>
              <a:t>    transform: translateY(0);</a:t>
            </a:r>
            <a:endParaRPr sz="1322">
              <a:latin typeface="Arial"/>
              <a:ea typeface="Arial"/>
              <a:cs typeface="Arial"/>
              <a:sym typeface="Arial"/>
            </a:endParaRPr>
          </a:p>
          <a:p>
            <a:pPr indent="0" lvl="0" marL="0" rtl="0" algn="l">
              <a:lnSpc>
                <a:spcPct val="105000"/>
              </a:lnSpc>
              <a:spcBef>
                <a:spcPts val="1200"/>
              </a:spcBef>
              <a:spcAft>
                <a:spcPts val="0"/>
              </a:spcAft>
              <a:buSzPts val="358"/>
              <a:buNone/>
            </a:pPr>
            <a:r>
              <a:rPr lang="ru" sz="1322">
                <a:latin typeface="Arial"/>
                <a:ea typeface="Arial"/>
                <a:cs typeface="Arial"/>
                <a:sym typeface="Arial"/>
              </a:rPr>
              <a:t>  }</a:t>
            </a:r>
            <a:endParaRPr sz="1322">
              <a:latin typeface="Arial"/>
              <a:ea typeface="Arial"/>
              <a:cs typeface="Arial"/>
              <a:sym typeface="Arial"/>
            </a:endParaRPr>
          </a:p>
          <a:p>
            <a:pPr indent="0" lvl="0" marL="0" rtl="0" algn="l">
              <a:lnSpc>
                <a:spcPct val="105000"/>
              </a:lnSpc>
              <a:spcBef>
                <a:spcPts val="1200"/>
              </a:spcBef>
              <a:spcAft>
                <a:spcPts val="0"/>
              </a:spcAft>
              <a:buSzPts val="358"/>
              <a:buNone/>
            </a:pPr>
            <a:r>
              <a:rPr lang="ru" sz="1322">
                <a:latin typeface="Arial"/>
                <a:ea typeface="Arial"/>
                <a:cs typeface="Arial"/>
                <a:sym typeface="Arial"/>
              </a:rPr>
              <a:t>}</a:t>
            </a:r>
            <a:endParaRPr sz="1322">
              <a:latin typeface="Arial"/>
              <a:ea typeface="Arial"/>
              <a:cs typeface="Arial"/>
              <a:sym typeface="Arial"/>
            </a:endParaRPr>
          </a:p>
          <a:p>
            <a:pPr indent="0" lvl="0" marL="0" rtl="0" algn="l">
              <a:lnSpc>
                <a:spcPct val="105000"/>
              </a:lnSpc>
              <a:spcBef>
                <a:spcPts val="1200"/>
              </a:spcBef>
              <a:spcAft>
                <a:spcPts val="1200"/>
              </a:spcAft>
              <a:buSzPts val="358"/>
              <a:buNone/>
            </a:pPr>
            <a:r>
              <a:t/>
            </a:r>
            <a:endParaRPr sz="422"/>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5"/>
          <p:cNvSpPr txBox="1"/>
          <p:nvPr>
            <p:ph type="title"/>
          </p:nvPr>
        </p:nvSpPr>
        <p:spPr>
          <a:xfrm>
            <a:off x="453150" y="587900"/>
            <a:ext cx="8167800" cy="954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3.1. </a:t>
            </a:r>
            <a:r>
              <a:rPr b="1" lang="ru" sz="2800">
                <a:solidFill>
                  <a:srgbClr val="303030"/>
                </a:solidFill>
                <a:highlight>
                  <a:srgbClr val="FFFFFF"/>
                </a:highlight>
              </a:rPr>
              <a:t>Временная функция для ключевых кадров</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000000"/>
              </a:solidFill>
            </a:endParaRPr>
          </a:p>
          <a:p>
            <a:pPr indent="0" lvl="0" marL="0" rtl="0" algn="l">
              <a:spcBef>
                <a:spcPts val="400"/>
              </a:spcBef>
              <a:spcAft>
                <a:spcPts val="0"/>
              </a:spcAft>
              <a:buNone/>
            </a:pPr>
            <a:r>
              <a:t/>
            </a:r>
            <a:endParaRPr/>
          </a:p>
        </p:txBody>
      </p:sp>
      <p:sp>
        <p:nvSpPr>
          <p:cNvPr id="393" name="Google Shape;393;p55"/>
          <p:cNvSpPr txBox="1"/>
          <p:nvPr>
            <p:ph idx="1" type="body"/>
          </p:nvPr>
        </p:nvSpPr>
        <p:spPr>
          <a:xfrm>
            <a:off x="393300" y="1864950"/>
            <a:ext cx="8357400" cy="25332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ru" sz="1500">
                <a:solidFill>
                  <a:srgbClr val="303030"/>
                </a:solidFill>
                <a:latin typeface="Arial"/>
                <a:ea typeface="Arial"/>
                <a:cs typeface="Arial"/>
                <a:sym typeface="Arial"/>
              </a:rPr>
              <a:t>Пять ключевых кадров указаны для анимации с именем "bounce". Между первым и вторым ключевым кадром (то есть между 0% и 25%) используется функция замедления. Между вторым и третьим (то есть между 25% и 50%) — функция плавного ускорения. И так далее. Элемент будет перемещаться вверх по странице на 50px, замедляясь по мере того, как он достигнет своей наивысшей точки, а затем ускоряясь, когда он упадет до 100px. Вторая половина анимации ведет себя аналогичным образом, но только перемещает элемент на 25px вверх по странице.</a:t>
            </a:r>
            <a:endParaRPr sz="1500">
              <a:solidFill>
                <a:srgbClr val="303030"/>
              </a:solidFill>
              <a:latin typeface="Arial"/>
              <a:ea typeface="Arial"/>
              <a:cs typeface="Arial"/>
              <a:sym typeface="Arial"/>
            </a:endParaRPr>
          </a:p>
          <a:p>
            <a:pPr indent="0" lvl="0" marL="0" rtl="0" algn="just">
              <a:spcBef>
                <a:spcPts val="1100"/>
              </a:spcBef>
              <a:spcAft>
                <a:spcPts val="0"/>
              </a:spcAft>
              <a:buNone/>
            </a:pPr>
            <a:r>
              <a:rPr lang="ru" sz="1500">
                <a:solidFill>
                  <a:srgbClr val="303030"/>
                </a:solidFill>
                <a:latin typeface="Arial"/>
                <a:ea typeface="Arial"/>
                <a:cs typeface="Arial"/>
                <a:sym typeface="Arial"/>
              </a:rPr>
              <a:t>Временная функция, указанная в ключевом кадре to или 100%, игнорируется.</a:t>
            </a:r>
            <a:endParaRPr sz="1500">
              <a:solidFill>
                <a:srgbClr val="303030"/>
              </a:solidFill>
              <a:latin typeface="Arial"/>
              <a:ea typeface="Arial"/>
              <a:cs typeface="Arial"/>
              <a:sym typeface="Arial"/>
            </a:endParaRPr>
          </a:p>
          <a:p>
            <a:pPr indent="0" lvl="0" marL="0" rtl="0" algn="just">
              <a:lnSpc>
                <a:spcPct val="95000"/>
              </a:lnSpc>
              <a:spcBef>
                <a:spcPts val="1100"/>
              </a:spcBef>
              <a:spcAft>
                <a:spcPts val="1100"/>
              </a:spcAft>
              <a:buSzPts val="1018"/>
              <a:buNone/>
            </a:pPr>
            <a:r>
              <a:t/>
            </a:r>
            <a:endParaRPr sz="1500">
              <a:solidFill>
                <a:srgbClr val="30303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pic>
        <p:nvPicPr>
          <p:cNvPr id="398" name="Google Shape;398;p56" title="Анимация2.gif"/>
          <p:cNvPicPr preferRelativeResize="0"/>
          <p:nvPr/>
        </p:nvPicPr>
        <p:blipFill>
          <a:blip r:embed="rId3">
            <a:alphaModFix/>
          </a:blip>
          <a:stretch>
            <a:fillRect/>
          </a:stretch>
        </p:blipFill>
        <p:spPr>
          <a:xfrm>
            <a:off x="2084325" y="555975"/>
            <a:ext cx="4975349" cy="38697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7"/>
          <p:cNvSpPr txBox="1"/>
          <p:nvPr>
            <p:ph type="title"/>
          </p:nvPr>
        </p:nvSpPr>
        <p:spPr>
          <a:xfrm>
            <a:off x="453150" y="587900"/>
            <a:ext cx="8167800" cy="954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3.2. </a:t>
            </a:r>
            <a:r>
              <a:rPr b="1" lang="ru" sz="2800">
                <a:solidFill>
                  <a:srgbClr val="303030"/>
                </a:solidFill>
                <a:highlight>
                  <a:srgbClr val="FFFFFF"/>
                </a:highlight>
              </a:rPr>
              <a:t>Название анимации: свойство </a:t>
            </a:r>
            <a:r>
              <a:rPr b="1" lang="ru" sz="2800">
                <a:solidFill>
                  <a:srgbClr val="303030"/>
                </a:solidFill>
                <a:highlight>
                  <a:srgbClr val="D5A6BD"/>
                </a:highlight>
              </a:rPr>
              <a:t>animation-name</a:t>
            </a:r>
            <a:endParaRPr b="1" sz="2800">
              <a:solidFill>
                <a:srgbClr val="303030"/>
              </a:solidFill>
              <a:highlight>
                <a:srgbClr val="D5A6BD"/>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000000"/>
              </a:solidFill>
            </a:endParaRPr>
          </a:p>
          <a:p>
            <a:pPr indent="0" lvl="0" marL="0" rtl="0" algn="l">
              <a:spcBef>
                <a:spcPts val="400"/>
              </a:spcBef>
              <a:spcAft>
                <a:spcPts val="0"/>
              </a:spcAft>
              <a:buNone/>
            </a:pPr>
            <a:r>
              <a:t/>
            </a:r>
            <a:endParaRPr/>
          </a:p>
        </p:txBody>
      </p:sp>
      <p:sp>
        <p:nvSpPr>
          <p:cNvPr id="404" name="Google Shape;404;p57"/>
          <p:cNvSpPr txBox="1"/>
          <p:nvPr>
            <p:ph idx="1" type="body"/>
          </p:nvPr>
        </p:nvSpPr>
        <p:spPr>
          <a:xfrm>
            <a:off x="386350" y="1864950"/>
            <a:ext cx="8364300" cy="2978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ru" sz="1500">
                <a:solidFill>
                  <a:srgbClr val="303030"/>
                </a:solidFill>
                <a:latin typeface="Arial"/>
                <a:ea typeface="Arial"/>
                <a:cs typeface="Arial"/>
                <a:sym typeface="Arial"/>
              </a:rPr>
              <a:t>Свойство animation-name определяет список применяемых к элементу анимаций. Каждое имя используется для выбора ключевого кадра в правиле, которое предоставляет значения свойств для анимации. Если имя не соответствует ни одному ключевому кадру в правиле, нет свойств для анимации, отсутствует имя анимации, анимация не будет выполняться.</a:t>
            </a:r>
            <a:endParaRPr sz="1500">
              <a:solidFill>
                <a:srgbClr val="303030"/>
              </a:solidFill>
              <a:latin typeface="Arial"/>
              <a:ea typeface="Arial"/>
              <a:cs typeface="Arial"/>
              <a:sym typeface="Arial"/>
            </a:endParaRPr>
          </a:p>
          <a:p>
            <a:pPr indent="0" lvl="0" marL="0" rtl="0" algn="just">
              <a:spcBef>
                <a:spcPts val="1100"/>
              </a:spcBef>
              <a:spcAft>
                <a:spcPts val="0"/>
              </a:spcAft>
              <a:buNone/>
            </a:pPr>
            <a:r>
              <a:rPr lang="ru" sz="1500">
                <a:solidFill>
                  <a:srgbClr val="303030"/>
                </a:solidFill>
                <a:latin typeface="Arial"/>
                <a:ea typeface="Arial"/>
                <a:cs typeface="Arial"/>
                <a:sym typeface="Arial"/>
              </a:rPr>
              <a:t>Если несколько анимаций пытаются изменить одно и то же свойство, то выполнится анимация, ближайшая к концу списка имен.</a:t>
            </a:r>
            <a:endParaRPr sz="1500">
              <a:solidFill>
                <a:srgbClr val="303030"/>
              </a:solidFill>
              <a:latin typeface="Arial"/>
              <a:ea typeface="Arial"/>
              <a:cs typeface="Arial"/>
              <a:sym typeface="Arial"/>
            </a:endParaRPr>
          </a:p>
          <a:p>
            <a:pPr indent="0" lvl="0" marL="0" rtl="0" algn="just">
              <a:spcBef>
                <a:spcPts val="1100"/>
              </a:spcBef>
              <a:spcAft>
                <a:spcPts val="0"/>
              </a:spcAft>
              <a:buNone/>
            </a:pPr>
            <a:r>
              <a:rPr lang="ru" sz="1500">
                <a:solidFill>
                  <a:srgbClr val="303030"/>
                </a:solidFill>
                <a:latin typeface="Arial"/>
                <a:ea typeface="Arial"/>
                <a:cs typeface="Arial"/>
                <a:sym typeface="Arial"/>
              </a:rPr>
              <a:t>Имя анимации чувствительно к регистру, не допускается использование ключевого слова none. Свойство не наследуется.</a:t>
            </a:r>
            <a:endParaRPr sz="1500">
              <a:solidFill>
                <a:srgbClr val="303030"/>
              </a:solidFill>
              <a:latin typeface="Arial"/>
              <a:ea typeface="Arial"/>
              <a:cs typeface="Arial"/>
              <a:sym typeface="Arial"/>
            </a:endParaRPr>
          </a:p>
          <a:p>
            <a:pPr indent="0" lvl="0" marL="0" rtl="0" algn="just">
              <a:lnSpc>
                <a:spcPct val="95000"/>
              </a:lnSpc>
              <a:spcBef>
                <a:spcPts val="1100"/>
              </a:spcBef>
              <a:spcAft>
                <a:spcPts val="1100"/>
              </a:spcAft>
              <a:buSzPts val="1018"/>
              <a:buNone/>
            </a:pPr>
            <a:r>
              <a:t/>
            </a:r>
            <a:endParaRPr sz="1500">
              <a:solidFill>
                <a:srgbClr val="30303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8"/>
          <p:cNvSpPr txBox="1"/>
          <p:nvPr>
            <p:ph type="title"/>
          </p:nvPr>
        </p:nvSpPr>
        <p:spPr>
          <a:xfrm>
            <a:off x="453150" y="587900"/>
            <a:ext cx="8167800" cy="954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3.2. </a:t>
            </a:r>
            <a:r>
              <a:rPr b="1" lang="ru" sz="2800">
                <a:solidFill>
                  <a:srgbClr val="303030"/>
                </a:solidFill>
                <a:highlight>
                  <a:srgbClr val="FFFFFF"/>
                </a:highlight>
              </a:rPr>
              <a:t>Название анимации: свойство </a:t>
            </a:r>
            <a:r>
              <a:rPr b="1" lang="ru" sz="2800">
                <a:solidFill>
                  <a:srgbClr val="303030"/>
                </a:solidFill>
                <a:highlight>
                  <a:srgbClr val="D5A6BD"/>
                </a:highlight>
              </a:rPr>
              <a:t>animation-name</a:t>
            </a:r>
            <a:endParaRPr b="1" sz="2800">
              <a:solidFill>
                <a:srgbClr val="303030"/>
              </a:solidFill>
              <a:highlight>
                <a:srgbClr val="D5A6BD"/>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000000"/>
              </a:solidFill>
            </a:endParaRPr>
          </a:p>
          <a:p>
            <a:pPr indent="0" lvl="0" marL="0" rtl="0" algn="l">
              <a:spcBef>
                <a:spcPts val="400"/>
              </a:spcBef>
              <a:spcAft>
                <a:spcPts val="0"/>
              </a:spcAft>
              <a:buNone/>
            </a:pPr>
            <a:r>
              <a:t/>
            </a:r>
            <a:endParaRPr/>
          </a:p>
        </p:txBody>
      </p:sp>
      <p:graphicFrame>
        <p:nvGraphicFramePr>
          <p:cNvPr id="410" name="Google Shape;410;p58"/>
          <p:cNvGraphicFramePr/>
          <p:nvPr/>
        </p:nvGraphicFramePr>
        <p:xfrm>
          <a:off x="1274738" y="1919125"/>
          <a:ext cx="3000000" cy="3000000"/>
        </p:xfrm>
        <a:graphic>
          <a:graphicData uri="http://schemas.openxmlformats.org/drawingml/2006/table">
            <a:tbl>
              <a:tblPr>
                <a:solidFill>
                  <a:srgbClr val="FFFFFF"/>
                </a:solidFill>
                <a:tableStyleId>{69577998-B902-4363-BD42-2B2995AA7EB3}</a:tableStyleId>
              </a:tblPr>
              <a:tblGrid>
                <a:gridCol w="1304925"/>
                <a:gridCol w="5219700"/>
              </a:tblGrid>
              <a:tr h="371475">
                <a:tc gridSpan="2">
                  <a:txBody>
                    <a:bodyPr/>
                    <a:lstStyle/>
                    <a:p>
                      <a:pPr indent="0" lvl="0" marL="0" rtl="0" algn="ctr">
                        <a:lnSpc>
                          <a:spcPct val="115000"/>
                        </a:lnSpc>
                        <a:spcBef>
                          <a:spcPts val="0"/>
                        </a:spcBef>
                        <a:spcAft>
                          <a:spcPts val="0"/>
                        </a:spcAft>
                        <a:buNone/>
                      </a:pPr>
                      <a:r>
                        <a:rPr b="1" lang="ru" sz="1200">
                          <a:highlight>
                            <a:srgbClr val="D5A6BD"/>
                          </a:highlight>
                        </a:rPr>
                        <a:t>animation-name</a:t>
                      </a:r>
                      <a:endParaRPr b="1" sz="1200">
                        <a:highlight>
                          <a:srgbClr val="D5A6BD"/>
                        </a:highlight>
                      </a:endParaRPr>
                    </a:p>
                  </a:txBody>
                  <a:tcPr marT="95250" marB="9525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hMerge="1"/>
              </a:tr>
              <a:tr h="314325">
                <a:tc>
                  <a:txBody>
                    <a:bodyPr/>
                    <a:lstStyle/>
                    <a:p>
                      <a:pPr indent="0" lvl="0" marL="0" rtl="0" algn="ctr">
                        <a:lnSpc>
                          <a:spcPct val="115000"/>
                        </a:lnSpc>
                        <a:spcBef>
                          <a:spcPts val="0"/>
                        </a:spcBef>
                        <a:spcAft>
                          <a:spcPts val="0"/>
                        </a:spcAft>
                        <a:buNone/>
                      </a:pPr>
                      <a:r>
                        <a:rPr b="1" lang="ru" sz="1200"/>
                        <a:t>Значения:</a:t>
                      </a:r>
                      <a:endParaRPr b="1"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ru" sz="1200"/>
                        <a:t>Описание</a:t>
                      </a:r>
                      <a:endParaRPr b="1"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19125">
                <a:tc>
                  <a:txBody>
                    <a:bodyPr/>
                    <a:lstStyle/>
                    <a:p>
                      <a:pPr indent="0" lvl="0" marL="0" rtl="0" algn="just">
                        <a:lnSpc>
                          <a:spcPct val="115000"/>
                        </a:lnSpc>
                        <a:spcBef>
                          <a:spcPts val="0"/>
                        </a:spcBef>
                        <a:spcAft>
                          <a:spcPts val="0"/>
                        </a:spcAft>
                        <a:buNone/>
                      </a:pPr>
                      <a:r>
                        <a:rPr lang="ru" sz="1200"/>
                        <a:t>none</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Означает отсутствие анимации. Также используется, чтобы отменить анимацию элемента из группы элементов, для которых задана анимация. Значение по умолчанию.</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4325">
                <a:tc>
                  <a:txBody>
                    <a:bodyPr/>
                    <a:lstStyle/>
                    <a:p>
                      <a:pPr indent="0" lvl="0" marL="0" rtl="0" algn="just">
                        <a:lnSpc>
                          <a:spcPct val="115000"/>
                        </a:lnSpc>
                        <a:spcBef>
                          <a:spcPts val="0"/>
                        </a:spcBef>
                        <a:spcAft>
                          <a:spcPts val="0"/>
                        </a:spcAft>
                        <a:buNone/>
                      </a:pPr>
                      <a:r>
                        <a:rPr lang="ru" sz="1200"/>
                        <a:t>имя анимации</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Имя анимации, которое связывает правило @keyframes с селектором.</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4800">
                <a:tc>
                  <a:txBody>
                    <a:bodyPr/>
                    <a:lstStyle/>
                    <a:p>
                      <a:pPr indent="0" lvl="0" marL="0" rtl="0" algn="just">
                        <a:lnSpc>
                          <a:spcPct val="115000"/>
                        </a:lnSpc>
                        <a:spcBef>
                          <a:spcPts val="0"/>
                        </a:spcBef>
                        <a:spcAft>
                          <a:spcPts val="0"/>
                        </a:spcAft>
                        <a:buNone/>
                      </a:pPr>
                      <a:r>
                        <a:rPr lang="ru" sz="1200"/>
                        <a:t>initial</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Устанавливает значение свойства в значение по умолчанию.</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4325">
                <a:tc>
                  <a:txBody>
                    <a:bodyPr/>
                    <a:lstStyle/>
                    <a:p>
                      <a:pPr indent="0" lvl="0" marL="0" rtl="0" algn="just">
                        <a:lnSpc>
                          <a:spcPct val="115000"/>
                        </a:lnSpc>
                        <a:spcBef>
                          <a:spcPts val="0"/>
                        </a:spcBef>
                        <a:spcAft>
                          <a:spcPts val="0"/>
                        </a:spcAft>
                        <a:buNone/>
                      </a:pPr>
                      <a:r>
                        <a:rPr lang="ru" sz="1200"/>
                        <a:t>inherit</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Наследует значение свойства от родительского элемента.</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9"/>
          <p:cNvSpPr txBox="1"/>
          <p:nvPr>
            <p:ph type="title"/>
          </p:nvPr>
        </p:nvSpPr>
        <p:spPr>
          <a:xfrm>
            <a:off x="453150" y="587900"/>
            <a:ext cx="8167800" cy="954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3.2. </a:t>
            </a:r>
            <a:r>
              <a:rPr b="1" lang="ru" sz="2800">
                <a:solidFill>
                  <a:srgbClr val="303030"/>
                </a:solidFill>
                <a:highlight>
                  <a:srgbClr val="FFFFFF"/>
                </a:highlight>
              </a:rPr>
              <a:t>Название анимации: свойство </a:t>
            </a:r>
            <a:r>
              <a:rPr b="1" lang="ru" sz="2800">
                <a:solidFill>
                  <a:srgbClr val="303030"/>
                </a:solidFill>
                <a:highlight>
                  <a:srgbClr val="D5A6BD"/>
                </a:highlight>
              </a:rPr>
              <a:t>animation-name</a:t>
            </a:r>
            <a:endParaRPr b="1" sz="2800">
              <a:solidFill>
                <a:srgbClr val="303030"/>
              </a:solidFill>
              <a:highlight>
                <a:srgbClr val="D5A6BD"/>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000000"/>
              </a:solidFill>
            </a:endParaRPr>
          </a:p>
          <a:p>
            <a:pPr indent="0" lvl="0" marL="0" rtl="0" algn="l">
              <a:spcBef>
                <a:spcPts val="400"/>
              </a:spcBef>
              <a:spcAft>
                <a:spcPts val="0"/>
              </a:spcAft>
              <a:buNone/>
            </a:pPr>
            <a:r>
              <a:t/>
            </a:r>
            <a:endParaRPr/>
          </a:p>
        </p:txBody>
      </p:sp>
      <p:sp>
        <p:nvSpPr>
          <p:cNvPr id="416" name="Google Shape;416;p59"/>
          <p:cNvSpPr/>
          <p:nvPr/>
        </p:nvSpPr>
        <p:spPr>
          <a:xfrm>
            <a:off x="3981250" y="1709750"/>
            <a:ext cx="2227500" cy="1981800"/>
          </a:xfrm>
          <a:prstGeom prst="rect">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17" name="Google Shape;417;p59"/>
          <p:cNvSpPr txBox="1"/>
          <p:nvPr/>
        </p:nvSpPr>
        <p:spPr>
          <a:xfrm>
            <a:off x="2929500" y="1966450"/>
            <a:ext cx="3000000" cy="22626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ru" sz="1500">
                <a:solidFill>
                  <a:srgbClr val="990055"/>
                </a:solidFill>
                <a:highlight>
                  <a:srgbClr val="F5F5F5"/>
                </a:highlight>
              </a:rPr>
              <a:t>animation-name</a:t>
            </a:r>
            <a:r>
              <a:rPr lang="ru" sz="1500">
                <a:solidFill>
                  <a:srgbClr val="999999"/>
                </a:solidFill>
                <a:highlight>
                  <a:srgbClr val="F5F5F5"/>
                </a:highlight>
              </a:rPr>
              <a:t>:</a:t>
            </a:r>
            <a:r>
              <a:rPr lang="ru" sz="1500">
                <a:solidFill>
                  <a:srgbClr val="303030"/>
                </a:solidFill>
                <a:highlight>
                  <a:srgbClr val="F5F5F5"/>
                </a:highlight>
              </a:rPr>
              <a:t> none</a:t>
            </a:r>
            <a:r>
              <a:rPr lang="ru" sz="1500">
                <a:solidFill>
                  <a:srgbClr val="999999"/>
                </a:solidFill>
                <a:highlight>
                  <a:srgbClr val="F5F5F5"/>
                </a:highlight>
              </a:rPr>
              <a:t>;</a:t>
            </a:r>
            <a:endParaRPr sz="1500">
              <a:solidFill>
                <a:srgbClr val="303030"/>
              </a:solidFill>
              <a:highlight>
                <a:srgbClr val="F5F5F5"/>
              </a:highlight>
            </a:endParaRPr>
          </a:p>
          <a:p>
            <a:pPr indent="0" lvl="0" marL="0" rtl="0" algn="l">
              <a:spcBef>
                <a:spcPts val="0"/>
              </a:spcBef>
              <a:spcAft>
                <a:spcPts val="0"/>
              </a:spcAft>
              <a:buNone/>
            </a:pPr>
            <a:r>
              <a:rPr lang="ru" sz="1500">
                <a:solidFill>
                  <a:srgbClr val="990055"/>
                </a:solidFill>
                <a:highlight>
                  <a:srgbClr val="F5F5F5"/>
                </a:highlight>
              </a:rPr>
              <a:t>animation-name</a:t>
            </a:r>
            <a:r>
              <a:rPr lang="ru" sz="1500">
                <a:solidFill>
                  <a:srgbClr val="999999"/>
                </a:solidFill>
                <a:highlight>
                  <a:srgbClr val="F5F5F5"/>
                </a:highlight>
              </a:rPr>
              <a:t>:</a:t>
            </a:r>
            <a:r>
              <a:rPr lang="ru" sz="1500">
                <a:solidFill>
                  <a:srgbClr val="303030"/>
                </a:solidFill>
                <a:highlight>
                  <a:srgbClr val="F5F5F5"/>
                </a:highlight>
              </a:rPr>
              <a:t> test-01</a:t>
            </a:r>
            <a:r>
              <a:rPr lang="ru" sz="1500">
                <a:solidFill>
                  <a:srgbClr val="999999"/>
                </a:solidFill>
                <a:highlight>
                  <a:srgbClr val="F5F5F5"/>
                </a:highlight>
              </a:rPr>
              <a:t>;</a:t>
            </a:r>
            <a:endParaRPr sz="1500">
              <a:solidFill>
                <a:srgbClr val="303030"/>
              </a:solidFill>
              <a:highlight>
                <a:srgbClr val="F5F5F5"/>
              </a:highlight>
            </a:endParaRPr>
          </a:p>
          <a:p>
            <a:pPr indent="0" lvl="0" marL="0" rtl="0" algn="l">
              <a:spcBef>
                <a:spcPts val="0"/>
              </a:spcBef>
              <a:spcAft>
                <a:spcPts val="0"/>
              </a:spcAft>
              <a:buNone/>
            </a:pPr>
            <a:r>
              <a:rPr lang="ru" sz="1500">
                <a:solidFill>
                  <a:srgbClr val="990055"/>
                </a:solidFill>
                <a:highlight>
                  <a:srgbClr val="F5F5F5"/>
                </a:highlight>
              </a:rPr>
              <a:t>animation-name</a:t>
            </a:r>
            <a:r>
              <a:rPr lang="ru" sz="1500">
                <a:solidFill>
                  <a:srgbClr val="999999"/>
                </a:solidFill>
                <a:highlight>
                  <a:srgbClr val="F5F5F5"/>
                </a:highlight>
              </a:rPr>
              <a:t>:</a:t>
            </a:r>
            <a:r>
              <a:rPr lang="ru" sz="1500">
                <a:solidFill>
                  <a:srgbClr val="303030"/>
                </a:solidFill>
                <a:highlight>
                  <a:srgbClr val="F5F5F5"/>
                </a:highlight>
              </a:rPr>
              <a:t> -sliding</a:t>
            </a:r>
            <a:r>
              <a:rPr lang="ru" sz="1500">
                <a:solidFill>
                  <a:srgbClr val="999999"/>
                </a:solidFill>
                <a:highlight>
                  <a:srgbClr val="F5F5F5"/>
                </a:highlight>
              </a:rPr>
              <a:t>;</a:t>
            </a:r>
            <a:endParaRPr sz="1500">
              <a:solidFill>
                <a:srgbClr val="303030"/>
              </a:solidFill>
              <a:highlight>
                <a:srgbClr val="F5F5F5"/>
              </a:highlight>
            </a:endParaRPr>
          </a:p>
          <a:p>
            <a:pPr indent="0" lvl="0" marL="0" rtl="0" algn="l">
              <a:spcBef>
                <a:spcPts val="0"/>
              </a:spcBef>
              <a:spcAft>
                <a:spcPts val="0"/>
              </a:spcAft>
              <a:buNone/>
            </a:pPr>
            <a:r>
              <a:rPr lang="ru" sz="1500">
                <a:solidFill>
                  <a:srgbClr val="990055"/>
                </a:solidFill>
                <a:highlight>
                  <a:srgbClr val="F5F5F5"/>
                </a:highlight>
              </a:rPr>
              <a:t>animation-name</a:t>
            </a:r>
            <a:r>
              <a:rPr lang="ru" sz="1500">
                <a:solidFill>
                  <a:srgbClr val="999999"/>
                </a:solidFill>
                <a:highlight>
                  <a:srgbClr val="F5F5F5"/>
                </a:highlight>
              </a:rPr>
              <a:t>:</a:t>
            </a:r>
            <a:r>
              <a:rPr lang="ru" sz="1500">
                <a:solidFill>
                  <a:srgbClr val="303030"/>
                </a:solidFill>
                <a:highlight>
                  <a:srgbClr val="F5F5F5"/>
                </a:highlight>
              </a:rPr>
              <a:t> moving-vertically</a:t>
            </a:r>
            <a:r>
              <a:rPr lang="ru" sz="1500">
                <a:solidFill>
                  <a:srgbClr val="999999"/>
                </a:solidFill>
                <a:highlight>
                  <a:srgbClr val="F5F5F5"/>
                </a:highlight>
              </a:rPr>
              <a:t>;</a:t>
            </a:r>
            <a:endParaRPr sz="1500">
              <a:solidFill>
                <a:srgbClr val="303030"/>
              </a:solidFill>
              <a:highlight>
                <a:srgbClr val="F5F5F5"/>
              </a:highlight>
            </a:endParaRPr>
          </a:p>
          <a:p>
            <a:pPr indent="0" lvl="0" marL="0" rtl="0" algn="l">
              <a:spcBef>
                <a:spcPts val="0"/>
              </a:spcBef>
              <a:spcAft>
                <a:spcPts val="0"/>
              </a:spcAft>
              <a:buNone/>
            </a:pPr>
            <a:r>
              <a:rPr lang="ru" sz="1500">
                <a:solidFill>
                  <a:srgbClr val="990055"/>
                </a:solidFill>
                <a:highlight>
                  <a:srgbClr val="F5F5F5"/>
                </a:highlight>
              </a:rPr>
              <a:t>animation-name</a:t>
            </a:r>
            <a:r>
              <a:rPr lang="ru" sz="1500">
                <a:solidFill>
                  <a:srgbClr val="999999"/>
                </a:solidFill>
                <a:highlight>
                  <a:srgbClr val="F5F5F5"/>
                </a:highlight>
              </a:rPr>
              <a:t>:</a:t>
            </a:r>
            <a:r>
              <a:rPr lang="ru" sz="1500">
                <a:solidFill>
                  <a:srgbClr val="303030"/>
                </a:solidFill>
                <a:highlight>
                  <a:srgbClr val="F5F5F5"/>
                </a:highlight>
              </a:rPr>
              <a:t> test2</a:t>
            </a:r>
            <a:r>
              <a:rPr lang="ru" sz="1500">
                <a:solidFill>
                  <a:srgbClr val="999999"/>
                </a:solidFill>
                <a:highlight>
                  <a:srgbClr val="F5F5F5"/>
                </a:highlight>
              </a:rPr>
              <a:t>;</a:t>
            </a:r>
            <a:endParaRPr sz="1500">
              <a:solidFill>
                <a:srgbClr val="303030"/>
              </a:solidFill>
              <a:highlight>
                <a:srgbClr val="F5F5F5"/>
              </a:highlight>
            </a:endParaRPr>
          </a:p>
          <a:p>
            <a:pPr indent="0" lvl="0" marL="0" rtl="0" algn="l">
              <a:spcBef>
                <a:spcPts val="0"/>
              </a:spcBef>
              <a:spcAft>
                <a:spcPts val="0"/>
              </a:spcAft>
              <a:buNone/>
            </a:pPr>
            <a:r>
              <a:rPr lang="ru" sz="1500">
                <a:solidFill>
                  <a:srgbClr val="990055"/>
                </a:solidFill>
                <a:highlight>
                  <a:srgbClr val="F5F5F5"/>
                </a:highlight>
              </a:rPr>
              <a:t>animation-name</a:t>
            </a:r>
            <a:r>
              <a:rPr lang="ru" sz="1500">
                <a:solidFill>
                  <a:srgbClr val="999999"/>
                </a:solidFill>
                <a:highlight>
                  <a:srgbClr val="F5F5F5"/>
                </a:highlight>
              </a:rPr>
              <a:t>:</a:t>
            </a:r>
            <a:r>
              <a:rPr lang="ru" sz="1500">
                <a:solidFill>
                  <a:srgbClr val="303030"/>
                </a:solidFill>
                <a:highlight>
                  <a:srgbClr val="F5F5F5"/>
                </a:highlight>
              </a:rPr>
              <a:t> test3</a:t>
            </a:r>
            <a:r>
              <a:rPr lang="ru" sz="1500">
                <a:solidFill>
                  <a:srgbClr val="999999"/>
                </a:solidFill>
                <a:highlight>
                  <a:srgbClr val="F5F5F5"/>
                </a:highlight>
              </a:rPr>
              <a:t>,</a:t>
            </a:r>
            <a:r>
              <a:rPr lang="ru" sz="1500">
                <a:solidFill>
                  <a:srgbClr val="303030"/>
                </a:solidFill>
                <a:highlight>
                  <a:srgbClr val="F5F5F5"/>
                </a:highlight>
              </a:rPr>
              <a:t> move4</a:t>
            </a:r>
            <a:r>
              <a:rPr lang="ru" sz="1500">
                <a:solidFill>
                  <a:srgbClr val="999999"/>
                </a:solidFill>
                <a:highlight>
                  <a:srgbClr val="F5F5F5"/>
                </a:highlight>
              </a:rPr>
              <a:t>;</a:t>
            </a:r>
            <a:endParaRPr sz="1500">
              <a:solidFill>
                <a:srgbClr val="303030"/>
              </a:solidFill>
              <a:highlight>
                <a:srgbClr val="F5F5F5"/>
              </a:highlight>
            </a:endParaRPr>
          </a:p>
          <a:p>
            <a:pPr indent="0" lvl="0" marL="0" rtl="0" algn="l">
              <a:spcBef>
                <a:spcPts val="0"/>
              </a:spcBef>
              <a:spcAft>
                <a:spcPts val="0"/>
              </a:spcAft>
              <a:buNone/>
            </a:pPr>
            <a:r>
              <a:rPr lang="ru" sz="1500">
                <a:solidFill>
                  <a:srgbClr val="990055"/>
                </a:solidFill>
                <a:highlight>
                  <a:srgbClr val="F5F5F5"/>
                </a:highlight>
              </a:rPr>
              <a:t>animation-name</a:t>
            </a:r>
            <a:r>
              <a:rPr lang="ru" sz="1500">
                <a:solidFill>
                  <a:srgbClr val="999999"/>
                </a:solidFill>
                <a:highlight>
                  <a:srgbClr val="F5F5F5"/>
                </a:highlight>
              </a:rPr>
              <a:t>:</a:t>
            </a:r>
            <a:r>
              <a:rPr lang="ru" sz="1500">
                <a:solidFill>
                  <a:srgbClr val="303030"/>
                </a:solidFill>
                <a:highlight>
                  <a:srgbClr val="F5F5F5"/>
                </a:highlight>
              </a:rPr>
              <a:t> initial</a:t>
            </a:r>
            <a:r>
              <a:rPr lang="ru" sz="1500">
                <a:solidFill>
                  <a:srgbClr val="999999"/>
                </a:solidFill>
                <a:highlight>
                  <a:srgbClr val="F5F5F5"/>
                </a:highlight>
              </a:rPr>
              <a:t>;</a:t>
            </a:r>
            <a:endParaRPr sz="1500">
              <a:solidFill>
                <a:srgbClr val="303030"/>
              </a:solidFill>
              <a:highlight>
                <a:srgbClr val="F5F5F5"/>
              </a:highlight>
            </a:endParaRPr>
          </a:p>
          <a:p>
            <a:pPr indent="0" lvl="0" marL="0" marR="190500" rtl="0" algn="l">
              <a:lnSpc>
                <a:spcPct val="150000"/>
              </a:lnSpc>
              <a:spcBef>
                <a:spcPts val="0"/>
              </a:spcBef>
              <a:spcAft>
                <a:spcPts val="2300"/>
              </a:spcAft>
              <a:buNone/>
            </a:pPr>
            <a:r>
              <a:rPr lang="ru" sz="1500">
                <a:solidFill>
                  <a:srgbClr val="990055"/>
                </a:solidFill>
                <a:highlight>
                  <a:srgbClr val="F5F5F5"/>
                </a:highlight>
              </a:rPr>
              <a:t>animation-name</a:t>
            </a:r>
            <a:r>
              <a:rPr lang="ru" sz="1500">
                <a:solidFill>
                  <a:srgbClr val="999999"/>
                </a:solidFill>
                <a:highlight>
                  <a:srgbClr val="F5F5F5"/>
                </a:highlight>
              </a:rPr>
              <a:t>:</a:t>
            </a:r>
            <a:r>
              <a:rPr lang="ru" sz="1500">
                <a:solidFill>
                  <a:srgbClr val="303030"/>
                </a:solidFill>
                <a:highlight>
                  <a:srgbClr val="F5F5F5"/>
                </a:highlight>
              </a:rPr>
              <a:t> inherit</a:t>
            </a:r>
            <a:r>
              <a:rPr lang="ru" sz="1500">
                <a:solidFill>
                  <a:srgbClr val="999999"/>
                </a:solidFill>
                <a:highlight>
                  <a:srgbClr val="F5F5F5"/>
                </a:highlight>
              </a:rPr>
              <a:t>;</a:t>
            </a:r>
            <a:endParaRPr sz="1500">
              <a:solidFill>
                <a:srgbClr val="999999"/>
              </a:solidFill>
              <a:highlight>
                <a:srgbClr val="F5F5F5"/>
              </a:highlight>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60"/>
          <p:cNvSpPr txBox="1"/>
          <p:nvPr>
            <p:ph type="title"/>
          </p:nvPr>
        </p:nvSpPr>
        <p:spPr>
          <a:xfrm>
            <a:off x="453150" y="587900"/>
            <a:ext cx="8167800" cy="954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3.3. </a:t>
            </a:r>
            <a:r>
              <a:rPr b="1" lang="ru" sz="2800">
                <a:solidFill>
                  <a:srgbClr val="303030"/>
                </a:solidFill>
                <a:highlight>
                  <a:srgbClr val="FFFFFF"/>
                </a:highlight>
                <a:latin typeface="Arial"/>
                <a:ea typeface="Arial"/>
                <a:cs typeface="Arial"/>
                <a:sym typeface="Arial"/>
              </a:rPr>
              <a:t>Продолжительность анимации: свойство </a:t>
            </a:r>
            <a:r>
              <a:rPr b="1" lang="ru" sz="2800">
                <a:solidFill>
                  <a:srgbClr val="303030"/>
                </a:solidFill>
                <a:highlight>
                  <a:srgbClr val="D5A6BD"/>
                </a:highlight>
                <a:latin typeface="Arial"/>
                <a:ea typeface="Arial"/>
                <a:cs typeface="Arial"/>
                <a:sym typeface="Arial"/>
              </a:rPr>
              <a:t>animation-duration</a:t>
            </a:r>
            <a:endParaRPr b="1" sz="1200">
              <a:solidFill>
                <a:srgbClr val="303030"/>
              </a:solidFill>
              <a:highlight>
                <a:srgbClr val="D5A6BD"/>
              </a:highlight>
              <a:latin typeface="Arial"/>
              <a:ea typeface="Arial"/>
              <a:cs typeface="Arial"/>
              <a:sym typeface="Arial"/>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000000"/>
              </a:solidFill>
            </a:endParaRPr>
          </a:p>
          <a:p>
            <a:pPr indent="0" lvl="0" marL="0" rtl="0" algn="l">
              <a:spcBef>
                <a:spcPts val="400"/>
              </a:spcBef>
              <a:spcAft>
                <a:spcPts val="0"/>
              </a:spcAft>
              <a:buNone/>
            </a:pPr>
            <a:r>
              <a:t/>
            </a:r>
            <a:endParaRPr/>
          </a:p>
        </p:txBody>
      </p:sp>
      <p:sp>
        <p:nvSpPr>
          <p:cNvPr id="423" name="Google Shape;423;p60"/>
          <p:cNvSpPr txBox="1"/>
          <p:nvPr>
            <p:ph idx="1" type="body"/>
          </p:nvPr>
        </p:nvSpPr>
        <p:spPr>
          <a:xfrm>
            <a:off x="386350" y="1864950"/>
            <a:ext cx="8364300" cy="12429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ru" sz="1500">
                <a:solidFill>
                  <a:srgbClr val="303030"/>
                </a:solidFill>
                <a:latin typeface="Arial"/>
                <a:ea typeface="Arial"/>
                <a:cs typeface="Arial"/>
                <a:sym typeface="Arial"/>
              </a:rPr>
              <a:t>Свойство </a:t>
            </a:r>
            <a:r>
              <a:rPr lang="ru" sz="1500">
                <a:solidFill>
                  <a:srgbClr val="303030"/>
                </a:solidFill>
                <a:highlight>
                  <a:srgbClr val="D5A6BD"/>
                </a:highlight>
                <a:latin typeface="Arial"/>
                <a:ea typeface="Arial"/>
                <a:cs typeface="Arial"/>
                <a:sym typeface="Arial"/>
              </a:rPr>
              <a:t>animation-duration</a:t>
            </a:r>
            <a:r>
              <a:rPr lang="ru" sz="1500">
                <a:solidFill>
                  <a:srgbClr val="303030"/>
                </a:solidFill>
                <a:latin typeface="Arial"/>
                <a:ea typeface="Arial"/>
                <a:cs typeface="Arial"/>
                <a:sym typeface="Arial"/>
              </a:rPr>
              <a:t> определяет продолжительность одного цикла анимации. Задаётся в секундах s или миллисекундах ms. Если для элемента задано более одной анимации, то можно установить разное время для каждой, перечислив значения через запятую.Свойство не наследуется.</a:t>
            </a:r>
            <a:endParaRPr sz="1500">
              <a:solidFill>
                <a:srgbClr val="303030"/>
              </a:solidFill>
              <a:latin typeface="Arial"/>
              <a:ea typeface="Arial"/>
              <a:cs typeface="Arial"/>
              <a:sym typeface="Arial"/>
            </a:endParaRPr>
          </a:p>
          <a:p>
            <a:pPr indent="0" lvl="0" marL="0" rtl="0" algn="just">
              <a:spcBef>
                <a:spcPts val="1100"/>
              </a:spcBef>
              <a:spcAft>
                <a:spcPts val="0"/>
              </a:spcAft>
              <a:buNone/>
            </a:pPr>
            <a:r>
              <a:rPr lang="ru" sz="1500">
                <a:solidFill>
                  <a:srgbClr val="303030"/>
                </a:solidFill>
                <a:latin typeface="Arial"/>
                <a:ea typeface="Arial"/>
                <a:cs typeface="Arial"/>
                <a:sym typeface="Arial"/>
              </a:rPr>
              <a:t> </a:t>
            </a:r>
            <a:endParaRPr sz="1500">
              <a:solidFill>
                <a:srgbClr val="303030"/>
              </a:solidFill>
              <a:latin typeface="Arial"/>
              <a:ea typeface="Arial"/>
              <a:cs typeface="Arial"/>
              <a:sym typeface="Arial"/>
            </a:endParaRPr>
          </a:p>
          <a:p>
            <a:pPr indent="0" lvl="0" marL="0" rtl="0" algn="just">
              <a:lnSpc>
                <a:spcPct val="95000"/>
              </a:lnSpc>
              <a:spcBef>
                <a:spcPts val="1100"/>
              </a:spcBef>
              <a:spcAft>
                <a:spcPts val="1100"/>
              </a:spcAft>
              <a:buSzPts val="1018"/>
              <a:buNone/>
            </a:pPr>
            <a:r>
              <a:t/>
            </a:r>
            <a:endParaRPr sz="1500">
              <a:solidFill>
                <a:srgbClr val="303030"/>
              </a:solidFill>
              <a:latin typeface="Arial"/>
              <a:ea typeface="Arial"/>
              <a:cs typeface="Arial"/>
              <a:sym typeface="Arial"/>
            </a:endParaRPr>
          </a:p>
        </p:txBody>
      </p:sp>
      <p:graphicFrame>
        <p:nvGraphicFramePr>
          <p:cNvPr id="424" name="Google Shape;424;p60"/>
          <p:cNvGraphicFramePr/>
          <p:nvPr/>
        </p:nvGraphicFramePr>
        <p:xfrm>
          <a:off x="1274725" y="3230750"/>
          <a:ext cx="3000000" cy="3000000"/>
        </p:xfrm>
        <a:graphic>
          <a:graphicData uri="http://schemas.openxmlformats.org/drawingml/2006/table">
            <a:tbl>
              <a:tblPr>
                <a:solidFill>
                  <a:srgbClr val="FFFFFF"/>
                </a:solidFill>
                <a:tableStyleId>{69577998-B902-4363-BD42-2B2995AA7EB3}</a:tableStyleId>
              </a:tblPr>
              <a:tblGrid>
                <a:gridCol w="1304925"/>
                <a:gridCol w="5219700"/>
              </a:tblGrid>
              <a:tr h="314325">
                <a:tc>
                  <a:txBody>
                    <a:bodyPr/>
                    <a:lstStyle/>
                    <a:p>
                      <a:pPr indent="0" lvl="0" marL="0" rtl="0" algn="ctr">
                        <a:lnSpc>
                          <a:spcPct val="115000"/>
                        </a:lnSpc>
                        <a:spcBef>
                          <a:spcPts val="0"/>
                        </a:spcBef>
                        <a:spcAft>
                          <a:spcPts val="0"/>
                        </a:spcAft>
                        <a:buNone/>
                      </a:pPr>
                      <a:r>
                        <a:rPr b="1" lang="ru" sz="1200"/>
                        <a:t>Значения:</a:t>
                      </a:r>
                      <a:endParaRPr b="1"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ru" sz="1200"/>
                        <a:t>Описание</a:t>
                      </a:r>
                      <a:endParaRPr b="1"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90575">
                <a:tc>
                  <a:txBody>
                    <a:bodyPr/>
                    <a:lstStyle/>
                    <a:p>
                      <a:pPr indent="0" lvl="0" marL="0" rtl="0" algn="just">
                        <a:lnSpc>
                          <a:spcPct val="115000"/>
                        </a:lnSpc>
                        <a:spcBef>
                          <a:spcPts val="0"/>
                        </a:spcBef>
                        <a:spcAft>
                          <a:spcPts val="0"/>
                        </a:spcAft>
                        <a:buNone/>
                      </a:pPr>
                      <a:r>
                        <a:rPr lang="ru" sz="1200"/>
                        <a:t>время</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Указывает время, которое анимация занимает для завершения одного цикла. Отрицательные значения недействительны. Если время равно 0s, ключевые кадры анимации не действуют, но сама анимация происходит мгновенно. Значение по умолчанию 0s.</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1"/>
          <p:cNvSpPr txBox="1"/>
          <p:nvPr>
            <p:ph type="title"/>
          </p:nvPr>
        </p:nvSpPr>
        <p:spPr>
          <a:xfrm>
            <a:off x="453150" y="587900"/>
            <a:ext cx="8167800" cy="954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3.3. </a:t>
            </a:r>
            <a:r>
              <a:rPr b="1" lang="ru" sz="2800">
                <a:solidFill>
                  <a:srgbClr val="303030"/>
                </a:solidFill>
                <a:highlight>
                  <a:srgbClr val="FFFFFF"/>
                </a:highlight>
                <a:latin typeface="Arial"/>
                <a:ea typeface="Arial"/>
                <a:cs typeface="Arial"/>
                <a:sym typeface="Arial"/>
              </a:rPr>
              <a:t>Продолжительность анимации: свойство </a:t>
            </a:r>
            <a:r>
              <a:rPr b="1" lang="ru" sz="2800">
                <a:solidFill>
                  <a:srgbClr val="303030"/>
                </a:solidFill>
                <a:highlight>
                  <a:srgbClr val="D5A6BD"/>
                </a:highlight>
                <a:latin typeface="Arial"/>
                <a:ea typeface="Arial"/>
                <a:cs typeface="Arial"/>
                <a:sym typeface="Arial"/>
              </a:rPr>
              <a:t>animation-duration</a:t>
            </a:r>
            <a:endParaRPr b="1" sz="1200">
              <a:solidFill>
                <a:srgbClr val="303030"/>
              </a:solidFill>
              <a:highlight>
                <a:srgbClr val="D5A6BD"/>
              </a:highlight>
              <a:latin typeface="Arial"/>
              <a:ea typeface="Arial"/>
              <a:cs typeface="Arial"/>
              <a:sym typeface="Arial"/>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000000"/>
              </a:solidFill>
            </a:endParaRPr>
          </a:p>
          <a:p>
            <a:pPr indent="0" lvl="0" marL="0" rtl="0" algn="l">
              <a:spcBef>
                <a:spcPts val="400"/>
              </a:spcBef>
              <a:spcAft>
                <a:spcPts val="0"/>
              </a:spcAft>
              <a:buNone/>
            </a:pPr>
            <a:r>
              <a:t/>
            </a:r>
            <a:endParaRPr/>
          </a:p>
        </p:txBody>
      </p:sp>
      <p:sp>
        <p:nvSpPr>
          <p:cNvPr id="430" name="Google Shape;430;p61"/>
          <p:cNvSpPr/>
          <p:nvPr/>
        </p:nvSpPr>
        <p:spPr>
          <a:xfrm>
            <a:off x="3274575" y="1940200"/>
            <a:ext cx="3041700" cy="1826700"/>
          </a:xfrm>
          <a:prstGeom prst="rect">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31" name="Google Shape;431;p61"/>
          <p:cNvSpPr txBox="1"/>
          <p:nvPr>
            <p:ph idx="1" type="body"/>
          </p:nvPr>
        </p:nvSpPr>
        <p:spPr>
          <a:xfrm>
            <a:off x="2383525" y="2233650"/>
            <a:ext cx="3748500" cy="1826700"/>
          </a:xfrm>
          <a:prstGeom prst="rect">
            <a:avLst/>
          </a:prstGeom>
          <a:solidFill>
            <a:schemeClr val="dk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ru" sz="1500">
                <a:solidFill>
                  <a:srgbClr val="990055"/>
                </a:solidFill>
                <a:latin typeface="Arial"/>
                <a:ea typeface="Arial"/>
                <a:cs typeface="Arial"/>
                <a:sym typeface="Arial"/>
              </a:rPr>
              <a:t>animation-duration</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.5s</a:t>
            </a:r>
            <a:r>
              <a:rPr lang="ru" sz="1500">
                <a:solidFill>
                  <a:srgbClr val="999999"/>
                </a:solidFill>
                <a:latin typeface="Arial"/>
                <a:ea typeface="Arial"/>
                <a:cs typeface="Arial"/>
                <a:sym typeface="Arial"/>
              </a:rPr>
              <a:t>;</a:t>
            </a:r>
            <a:endParaRPr sz="1500">
              <a:solidFill>
                <a:srgbClr val="303030"/>
              </a:solidFill>
              <a:latin typeface="Arial"/>
              <a:ea typeface="Arial"/>
              <a:cs typeface="Arial"/>
              <a:sym typeface="Arial"/>
            </a:endParaRPr>
          </a:p>
          <a:p>
            <a:pPr indent="0" lvl="0" marL="0" rtl="0" algn="l">
              <a:spcBef>
                <a:spcPts val="1100"/>
              </a:spcBef>
              <a:spcAft>
                <a:spcPts val="0"/>
              </a:spcAft>
              <a:buNone/>
            </a:pPr>
            <a:r>
              <a:rPr lang="ru" sz="1500">
                <a:solidFill>
                  <a:srgbClr val="990055"/>
                </a:solidFill>
                <a:latin typeface="Arial"/>
                <a:ea typeface="Arial"/>
                <a:cs typeface="Arial"/>
                <a:sym typeface="Arial"/>
              </a:rPr>
              <a:t>animation-duration</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200ms</a:t>
            </a:r>
            <a:r>
              <a:rPr lang="ru" sz="1500">
                <a:solidFill>
                  <a:srgbClr val="999999"/>
                </a:solidFill>
                <a:latin typeface="Arial"/>
                <a:ea typeface="Arial"/>
                <a:cs typeface="Arial"/>
                <a:sym typeface="Arial"/>
              </a:rPr>
              <a:t>;</a:t>
            </a:r>
            <a:endParaRPr sz="1500">
              <a:solidFill>
                <a:srgbClr val="303030"/>
              </a:solidFill>
              <a:latin typeface="Arial"/>
              <a:ea typeface="Arial"/>
              <a:cs typeface="Arial"/>
              <a:sym typeface="Arial"/>
            </a:endParaRPr>
          </a:p>
          <a:p>
            <a:pPr indent="0" lvl="0" marL="0" rtl="0" algn="l">
              <a:spcBef>
                <a:spcPts val="1100"/>
              </a:spcBef>
              <a:spcAft>
                <a:spcPts val="0"/>
              </a:spcAft>
              <a:buNone/>
            </a:pPr>
            <a:r>
              <a:rPr lang="ru" sz="1500">
                <a:solidFill>
                  <a:srgbClr val="990055"/>
                </a:solidFill>
                <a:latin typeface="Arial"/>
                <a:ea typeface="Arial"/>
                <a:cs typeface="Arial"/>
                <a:sym typeface="Arial"/>
              </a:rPr>
              <a:t>animation-duration</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2s</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10s</a:t>
            </a:r>
            <a:r>
              <a:rPr lang="ru" sz="1500">
                <a:solidFill>
                  <a:srgbClr val="999999"/>
                </a:solidFill>
                <a:latin typeface="Arial"/>
                <a:ea typeface="Arial"/>
                <a:cs typeface="Arial"/>
                <a:sym typeface="Arial"/>
              </a:rPr>
              <a:t>;</a:t>
            </a:r>
            <a:endParaRPr sz="1500">
              <a:solidFill>
                <a:srgbClr val="303030"/>
              </a:solidFill>
              <a:latin typeface="Arial"/>
              <a:ea typeface="Arial"/>
              <a:cs typeface="Arial"/>
              <a:sym typeface="Arial"/>
            </a:endParaRPr>
          </a:p>
          <a:p>
            <a:pPr indent="0" lvl="0" marL="0" marR="190500" rtl="0" algn="l">
              <a:lnSpc>
                <a:spcPct val="150000"/>
              </a:lnSpc>
              <a:spcBef>
                <a:spcPts val="1100"/>
              </a:spcBef>
              <a:spcAft>
                <a:spcPts val="0"/>
              </a:spcAft>
              <a:buNone/>
            </a:pPr>
            <a:r>
              <a:rPr lang="ru" sz="1500">
                <a:solidFill>
                  <a:srgbClr val="990055"/>
                </a:solidFill>
                <a:latin typeface="Arial"/>
                <a:ea typeface="Arial"/>
                <a:cs typeface="Arial"/>
                <a:sym typeface="Arial"/>
              </a:rPr>
              <a:t>animation-duration</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15s</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30s</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200ms</a:t>
            </a:r>
            <a:r>
              <a:rPr lang="ru" sz="1500">
                <a:solidFill>
                  <a:srgbClr val="999999"/>
                </a:solidFill>
                <a:latin typeface="Arial"/>
                <a:ea typeface="Arial"/>
                <a:cs typeface="Arial"/>
                <a:sym typeface="Arial"/>
              </a:rPr>
              <a:t>;</a:t>
            </a:r>
            <a:endParaRPr sz="1500">
              <a:solidFill>
                <a:srgbClr val="999999"/>
              </a:solidFill>
              <a:latin typeface="Arial"/>
              <a:ea typeface="Arial"/>
              <a:cs typeface="Arial"/>
              <a:sym typeface="Arial"/>
            </a:endParaRPr>
          </a:p>
          <a:p>
            <a:pPr indent="0" lvl="0" marL="0" rtl="0" algn="l">
              <a:spcBef>
                <a:spcPts val="2300"/>
              </a:spcBef>
              <a:spcAft>
                <a:spcPts val="0"/>
              </a:spcAft>
              <a:buNone/>
            </a:pPr>
            <a:r>
              <a:t/>
            </a:r>
            <a:endParaRPr sz="1500">
              <a:solidFill>
                <a:srgbClr val="303030"/>
              </a:solidFill>
              <a:latin typeface="Arial"/>
              <a:ea typeface="Arial"/>
              <a:cs typeface="Arial"/>
              <a:sym typeface="Arial"/>
            </a:endParaRPr>
          </a:p>
          <a:p>
            <a:pPr indent="0" lvl="0" marL="0" rtl="0" algn="just">
              <a:spcBef>
                <a:spcPts val="1100"/>
              </a:spcBef>
              <a:spcAft>
                <a:spcPts val="0"/>
              </a:spcAft>
              <a:buNone/>
            </a:pPr>
            <a:r>
              <a:rPr lang="ru" sz="1500">
                <a:solidFill>
                  <a:srgbClr val="303030"/>
                </a:solidFill>
                <a:latin typeface="Arial"/>
                <a:ea typeface="Arial"/>
                <a:cs typeface="Arial"/>
                <a:sym typeface="Arial"/>
              </a:rPr>
              <a:t> </a:t>
            </a:r>
            <a:endParaRPr sz="1500">
              <a:solidFill>
                <a:srgbClr val="303030"/>
              </a:solidFill>
              <a:latin typeface="Arial"/>
              <a:ea typeface="Arial"/>
              <a:cs typeface="Arial"/>
              <a:sym typeface="Arial"/>
            </a:endParaRPr>
          </a:p>
          <a:p>
            <a:pPr indent="0" lvl="0" marL="0" rtl="0" algn="just">
              <a:lnSpc>
                <a:spcPct val="95000"/>
              </a:lnSpc>
              <a:spcBef>
                <a:spcPts val="1100"/>
              </a:spcBef>
              <a:spcAft>
                <a:spcPts val="1100"/>
              </a:spcAft>
              <a:buSzPts val="1018"/>
              <a:buNone/>
            </a:pPr>
            <a:r>
              <a:t/>
            </a:r>
            <a:endParaRPr sz="1500">
              <a:solidFill>
                <a:srgbClr val="303030"/>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62"/>
          <p:cNvSpPr txBox="1"/>
          <p:nvPr>
            <p:ph type="title"/>
          </p:nvPr>
        </p:nvSpPr>
        <p:spPr>
          <a:xfrm>
            <a:off x="453150" y="587900"/>
            <a:ext cx="8167800" cy="954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3.4.</a:t>
            </a:r>
            <a:r>
              <a:rPr b="1" lang="ru" sz="2800">
                <a:solidFill>
                  <a:srgbClr val="000000"/>
                </a:solidFill>
              </a:rPr>
              <a:t> </a:t>
            </a:r>
            <a:r>
              <a:rPr b="1" lang="ru" sz="2800">
                <a:solidFill>
                  <a:srgbClr val="303030"/>
                </a:solidFill>
                <a:highlight>
                  <a:srgbClr val="FFFFFF"/>
                </a:highlight>
              </a:rPr>
              <a:t>Временная функция: свойство </a:t>
            </a:r>
            <a:r>
              <a:rPr b="1" lang="ru" sz="2800">
                <a:solidFill>
                  <a:srgbClr val="303030"/>
                </a:solidFill>
                <a:highlight>
                  <a:srgbClr val="D5A6BD"/>
                </a:highlight>
              </a:rPr>
              <a:t>animation-timing-function</a:t>
            </a:r>
            <a:endParaRPr b="1" sz="2800">
              <a:solidFill>
                <a:srgbClr val="303030"/>
              </a:solidFill>
              <a:highlight>
                <a:srgbClr val="D5A6BD"/>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latin typeface="Arial"/>
              <a:ea typeface="Arial"/>
              <a:cs typeface="Arial"/>
              <a:sym typeface="Arial"/>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000000"/>
              </a:solidFill>
            </a:endParaRPr>
          </a:p>
          <a:p>
            <a:pPr indent="0" lvl="0" marL="0" rtl="0" algn="l">
              <a:spcBef>
                <a:spcPts val="400"/>
              </a:spcBef>
              <a:spcAft>
                <a:spcPts val="0"/>
              </a:spcAft>
              <a:buNone/>
            </a:pPr>
            <a:r>
              <a:t/>
            </a:r>
            <a:endParaRPr/>
          </a:p>
        </p:txBody>
      </p:sp>
      <p:sp>
        <p:nvSpPr>
          <p:cNvPr id="437" name="Google Shape;437;p62"/>
          <p:cNvSpPr txBox="1"/>
          <p:nvPr>
            <p:ph idx="1" type="body"/>
          </p:nvPr>
        </p:nvSpPr>
        <p:spPr>
          <a:xfrm>
            <a:off x="386350" y="1864950"/>
            <a:ext cx="8364300" cy="1580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ru" sz="1500">
                <a:solidFill>
                  <a:srgbClr val="303030"/>
                </a:solidFill>
                <a:latin typeface="Arial"/>
                <a:ea typeface="Arial"/>
                <a:cs typeface="Arial"/>
                <a:sym typeface="Arial"/>
              </a:rPr>
              <a:t>Свойство </a:t>
            </a:r>
            <a:r>
              <a:rPr lang="ru" sz="1500">
                <a:solidFill>
                  <a:srgbClr val="303030"/>
                </a:solidFill>
                <a:highlight>
                  <a:srgbClr val="D5A6BD"/>
                </a:highlight>
                <a:latin typeface="Arial"/>
                <a:ea typeface="Arial"/>
                <a:cs typeface="Arial"/>
                <a:sym typeface="Arial"/>
              </a:rPr>
              <a:t>animation-timing-function</a:t>
            </a:r>
            <a:r>
              <a:rPr lang="ru" sz="1500">
                <a:solidFill>
                  <a:srgbClr val="303030"/>
                </a:solidFill>
                <a:latin typeface="Arial"/>
                <a:ea typeface="Arial"/>
                <a:cs typeface="Arial"/>
                <a:sym typeface="Arial"/>
              </a:rPr>
              <a:t> описывает, как будет развиваться анимация между каждой парой ключевых кадров. Во время задержки анимации временные функции не применяются.</a:t>
            </a:r>
            <a:endParaRPr sz="1500">
              <a:solidFill>
                <a:srgbClr val="303030"/>
              </a:solidFill>
              <a:latin typeface="Arial"/>
              <a:ea typeface="Arial"/>
              <a:cs typeface="Arial"/>
              <a:sym typeface="Arial"/>
            </a:endParaRPr>
          </a:p>
          <a:p>
            <a:pPr indent="0" lvl="0" marL="0" rtl="0" algn="just">
              <a:spcBef>
                <a:spcPts val="1100"/>
              </a:spcBef>
              <a:spcAft>
                <a:spcPts val="0"/>
              </a:spcAft>
              <a:buNone/>
            </a:pPr>
            <a:r>
              <a:rPr lang="ru" sz="1500">
                <a:solidFill>
                  <a:srgbClr val="303030"/>
                </a:solidFill>
                <a:latin typeface="Arial"/>
                <a:ea typeface="Arial"/>
                <a:cs typeface="Arial"/>
                <a:sym typeface="Arial"/>
              </a:rPr>
              <a:t>Свойство не наследуется.</a:t>
            </a:r>
            <a:endParaRPr sz="1500">
              <a:solidFill>
                <a:srgbClr val="30303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0"/>
              </a:spcBef>
              <a:spcAft>
                <a:spcPts val="0"/>
              </a:spcAft>
              <a:buNone/>
            </a:pPr>
            <a:r>
              <a:t/>
            </a:r>
            <a:endParaRPr sz="1500">
              <a:solidFill>
                <a:srgbClr val="303030"/>
              </a:solidFill>
              <a:latin typeface="Arial"/>
              <a:ea typeface="Arial"/>
              <a:cs typeface="Arial"/>
              <a:sym typeface="Arial"/>
            </a:endParaRPr>
          </a:p>
          <a:p>
            <a:pPr indent="0" lvl="0" marL="0" rtl="0" algn="just">
              <a:spcBef>
                <a:spcPts val="1100"/>
              </a:spcBef>
              <a:spcAft>
                <a:spcPts val="0"/>
              </a:spcAft>
              <a:buNone/>
            </a:pPr>
            <a:r>
              <a:rPr lang="ru" sz="1500">
                <a:solidFill>
                  <a:srgbClr val="303030"/>
                </a:solidFill>
                <a:latin typeface="Arial"/>
                <a:ea typeface="Arial"/>
                <a:cs typeface="Arial"/>
                <a:sym typeface="Arial"/>
              </a:rPr>
              <a:t> </a:t>
            </a:r>
            <a:endParaRPr sz="1500">
              <a:solidFill>
                <a:srgbClr val="303030"/>
              </a:solidFill>
              <a:latin typeface="Arial"/>
              <a:ea typeface="Arial"/>
              <a:cs typeface="Arial"/>
              <a:sym typeface="Arial"/>
            </a:endParaRPr>
          </a:p>
          <a:p>
            <a:pPr indent="0" lvl="0" marL="0" rtl="0" algn="just">
              <a:lnSpc>
                <a:spcPct val="95000"/>
              </a:lnSpc>
              <a:spcBef>
                <a:spcPts val="1100"/>
              </a:spcBef>
              <a:spcAft>
                <a:spcPts val="1100"/>
              </a:spcAft>
              <a:buSzPts val="1018"/>
              <a:buNone/>
            </a:pPr>
            <a:r>
              <a:t/>
            </a:r>
            <a:endParaRPr sz="1500">
              <a:solidFill>
                <a:srgbClr val="303030"/>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graphicFrame>
        <p:nvGraphicFramePr>
          <p:cNvPr id="442" name="Google Shape;442;p63"/>
          <p:cNvGraphicFramePr/>
          <p:nvPr/>
        </p:nvGraphicFramePr>
        <p:xfrm>
          <a:off x="1396800" y="428925"/>
          <a:ext cx="3000000" cy="3000000"/>
        </p:xfrm>
        <a:graphic>
          <a:graphicData uri="http://schemas.openxmlformats.org/drawingml/2006/table">
            <a:tbl>
              <a:tblPr>
                <a:solidFill>
                  <a:srgbClr val="FFFFFF"/>
                </a:solidFill>
                <a:tableStyleId>{69577998-B902-4363-BD42-2B2995AA7EB3}</a:tableStyleId>
              </a:tblPr>
              <a:tblGrid>
                <a:gridCol w="1096600"/>
                <a:gridCol w="5418500"/>
              </a:tblGrid>
              <a:tr h="371475">
                <a:tc gridSpan="2">
                  <a:txBody>
                    <a:bodyPr/>
                    <a:lstStyle/>
                    <a:p>
                      <a:pPr indent="0" lvl="0" marL="0" rtl="0" algn="ctr">
                        <a:lnSpc>
                          <a:spcPct val="115000"/>
                        </a:lnSpc>
                        <a:spcBef>
                          <a:spcPts val="0"/>
                        </a:spcBef>
                        <a:spcAft>
                          <a:spcPts val="0"/>
                        </a:spcAft>
                        <a:buNone/>
                      </a:pPr>
                      <a:r>
                        <a:rPr b="1" lang="ru" sz="1200">
                          <a:highlight>
                            <a:srgbClr val="D5A6BD"/>
                          </a:highlight>
                        </a:rPr>
                        <a:t>animation-timing-function</a:t>
                      </a:r>
                      <a:endParaRPr b="1" sz="1200">
                        <a:highlight>
                          <a:srgbClr val="D5A6BD"/>
                        </a:highlight>
                      </a:endParaRPr>
                    </a:p>
                  </a:txBody>
                  <a:tcPr marT="95250" marB="9525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hMerge="1"/>
              </a:tr>
              <a:tr h="314325">
                <a:tc>
                  <a:txBody>
                    <a:bodyPr/>
                    <a:lstStyle/>
                    <a:p>
                      <a:pPr indent="0" lvl="0" marL="0" rtl="0" algn="ctr">
                        <a:lnSpc>
                          <a:spcPct val="115000"/>
                        </a:lnSpc>
                        <a:spcBef>
                          <a:spcPts val="0"/>
                        </a:spcBef>
                        <a:spcAft>
                          <a:spcPts val="0"/>
                        </a:spcAft>
                        <a:buNone/>
                      </a:pPr>
                      <a:r>
                        <a:rPr b="1" lang="ru" sz="1200"/>
                        <a:t>Значения:</a:t>
                      </a:r>
                      <a:endParaRPr b="1"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ru" sz="1200"/>
                        <a:t>Описание</a:t>
                      </a:r>
                      <a:endParaRPr b="1"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6725">
                <a:tc>
                  <a:txBody>
                    <a:bodyPr/>
                    <a:lstStyle/>
                    <a:p>
                      <a:pPr indent="0" lvl="0" marL="0" rtl="0" algn="just">
                        <a:lnSpc>
                          <a:spcPct val="115000"/>
                        </a:lnSpc>
                        <a:spcBef>
                          <a:spcPts val="0"/>
                        </a:spcBef>
                        <a:spcAft>
                          <a:spcPts val="0"/>
                        </a:spcAft>
                        <a:buNone/>
                      </a:pPr>
                      <a:r>
                        <a:rPr lang="ru" sz="1200"/>
                        <a:t>linear</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Линейная функция, анимация происходит равномерно на протяжении всего времени, без колебаний в скорости.</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1475">
                <a:tc gridSpan="2">
                  <a:txBody>
                    <a:bodyPr/>
                    <a:lstStyle/>
                    <a:p>
                      <a:pPr indent="0" lvl="0" marL="0" rtl="0" algn="ctr">
                        <a:lnSpc>
                          <a:spcPct val="115000"/>
                        </a:lnSpc>
                        <a:spcBef>
                          <a:spcPts val="0"/>
                        </a:spcBef>
                        <a:spcAft>
                          <a:spcPts val="0"/>
                        </a:spcAft>
                        <a:buNone/>
                      </a:pPr>
                      <a:r>
                        <a:rPr b="1" lang="ru" sz="1200"/>
                        <a:t>Ф</a:t>
                      </a:r>
                      <a:r>
                        <a:rPr b="1" lang="ru" sz="1200"/>
                        <a:t>ункции Безье</a:t>
                      </a:r>
                      <a:endParaRPr b="1" sz="1200"/>
                    </a:p>
                  </a:txBody>
                  <a:tcPr marT="95250" marB="9525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hMerge="1"/>
              </a:tr>
              <a:tr h="638175">
                <a:tc>
                  <a:txBody>
                    <a:bodyPr/>
                    <a:lstStyle/>
                    <a:p>
                      <a:pPr indent="0" lvl="0" marL="0" rtl="0" algn="just">
                        <a:lnSpc>
                          <a:spcPct val="115000"/>
                        </a:lnSpc>
                        <a:spcBef>
                          <a:spcPts val="0"/>
                        </a:spcBef>
                        <a:spcAft>
                          <a:spcPts val="0"/>
                        </a:spcAft>
                        <a:buNone/>
                      </a:pPr>
                      <a:r>
                        <a:rPr lang="ru" sz="1200"/>
                        <a:t>ease</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Функция по умолчанию, анимация начинается медленно, разгоняется быстро и замедляется в конце. Соответствует cubic-bezier(0.25,0.1,0.25,1).</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6725">
                <a:tc>
                  <a:txBody>
                    <a:bodyPr/>
                    <a:lstStyle/>
                    <a:p>
                      <a:pPr indent="0" lvl="0" marL="0" rtl="0" algn="just">
                        <a:lnSpc>
                          <a:spcPct val="115000"/>
                        </a:lnSpc>
                        <a:spcBef>
                          <a:spcPts val="0"/>
                        </a:spcBef>
                        <a:spcAft>
                          <a:spcPts val="0"/>
                        </a:spcAft>
                        <a:buNone/>
                      </a:pPr>
                      <a:r>
                        <a:rPr lang="ru" sz="1200"/>
                        <a:t>ease-in</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Анимация начинается медленно, а затем плавно ускоряется в конце. Соответствует cubic-bezier(0.42,0,1,1).</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6725">
                <a:tc>
                  <a:txBody>
                    <a:bodyPr/>
                    <a:lstStyle/>
                    <a:p>
                      <a:pPr indent="0" lvl="0" marL="0" rtl="0" algn="just">
                        <a:lnSpc>
                          <a:spcPct val="115000"/>
                        </a:lnSpc>
                        <a:spcBef>
                          <a:spcPts val="0"/>
                        </a:spcBef>
                        <a:spcAft>
                          <a:spcPts val="0"/>
                        </a:spcAft>
                        <a:buNone/>
                      </a:pPr>
                      <a:r>
                        <a:rPr lang="ru" sz="1200"/>
                        <a:t>ease-out</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Анимация начинается быстро и плавно замедляется в конце. Соответствует cubic-bezier(0,0,0.58,1).</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6250">
                <a:tc>
                  <a:txBody>
                    <a:bodyPr/>
                    <a:lstStyle/>
                    <a:p>
                      <a:pPr indent="0" lvl="0" marL="0" rtl="0" algn="just">
                        <a:lnSpc>
                          <a:spcPct val="115000"/>
                        </a:lnSpc>
                        <a:spcBef>
                          <a:spcPts val="0"/>
                        </a:spcBef>
                        <a:spcAft>
                          <a:spcPts val="0"/>
                        </a:spcAft>
                        <a:buNone/>
                      </a:pPr>
                      <a:r>
                        <a:rPr lang="ru" sz="1200"/>
                        <a:t>ease-in-out</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Анимация медленно начинается и медленно заканчивается. Соответствует cubic-bezier(0.42,0,0.58,1).</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graphicFrame>
        <p:nvGraphicFramePr>
          <p:cNvPr id="447" name="Google Shape;447;p64"/>
          <p:cNvGraphicFramePr/>
          <p:nvPr/>
        </p:nvGraphicFramePr>
        <p:xfrm>
          <a:off x="461800" y="594850"/>
          <a:ext cx="3000000" cy="3000000"/>
        </p:xfrm>
        <a:graphic>
          <a:graphicData uri="http://schemas.openxmlformats.org/drawingml/2006/table">
            <a:tbl>
              <a:tblPr>
                <a:solidFill>
                  <a:srgbClr val="FFFFFF"/>
                </a:solidFill>
                <a:tableStyleId>{69577998-B902-4363-BD42-2B2995AA7EB3}</a:tableStyleId>
              </a:tblPr>
              <a:tblGrid>
                <a:gridCol w="1145450"/>
                <a:gridCol w="7074950"/>
              </a:tblGrid>
              <a:tr h="3953800">
                <a:tc>
                  <a:txBody>
                    <a:bodyPr/>
                    <a:lstStyle/>
                    <a:p>
                      <a:pPr indent="0" lvl="0" marL="0" rtl="0" algn="just">
                        <a:lnSpc>
                          <a:spcPct val="115000"/>
                        </a:lnSpc>
                        <a:spcBef>
                          <a:spcPts val="0"/>
                        </a:spcBef>
                        <a:spcAft>
                          <a:spcPts val="0"/>
                        </a:spcAft>
                        <a:buNone/>
                      </a:pPr>
                      <a:r>
                        <a:rPr lang="ru" sz="1200">
                          <a:solidFill>
                            <a:srgbClr val="303030"/>
                          </a:solidFill>
                        </a:rPr>
                        <a:t>cubic-bezier(x1, y1, x2, y2)</a:t>
                      </a:r>
                      <a:endParaRPr sz="1200">
                        <a:solidFill>
                          <a:srgbClr val="303030"/>
                        </a:solidFill>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Позволяет установить значения вручную.</a:t>
                      </a:r>
                      <a:endParaRPr sz="1200"/>
                    </a:p>
                    <a:p>
                      <a:pPr indent="0" lvl="0" marL="0" rtl="0" algn="just">
                        <a:lnSpc>
                          <a:spcPct val="115000"/>
                        </a:lnSpc>
                        <a:spcBef>
                          <a:spcPts val="0"/>
                        </a:spcBef>
                        <a:spcAft>
                          <a:spcPts val="0"/>
                        </a:spcAft>
                        <a:buNone/>
                      </a:pPr>
                      <a:r>
                        <a:t/>
                      </a:r>
                      <a:endParaRPr sz="1200"/>
                    </a:p>
                    <a:p>
                      <a:pPr indent="0" lvl="0" marL="0" rtl="0" algn="just">
                        <a:lnSpc>
                          <a:spcPct val="115000"/>
                        </a:lnSpc>
                        <a:spcBef>
                          <a:spcPts val="0"/>
                        </a:spcBef>
                        <a:spcAft>
                          <a:spcPts val="0"/>
                        </a:spcAft>
                        <a:buNone/>
                      </a:pPr>
                      <a:r>
                        <a:t/>
                      </a:r>
                      <a:endParaRPr sz="1200"/>
                    </a:p>
                    <a:p>
                      <a:pPr indent="0" lvl="0" marL="0" rtl="0" algn="just">
                        <a:lnSpc>
                          <a:spcPct val="115000"/>
                        </a:lnSpc>
                        <a:spcBef>
                          <a:spcPts val="0"/>
                        </a:spcBef>
                        <a:spcAft>
                          <a:spcPts val="0"/>
                        </a:spcAft>
                        <a:buNone/>
                      </a:pPr>
                      <a:r>
                        <a:t/>
                      </a:r>
                      <a:endParaRPr sz="1200"/>
                    </a:p>
                    <a:p>
                      <a:pPr indent="0" lvl="0" marL="0" rtl="0" algn="just">
                        <a:lnSpc>
                          <a:spcPct val="115000"/>
                        </a:lnSpc>
                        <a:spcBef>
                          <a:spcPts val="0"/>
                        </a:spcBef>
                        <a:spcAft>
                          <a:spcPts val="0"/>
                        </a:spcAft>
                        <a:buNone/>
                      </a:pPr>
                      <a:r>
                        <a:t/>
                      </a:r>
                      <a:endParaRPr sz="1200"/>
                    </a:p>
                    <a:p>
                      <a:pPr indent="0" lvl="0" marL="0" rtl="0" algn="just">
                        <a:lnSpc>
                          <a:spcPct val="115000"/>
                        </a:lnSpc>
                        <a:spcBef>
                          <a:spcPts val="0"/>
                        </a:spcBef>
                        <a:spcAft>
                          <a:spcPts val="0"/>
                        </a:spcAft>
                        <a:buNone/>
                      </a:pPr>
                      <a:r>
                        <a:t/>
                      </a:r>
                      <a:endParaRPr sz="1200"/>
                    </a:p>
                    <a:p>
                      <a:pPr indent="0" lvl="0" marL="0" rtl="0" algn="just">
                        <a:lnSpc>
                          <a:spcPct val="115000"/>
                        </a:lnSpc>
                        <a:spcBef>
                          <a:spcPts val="0"/>
                        </a:spcBef>
                        <a:spcAft>
                          <a:spcPts val="0"/>
                        </a:spcAft>
                        <a:buNone/>
                      </a:pPr>
                      <a:r>
                        <a:t/>
                      </a:r>
                      <a:endParaRPr sz="1200"/>
                    </a:p>
                    <a:p>
                      <a:pPr indent="0" lvl="0" marL="0" rtl="0" algn="just">
                        <a:lnSpc>
                          <a:spcPct val="115000"/>
                        </a:lnSpc>
                        <a:spcBef>
                          <a:spcPts val="0"/>
                        </a:spcBef>
                        <a:spcAft>
                          <a:spcPts val="0"/>
                        </a:spcAft>
                        <a:buNone/>
                      </a:pPr>
                      <a:r>
                        <a:t/>
                      </a:r>
                      <a:endParaRPr sz="1200"/>
                    </a:p>
                    <a:p>
                      <a:pPr indent="0" lvl="0" marL="0" rtl="0" algn="just">
                        <a:lnSpc>
                          <a:spcPct val="115000"/>
                        </a:lnSpc>
                        <a:spcBef>
                          <a:spcPts val="0"/>
                        </a:spcBef>
                        <a:spcAft>
                          <a:spcPts val="0"/>
                        </a:spcAft>
                        <a:buNone/>
                      </a:pPr>
                      <a:r>
                        <a:t/>
                      </a:r>
                      <a:endParaRPr sz="1200"/>
                    </a:p>
                    <a:p>
                      <a:pPr indent="0" lvl="0" marL="0" rtl="0" algn="just">
                        <a:lnSpc>
                          <a:spcPct val="115000"/>
                        </a:lnSpc>
                        <a:spcBef>
                          <a:spcPts val="0"/>
                        </a:spcBef>
                        <a:spcAft>
                          <a:spcPts val="0"/>
                        </a:spcAft>
                        <a:buNone/>
                      </a:pPr>
                      <a:r>
                        <a:t/>
                      </a:r>
                      <a:endParaRPr sz="1200"/>
                    </a:p>
                    <a:p>
                      <a:pPr indent="0" lvl="0" marL="0" rtl="0" algn="just">
                        <a:lnSpc>
                          <a:spcPct val="115000"/>
                        </a:lnSpc>
                        <a:spcBef>
                          <a:spcPts val="0"/>
                        </a:spcBef>
                        <a:spcAft>
                          <a:spcPts val="0"/>
                        </a:spcAft>
                        <a:buNone/>
                      </a:pPr>
                      <a:r>
                        <a:t/>
                      </a:r>
                      <a:endParaRPr sz="1200"/>
                    </a:p>
                    <a:p>
                      <a:pPr indent="0" lvl="0" marL="0" rtl="0" algn="just">
                        <a:lnSpc>
                          <a:spcPct val="115000"/>
                        </a:lnSpc>
                        <a:spcBef>
                          <a:spcPts val="0"/>
                        </a:spcBef>
                        <a:spcAft>
                          <a:spcPts val="0"/>
                        </a:spcAft>
                        <a:buNone/>
                      </a:pPr>
                      <a:r>
                        <a:t/>
                      </a:r>
                      <a:endParaRPr sz="1200"/>
                    </a:p>
                    <a:p>
                      <a:pPr indent="0" lvl="0" marL="0" rtl="0" algn="just">
                        <a:lnSpc>
                          <a:spcPct val="115000"/>
                        </a:lnSpc>
                        <a:spcBef>
                          <a:spcPts val="0"/>
                        </a:spcBef>
                        <a:spcAft>
                          <a:spcPts val="0"/>
                        </a:spcAft>
                        <a:buNone/>
                      </a:pPr>
                      <a:r>
                        <a:t/>
                      </a:r>
                      <a:endParaRPr sz="1200"/>
                    </a:p>
                    <a:p>
                      <a:pPr indent="0" lvl="0" marL="0" rtl="0" algn="just">
                        <a:lnSpc>
                          <a:spcPct val="115000"/>
                        </a:lnSpc>
                        <a:spcBef>
                          <a:spcPts val="0"/>
                        </a:spcBef>
                        <a:spcAft>
                          <a:spcPts val="0"/>
                        </a:spcAft>
                        <a:buNone/>
                      </a:pPr>
                      <a:r>
                        <a:t/>
                      </a:r>
                      <a:endParaRPr sz="1200"/>
                    </a:p>
                    <a:p>
                      <a:pPr indent="0" lvl="0" marL="0" rtl="0" algn="just">
                        <a:lnSpc>
                          <a:spcPct val="115000"/>
                        </a:lnSpc>
                        <a:spcBef>
                          <a:spcPts val="0"/>
                        </a:spcBef>
                        <a:spcAft>
                          <a:spcPts val="0"/>
                        </a:spcAft>
                        <a:buNone/>
                      </a:pPr>
                      <a:r>
                        <a:t/>
                      </a:r>
                      <a:endParaRPr sz="1200"/>
                    </a:p>
                    <a:p>
                      <a:pPr indent="0" lvl="0" marL="0" rtl="0" algn="just">
                        <a:lnSpc>
                          <a:spcPct val="115000"/>
                        </a:lnSpc>
                        <a:spcBef>
                          <a:spcPts val="0"/>
                        </a:spcBef>
                        <a:spcAft>
                          <a:spcPts val="0"/>
                        </a:spcAft>
                        <a:buNone/>
                      </a:pPr>
                      <a:r>
                        <a:rPr lang="ru" sz="1200"/>
                        <a:t>P0 и P3 всегда находятся в одном месте, P0 — в точке (0,0), а P3 — в точке (1,1). По оси X показано время анимации, а по оси Y — изменяемое свойство. Кривая будет растягиваться по-разному в зависимости от того, какие значения вы дадите точкам P1 и P2 (-∞,∞). </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448" name="Google Shape;448;p64"/>
          <p:cNvPicPr preferRelativeResize="0"/>
          <p:nvPr/>
        </p:nvPicPr>
        <p:blipFill>
          <a:blip r:embed="rId3">
            <a:alphaModFix/>
          </a:blip>
          <a:stretch>
            <a:fillRect/>
          </a:stretch>
        </p:blipFill>
        <p:spPr>
          <a:xfrm>
            <a:off x="2164925" y="1028675"/>
            <a:ext cx="2508183" cy="250292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graphicFrame>
        <p:nvGraphicFramePr>
          <p:cNvPr id="453" name="Google Shape;453;p65"/>
          <p:cNvGraphicFramePr/>
          <p:nvPr/>
        </p:nvGraphicFramePr>
        <p:xfrm>
          <a:off x="336750" y="290675"/>
          <a:ext cx="3000000" cy="3000000"/>
        </p:xfrm>
        <a:graphic>
          <a:graphicData uri="http://schemas.openxmlformats.org/drawingml/2006/table">
            <a:tbl>
              <a:tblPr>
                <a:solidFill>
                  <a:srgbClr val="FFFFFF"/>
                </a:solidFill>
                <a:tableStyleId>{69577998-B902-4363-BD42-2B2995AA7EB3}</a:tableStyleId>
              </a:tblPr>
              <a:tblGrid>
                <a:gridCol w="1140900"/>
                <a:gridCol w="7340675"/>
              </a:tblGrid>
              <a:tr h="360250">
                <a:tc gridSpan="2">
                  <a:txBody>
                    <a:bodyPr/>
                    <a:lstStyle/>
                    <a:p>
                      <a:pPr indent="0" lvl="0" marL="0" rtl="0" algn="ctr">
                        <a:lnSpc>
                          <a:spcPct val="100000"/>
                        </a:lnSpc>
                        <a:spcBef>
                          <a:spcPts val="0"/>
                        </a:spcBef>
                        <a:spcAft>
                          <a:spcPts val="0"/>
                        </a:spcAft>
                        <a:buNone/>
                      </a:pPr>
                      <a:r>
                        <a:rPr b="1" lang="ru" sz="1200"/>
                        <a:t>П</a:t>
                      </a:r>
                      <a:r>
                        <a:rPr b="1" lang="ru" sz="1200"/>
                        <a:t>ошаговые функции</a:t>
                      </a:r>
                      <a:endParaRPr b="1" sz="1200"/>
                    </a:p>
                  </a:txBody>
                  <a:tcPr marT="95250" marB="9525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hMerge="1"/>
              </a:tr>
              <a:tr h="498800">
                <a:tc>
                  <a:txBody>
                    <a:bodyPr/>
                    <a:lstStyle/>
                    <a:p>
                      <a:pPr indent="0" lvl="0" marL="0" rtl="0" algn="l">
                        <a:lnSpc>
                          <a:spcPct val="100000"/>
                        </a:lnSpc>
                        <a:spcBef>
                          <a:spcPts val="0"/>
                        </a:spcBef>
                        <a:spcAft>
                          <a:spcPts val="0"/>
                        </a:spcAft>
                        <a:buNone/>
                      </a:pPr>
                      <a:r>
                        <a:rPr lang="ru" sz="1200"/>
                        <a:t>step-start</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ru" sz="1200"/>
                        <a:t>Задает пошаговую анимацию, разбивая анимацию на отрезки, изменения происходят в начале каждого шага. Вычисляется в steps(1, start).</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43925">
                <a:tc>
                  <a:txBody>
                    <a:bodyPr/>
                    <a:lstStyle/>
                    <a:p>
                      <a:pPr indent="0" lvl="0" marL="0" rtl="0" algn="l">
                        <a:lnSpc>
                          <a:spcPct val="100000"/>
                        </a:lnSpc>
                        <a:spcBef>
                          <a:spcPts val="0"/>
                        </a:spcBef>
                        <a:spcAft>
                          <a:spcPts val="0"/>
                        </a:spcAft>
                        <a:buNone/>
                      </a:pPr>
                      <a:r>
                        <a:rPr lang="ru" sz="1200"/>
                        <a:t>step-end</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ru" sz="1200"/>
                        <a:t>Пошаговая анимация, изменения происходят в конце каждого шага. Вычисляется в steps(1, end).</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32275">
                <a:tc>
                  <a:txBody>
                    <a:bodyPr/>
                    <a:lstStyle/>
                    <a:p>
                      <a:pPr indent="0" lvl="0" marL="0" rtl="0" algn="l">
                        <a:lnSpc>
                          <a:spcPct val="100000"/>
                        </a:lnSpc>
                        <a:spcBef>
                          <a:spcPts val="0"/>
                        </a:spcBef>
                        <a:spcAft>
                          <a:spcPts val="0"/>
                        </a:spcAft>
                        <a:buNone/>
                      </a:pPr>
                      <a:r>
                        <a:rPr lang="ru" sz="1200"/>
                        <a:t>steps</a:t>
                      </a:r>
                      <a:endParaRPr sz="1200"/>
                    </a:p>
                    <a:p>
                      <a:pPr indent="0" lvl="0" marL="0" rtl="0" algn="l">
                        <a:lnSpc>
                          <a:spcPct val="100000"/>
                        </a:lnSpc>
                        <a:spcBef>
                          <a:spcPts val="0"/>
                        </a:spcBef>
                        <a:spcAft>
                          <a:spcPts val="0"/>
                        </a:spcAft>
                        <a:buNone/>
                      </a:pPr>
                      <a:r>
                        <a:rPr lang="ru" sz="1200"/>
                        <a:t>(количество шагов, положение шага)</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ru" sz="1200"/>
                        <a:t>Ступенчатая временная функция, которая принимает два параметра. Первый параметр указывает количество интервалов в функции. Это должно быть положительное целое число больше 0, если вторым параметром не является jump-none — в этом случае оно должно быть положительным целым числом больше 1. Второй параметр, который является необязательным, указывает позицию шага — момент, в котором начинается анимация, используя одно из следующих значений:</a:t>
                      </a:r>
                      <a:endParaRPr sz="1200"/>
                    </a:p>
                    <a:p>
                      <a:pPr indent="-304800" lvl="0" marL="647700" rtl="0" algn="just">
                        <a:lnSpc>
                          <a:spcPct val="100000"/>
                        </a:lnSpc>
                        <a:spcBef>
                          <a:spcPts val="0"/>
                        </a:spcBef>
                        <a:spcAft>
                          <a:spcPts val="0"/>
                        </a:spcAft>
                        <a:buClr>
                          <a:srgbClr val="000000"/>
                        </a:buClr>
                        <a:buSzPts val="1200"/>
                        <a:buFont typeface="Arial"/>
                        <a:buChar char="○"/>
                      </a:pPr>
                      <a:r>
                        <a:rPr lang="ru" sz="1200"/>
                        <a:t>jump-start — первый шаг происходит при значении 0</a:t>
                      </a:r>
                      <a:endParaRPr sz="1200"/>
                    </a:p>
                    <a:p>
                      <a:pPr indent="-304800" lvl="0" marL="647700" rtl="0" algn="just">
                        <a:lnSpc>
                          <a:spcPct val="100000"/>
                        </a:lnSpc>
                        <a:spcBef>
                          <a:spcPts val="0"/>
                        </a:spcBef>
                        <a:spcAft>
                          <a:spcPts val="0"/>
                        </a:spcAft>
                        <a:buClr>
                          <a:srgbClr val="000000"/>
                        </a:buClr>
                        <a:buSzPts val="1200"/>
                        <a:buFont typeface="Arial"/>
                        <a:buChar char="○"/>
                      </a:pPr>
                      <a:r>
                        <a:rPr lang="ru" sz="1200"/>
                        <a:t>jump-end — последний шаг происходит при значении 1</a:t>
                      </a:r>
                      <a:endParaRPr sz="1200"/>
                    </a:p>
                    <a:p>
                      <a:pPr indent="-304800" lvl="0" marL="647700" rtl="0" algn="just">
                        <a:lnSpc>
                          <a:spcPct val="100000"/>
                        </a:lnSpc>
                        <a:spcBef>
                          <a:spcPts val="0"/>
                        </a:spcBef>
                        <a:spcAft>
                          <a:spcPts val="0"/>
                        </a:spcAft>
                        <a:buClr>
                          <a:srgbClr val="000000"/>
                        </a:buClr>
                        <a:buSzPts val="1200"/>
                        <a:buFont typeface="Arial"/>
                        <a:buChar char="○"/>
                      </a:pPr>
                      <a:r>
                        <a:rPr lang="ru" sz="1200"/>
                        <a:t>jump-none — все шаги происходят в пределах диапазона (0, 1)</a:t>
                      </a:r>
                      <a:endParaRPr sz="1200"/>
                    </a:p>
                    <a:p>
                      <a:pPr indent="-304800" lvl="0" marL="647700" rtl="0" algn="just">
                        <a:lnSpc>
                          <a:spcPct val="100000"/>
                        </a:lnSpc>
                        <a:spcBef>
                          <a:spcPts val="0"/>
                        </a:spcBef>
                        <a:spcAft>
                          <a:spcPts val="0"/>
                        </a:spcAft>
                        <a:buClr>
                          <a:srgbClr val="000000"/>
                        </a:buClr>
                        <a:buSzPts val="1200"/>
                        <a:buFont typeface="Arial"/>
                        <a:buChar char="○"/>
                      </a:pPr>
                      <a:r>
                        <a:rPr lang="ru" sz="1200"/>
                        <a:t>jump-both — первый шаг происходит при значении 0, последний — при значении 1</a:t>
                      </a:r>
                      <a:endParaRPr sz="1200"/>
                    </a:p>
                    <a:p>
                      <a:pPr indent="-304800" lvl="0" marL="647700" rtl="0" algn="just">
                        <a:lnSpc>
                          <a:spcPct val="100000"/>
                        </a:lnSpc>
                        <a:spcBef>
                          <a:spcPts val="0"/>
                        </a:spcBef>
                        <a:spcAft>
                          <a:spcPts val="0"/>
                        </a:spcAft>
                        <a:buClr>
                          <a:srgbClr val="000000"/>
                        </a:buClr>
                        <a:buSzPts val="1200"/>
                        <a:buFont typeface="Arial"/>
                        <a:buChar char="○"/>
                      </a:pPr>
                      <a:r>
                        <a:rPr lang="ru" sz="1200"/>
                        <a:t>start — ведет себя как jump-start</a:t>
                      </a:r>
                      <a:endParaRPr sz="1200"/>
                    </a:p>
                    <a:p>
                      <a:pPr indent="-304800" lvl="0" marL="647700" rtl="0" algn="just">
                        <a:lnSpc>
                          <a:spcPct val="100000"/>
                        </a:lnSpc>
                        <a:spcBef>
                          <a:spcPts val="0"/>
                        </a:spcBef>
                        <a:spcAft>
                          <a:spcPts val="0"/>
                        </a:spcAft>
                        <a:buClr>
                          <a:srgbClr val="000000"/>
                        </a:buClr>
                        <a:buSzPts val="1200"/>
                        <a:buFont typeface="Arial"/>
                        <a:buChar char="○"/>
                      </a:pPr>
                      <a:r>
                        <a:rPr lang="ru" sz="1200"/>
                        <a:t>end — ведет себя как jump-end</a:t>
                      </a:r>
                      <a:endParaRPr sz="1200"/>
                    </a:p>
                    <a:p>
                      <a:pPr indent="0" lvl="0" marL="0" rtl="0" algn="just">
                        <a:lnSpc>
                          <a:spcPct val="100000"/>
                        </a:lnSpc>
                        <a:spcBef>
                          <a:spcPts val="3100"/>
                        </a:spcBef>
                        <a:spcAft>
                          <a:spcPts val="0"/>
                        </a:spcAft>
                        <a:buNone/>
                      </a:pPr>
                      <a:r>
                        <a:rPr lang="ru" sz="1200"/>
                        <a:t>Со значением start анимация начинается в начале каждого шага, со значением end — в конце каждого шага с задержкой. Задержка вычисляется как результат деления времени анимации на количество шагов. Если второй параметр не указан, используется значение по умолчанию end.</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66"/>
          <p:cNvSpPr txBox="1"/>
          <p:nvPr/>
        </p:nvSpPr>
        <p:spPr>
          <a:xfrm>
            <a:off x="9235375" y="1712525"/>
            <a:ext cx="82068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Calibri"/>
              <a:ea typeface="Calibri"/>
              <a:cs typeface="Calibri"/>
              <a:sym typeface="Calibri"/>
            </a:endParaRPr>
          </a:p>
        </p:txBody>
      </p:sp>
      <p:sp>
        <p:nvSpPr>
          <p:cNvPr id="459" name="Google Shape;459;p66"/>
          <p:cNvSpPr/>
          <p:nvPr/>
        </p:nvSpPr>
        <p:spPr>
          <a:xfrm>
            <a:off x="5625100" y="1608000"/>
            <a:ext cx="3041700" cy="1826700"/>
          </a:xfrm>
          <a:prstGeom prst="rect">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0" name="Google Shape;460;p66"/>
          <p:cNvSpPr txBox="1"/>
          <p:nvPr/>
        </p:nvSpPr>
        <p:spPr>
          <a:xfrm>
            <a:off x="5363925" y="727925"/>
            <a:ext cx="3059100" cy="3971100"/>
          </a:xfrm>
          <a:prstGeom prst="rect">
            <a:avLst/>
          </a:prstGeom>
          <a:solidFill>
            <a:schemeClr val="dk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ru" sz="1200">
                <a:solidFill>
                  <a:srgbClr val="990055"/>
                </a:solidFill>
              </a:rPr>
              <a:t>animation-timing-function</a:t>
            </a:r>
            <a:r>
              <a:rPr lang="ru" sz="1200">
                <a:solidFill>
                  <a:srgbClr val="999999"/>
                </a:solidFill>
              </a:rPr>
              <a:t>:</a:t>
            </a:r>
            <a:r>
              <a:rPr lang="ru" sz="1200">
                <a:solidFill>
                  <a:srgbClr val="303030"/>
                </a:solidFill>
              </a:rPr>
              <a:t> ease</a:t>
            </a:r>
            <a:r>
              <a:rPr lang="ru" sz="1200">
                <a:solidFill>
                  <a:srgbClr val="999999"/>
                </a:solidFill>
              </a:rPr>
              <a:t>;</a:t>
            </a:r>
            <a:endParaRPr sz="1200">
              <a:solidFill>
                <a:srgbClr val="303030"/>
              </a:solidFill>
            </a:endParaRPr>
          </a:p>
          <a:p>
            <a:pPr indent="0" lvl="0" marL="0" rtl="0" algn="l">
              <a:lnSpc>
                <a:spcPct val="150000"/>
              </a:lnSpc>
              <a:spcBef>
                <a:spcPts val="0"/>
              </a:spcBef>
              <a:spcAft>
                <a:spcPts val="0"/>
              </a:spcAft>
              <a:buNone/>
            </a:pPr>
            <a:r>
              <a:rPr lang="ru" sz="1200">
                <a:solidFill>
                  <a:srgbClr val="990055"/>
                </a:solidFill>
              </a:rPr>
              <a:t>animation-timing-function</a:t>
            </a:r>
            <a:r>
              <a:rPr lang="ru" sz="1200">
                <a:solidFill>
                  <a:srgbClr val="999999"/>
                </a:solidFill>
              </a:rPr>
              <a:t>:</a:t>
            </a:r>
            <a:r>
              <a:rPr lang="ru" sz="1200">
                <a:solidFill>
                  <a:srgbClr val="303030"/>
                </a:solidFill>
              </a:rPr>
              <a:t> ease-in</a:t>
            </a:r>
            <a:r>
              <a:rPr lang="ru" sz="1200">
                <a:solidFill>
                  <a:srgbClr val="999999"/>
                </a:solidFill>
              </a:rPr>
              <a:t>;</a:t>
            </a:r>
            <a:endParaRPr sz="1200">
              <a:solidFill>
                <a:srgbClr val="303030"/>
              </a:solidFill>
            </a:endParaRPr>
          </a:p>
          <a:p>
            <a:pPr indent="0" lvl="0" marL="0" rtl="0" algn="l">
              <a:lnSpc>
                <a:spcPct val="150000"/>
              </a:lnSpc>
              <a:spcBef>
                <a:spcPts val="0"/>
              </a:spcBef>
              <a:spcAft>
                <a:spcPts val="0"/>
              </a:spcAft>
              <a:buNone/>
            </a:pPr>
            <a:r>
              <a:rPr lang="ru" sz="1200">
                <a:solidFill>
                  <a:srgbClr val="990055"/>
                </a:solidFill>
              </a:rPr>
              <a:t>animation-timing-function</a:t>
            </a:r>
            <a:r>
              <a:rPr lang="ru" sz="1200">
                <a:solidFill>
                  <a:srgbClr val="999999"/>
                </a:solidFill>
              </a:rPr>
              <a:t>:</a:t>
            </a:r>
            <a:r>
              <a:rPr lang="ru" sz="1200">
                <a:solidFill>
                  <a:srgbClr val="303030"/>
                </a:solidFill>
              </a:rPr>
              <a:t> ease-out</a:t>
            </a:r>
            <a:r>
              <a:rPr lang="ru" sz="1200">
                <a:solidFill>
                  <a:srgbClr val="999999"/>
                </a:solidFill>
              </a:rPr>
              <a:t>;</a:t>
            </a:r>
            <a:endParaRPr sz="1200">
              <a:solidFill>
                <a:srgbClr val="303030"/>
              </a:solidFill>
            </a:endParaRPr>
          </a:p>
          <a:p>
            <a:pPr indent="0" lvl="0" marL="0" rtl="0" algn="l">
              <a:lnSpc>
                <a:spcPct val="150000"/>
              </a:lnSpc>
              <a:spcBef>
                <a:spcPts val="0"/>
              </a:spcBef>
              <a:spcAft>
                <a:spcPts val="0"/>
              </a:spcAft>
              <a:buNone/>
            </a:pPr>
            <a:r>
              <a:rPr lang="ru" sz="1200">
                <a:solidFill>
                  <a:srgbClr val="990055"/>
                </a:solidFill>
              </a:rPr>
              <a:t>animation-timing-function</a:t>
            </a:r>
            <a:r>
              <a:rPr lang="ru" sz="1200">
                <a:solidFill>
                  <a:srgbClr val="999999"/>
                </a:solidFill>
              </a:rPr>
              <a:t>:</a:t>
            </a:r>
            <a:r>
              <a:rPr lang="ru" sz="1200">
                <a:solidFill>
                  <a:srgbClr val="303030"/>
                </a:solidFill>
              </a:rPr>
              <a:t> ease-in-out</a:t>
            </a:r>
            <a:r>
              <a:rPr lang="ru" sz="1200">
                <a:solidFill>
                  <a:srgbClr val="999999"/>
                </a:solidFill>
              </a:rPr>
              <a:t>;</a:t>
            </a:r>
            <a:endParaRPr sz="1200">
              <a:solidFill>
                <a:srgbClr val="303030"/>
              </a:solidFill>
            </a:endParaRPr>
          </a:p>
          <a:p>
            <a:pPr indent="0" lvl="0" marL="0" rtl="0" algn="l">
              <a:lnSpc>
                <a:spcPct val="150000"/>
              </a:lnSpc>
              <a:spcBef>
                <a:spcPts val="0"/>
              </a:spcBef>
              <a:spcAft>
                <a:spcPts val="0"/>
              </a:spcAft>
              <a:buNone/>
            </a:pPr>
            <a:r>
              <a:rPr lang="ru" sz="1200">
                <a:solidFill>
                  <a:srgbClr val="990055"/>
                </a:solidFill>
              </a:rPr>
              <a:t>animation-timing-function</a:t>
            </a:r>
            <a:r>
              <a:rPr lang="ru" sz="1200">
                <a:solidFill>
                  <a:srgbClr val="999999"/>
                </a:solidFill>
              </a:rPr>
              <a:t>:</a:t>
            </a:r>
            <a:r>
              <a:rPr lang="ru" sz="1200">
                <a:solidFill>
                  <a:srgbClr val="303030"/>
                </a:solidFill>
              </a:rPr>
              <a:t> linear</a:t>
            </a:r>
            <a:r>
              <a:rPr lang="ru" sz="1200">
                <a:solidFill>
                  <a:srgbClr val="999999"/>
                </a:solidFill>
              </a:rPr>
              <a:t>;</a:t>
            </a:r>
            <a:endParaRPr sz="1200">
              <a:solidFill>
                <a:srgbClr val="303030"/>
              </a:solidFill>
            </a:endParaRPr>
          </a:p>
          <a:p>
            <a:pPr indent="0" lvl="0" marL="0" rtl="0" algn="l">
              <a:lnSpc>
                <a:spcPct val="150000"/>
              </a:lnSpc>
              <a:spcBef>
                <a:spcPts val="0"/>
              </a:spcBef>
              <a:spcAft>
                <a:spcPts val="0"/>
              </a:spcAft>
              <a:buNone/>
            </a:pPr>
            <a:r>
              <a:rPr lang="ru" sz="1200">
                <a:solidFill>
                  <a:srgbClr val="990055"/>
                </a:solidFill>
              </a:rPr>
              <a:t>animation-timing-function</a:t>
            </a:r>
            <a:r>
              <a:rPr lang="ru" sz="1200">
                <a:solidFill>
                  <a:srgbClr val="999999"/>
                </a:solidFill>
              </a:rPr>
              <a:t>:</a:t>
            </a:r>
            <a:r>
              <a:rPr lang="ru" sz="1200">
                <a:solidFill>
                  <a:srgbClr val="303030"/>
                </a:solidFill>
              </a:rPr>
              <a:t> step-start</a:t>
            </a:r>
            <a:r>
              <a:rPr lang="ru" sz="1200">
                <a:solidFill>
                  <a:srgbClr val="999999"/>
                </a:solidFill>
              </a:rPr>
              <a:t>;</a:t>
            </a:r>
            <a:endParaRPr sz="1200">
              <a:solidFill>
                <a:srgbClr val="303030"/>
              </a:solidFill>
            </a:endParaRPr>
          </a:p>
          <a:p>
            <a:pPr indent="0" lvl="0" marL="0" rtl="0" algn="l">
              <a:lnSpc>
                <a:spcPct val="150000"/>
              </a:lnSpc>
              <a:spcBef>
                <a:spcPts val="0"/>
              </a:spcBef>
              <a:spcAft>
                <a:spcPts val="0"/>
              </a:spcAft>
              <a:buNone/>
            </a:pPr>
            <a:r>
              <a:rPr lang="ru" sz="1200">
                <a:solidFill>
                  <a:srgbClr val="990055"/>
                </a:solidFill>
              </a:rPr>
              <a:t>animation-timing-function</a:t>
            </a:r>
            <a:r>
              <a:rPr lang="ru" sz="1200">
                <a:solidFill>
                  <a:srgbClr val="999999"/>
                </a:solidFill>
              </a:rPr>
              <a:t>:</a:t>
            </a:r>
            <a:r>
              <a:rPr lang="ru" sz="1200">
                <a:solidFill>
                  <a:srgbClr val="303030"/>
                </a:solidFill>
              </a:rPr>
              <a:t> step-end</a:t>
            </a:r>
            <a:r>
              <a:rPr lang="ru" sz="1200">
                <a:solidFill>
                  <a:srgbClr val="999999"/>
                </a:solidFill>
              </a:rPr>
              <a:t>;</a:t>
            </a:r>
            <a:endParaRPr sz="1200">
              <a:solidFill>
                <a:srgbClr val="303030"/>
              </a:solidFill>
            </a:endParaRPr>
          </a:p>
          <a:p>
            <a:pPr indent="0" lvl="0" marL="0" rtl="0" algn="l">
              <a:lnSpc>
                <a:spcPct val="150000"/>
              </a:lnSpc>
              <a:spcBef>
                <a:spcPts val="0"/>
              </a:spcBef>
              <a:spcAft>
                <a:spcPts val="0"/>
              </a:spcAft>
              <a:buNone/>
            </a:pPr>
            <a:r>
              <a:rPr lang="ru" sz="1200">
                <a:solidFill>
                  <a:srgbClr val="990055"/>
                </a:solidFill>
              </a:rPr>
              <a:t>animation-timing-function</a:t>
            </a:r>
            <a:r>
              <a:rPr lang="ru" sz="1200">
                <a:solidFill>
                  <a:srgbClr val="999999"/>
                </a:solidFill>
              </a:rPr>
              <a:t>:</a:t>
            </a:r>
            <a:r>
              <a:rPr lang="ru" sz="1200">
                <a:solidFill>
                  <a:srgbClr val="303030"/>
                </a:solidFill>
              </a:rPr>
              <a:t> </a:t>
            </a:r>
            <a:r>
              <a:rPr lang="ru" sz="1200">
                <a:solidFill>
                  <a:srgbClr val="DD4A68"/>
                </a:solidFill>
              </a:rPr>
              <a:t>cubic-bezier</a:t>
            </a:r>
            <a:r>
              <a:rPr lang="ru" sz="1200">
                <a:solidFill>
                  <a:srgbClr val="999999"/>
                </a:solidFill>
              </a:rPr>
              <a:t>(</a:t>
            </a:r>
            <a:r>
              <a:rPr lang="ru" sz="1200">
                <a:solidFill>
                  <a:srgbClr val="303030"/>
                </a:solidFill>
              </a:rPr>
              <a:t>0.1</a:t>
            </a:r>
            <a:r>
              <a:rPr lang="ru" sz="1200">
                <a:solidFill>
                  <a:srgbClr val="999999"/>
                </a:solidFill>
              </a:rPr>
              <a:t>,</a:t>
            </a:r>
            <a:r>
              <a:rPr lang="ru" sz="1200">
                <a:solidFill>
                  <a:srgbClr val="303030"/>
                </a:solidFill>
              </a:rPr>
              <a:t> 0.7</a:t>
            </a:r>
            <a:r>
              <a:rPr lang="ru" sz="1200">
                <a:solidFill>
                  <a:srgbClr val="999999"/>
                </a:solidFill>
              </a:rPr>
              <a:t>,</a:t>
            </a:r>
            <a:r>
              <a:rPr lang="ru" sz="1200">
                <a:solidFill>
                  <a:srgbClr val="303030"/>
                </a:solidFill>
              </a:rPr>
              <a:t> 1.0</a:t>
            </a:r>
            <a:r>
              <a:rPr lang="ru" sz="1200">
                <a:solidFill>
                  <a:srgbClr val="999999"/>
                </a:solidFill>
              </a:rPr>
              <a:t>,</a:t>
            </a:r>
            <a:r>
              <a:rPr lang="ru" sz="1200">
                <a:solidFill>
                  <a:srgbClr val="303030"/>
                </a:solidFill>
              </a:rPr>
              <a:t> 0.1</a:t>
            </a:r>
            <a:r>
              <a:rPr lang="ru" sz="1200">
                <a:solidFill>
                  <a:srgbClr val="999999"/>
                </a:solidFill>
              </a:rPr>
              <a:t>);</a:t>
            </a:r>
            <a:endParaRPr sz="1200">
              <a:solidFill>
                <a:srgbClr val="303030"/>
              </a:solidFill>
            </a:endParaRPr>
          </a:p>
          <a:p>
            <a:pPr indent="0" lvl="0" marL="0" rtl="0" algn="l">
              <a:lnSpc>
                <a:spcPct val="150000"/>
              </a:lnSpc>
              <a:spcBef>
                <a:spcPts val="0"/>
              </a:spcBef>
              <a:spcAft>
                <a:spcPts val="0"/>
              </a:spcAft>
              <a:buNone/>
            </a:pPr>
            <a:r>
              <a:rPr lang="ru" sz="1200">
                <a:solidFill>
                  <a:srgbClr val="990055"/>
                </a:solidFill>
              </a:rPr>
              <a:t>animation-timing-function</a:t>
            </a:r>
            <a:r>
              <a:rPr lang="ru" sz="1200">
                <a:solidFill>
                  <a:srgbClr val="999999"/>
                </a:solidFill>
              </a:rPr>
              <a:t>:</a:t>
            </a:r>
            <a:r>
              <a:rPr lang="ru" sz="1200">
                <a:solidFill>
                  <a:srgbClr val="303030"/>
                </a:solidFill>
              </a:rPr>
              <a:t> </a:t>
            </a:r>
            <a:r>
              <a:rPr lang="ru" sz="1200">
                <a:solidFill>
                  <a:srgbClr val="DD4A68"/>
                </a:solidFill>
              </a:rPr>
              <a:t>steps</a:t>
            </a:r>
            <a:r>
              <a:rPr lang="ru" sz="1200">
                <a:solidFill>
                  <a:srgbClr val="999999"/>
                </a:solidFill>
              </a:rPr>
              <a:t>(</a:t>
            </a:r>
            <a:r>
              <a:rPr lang="ru" sz="1200">
                <a:solidFill>
                  <a:srgbClr val="303030"/>
                </a:solidFill>
              </a:rPr>
              <a:t>4</a:t>
            </a:r>
            <a:r>
              <a:rPr lang="ru" sz="1200">
                <a:solidFill>
                  <a:srgbClr val="999999"/>
                </a:solidFill>
              </a:rPr>
              <a:t>,</a:t>
            </a:r>
            <a:r>
              <a:rPr lang="ru" sz="1200">
                <a:solidFill>
                  <a:srgbClr val="303030"/>
                </a:solidFill>
              </a:rPr>
              <a:t> end</a:t>
            </a:r>
            <a:r>
              <a:rPr lang="ru" sz="1200">
                <a:solidFill>
                  <a:srgbClr val="999999"/>
                </a:solidFill>
              </a:rPr>
              <a:t>);</a:t>
            </a:r>
            <a:endParaRPr sz="1200">
              <a:solidFill>
                <a:srgbClr val="303030"/>
              </a:solidFill>
            </a:endParaRPr>
          </a:p>
          <a:p>
            <a:pPr indent="0" lvl="0" marL="0" rtl="0" algn="l">
              <a:lnSpc>
                <a:spcPct val="150000"/>
              </a:lnSpc>
              <a:spcBef>
                <a:spcPts val="0"/>
              </a:spcBef>
              <a:spcAft>
                <a:spcPts val="0"/>
              </a:spcAft>
              <a:buNone/>
            </a:pPr>
            <a:r>
              <a:rPr lang="ru" sz="1200">
                <a:solidFill>
                  <a:srgbClr val="990055"/>
                </a:solidFill>
              </a:rPr>
              <a:t>animation-timing-function</a:t>
            </a:r>
            <a:r>
              <a:rPr lang="ru" sz="1200">
                <a:solidFill>
                  <a:srgbClr val="999999"/>
                </a:solidFill>
              </a:rPr>
              <a:t>:</a:t>
            </a:r>
            <a:r>
              <a:rPr lang="ru" sz="1200">
                <a:solidFill>
                  <a:srgbClr val="303030"/>
                </a:solidFill>
              </a:rPr>
              <a:t> ease</a:t>
            </a:r>
            <a:r>
              <a:rPr lang="ru" sz="1200">
                <a:solidFill>
                  <a:srgbClr val="999999"/>
                </a:solidFill>
              </a:rPr>
              <a:t>,</a:t>
            </a:r>
            <a:r>
              <a:rPr lang="ru" sz="1200">
                <a:solidFill>
                  <a:srgbClr val="303030"/>
                </a:solidFill>
              </a:rPr>
              <a:t> step-start</a:t>
            </a:r>
            <a:r>
              <a:rPr lang="ru" sz="1200">
                <a:solidFill>
                  <a:srgbClr val="999999"/>
                </a:solidFill>
              </a:rPr>
              <a:t>,</a:t>
            </a:r>
            <a:r>
              <a:rPr lang="ru" sz="1200">
                <a:solidFill>
                  <a:srgbClr val="303030"/>
                </a:solidFill>
              </a:rPr>
              <a:t> </a:t>
            </a:r>
            <a:r>
              <a:rPr lang="ru" sz="1200">
                <a:solidFill>
                  <a:srgbClr val="DD4A68"/>
                </a:solidFill>
              </a:rPr>
              <a:t>cubic-bezier</a:t>
            </a:r>
            <a:r>
              <a:rPr lang="ru" sz="1200">
                <a:solidFill>
                  <a:srgbClr val="999999"/>
                </a:solidFill>
              </a:rPr>
              <a:t>(</a:t>
            </a:r>
            <a:r>
              <a:rPr lang="ru" sz="1200">
                <a:solidFill>
                  <a:srgbClr val="303030"/>
                </a:solidFill>
              </a:rPr>
              <a:t>0.1</a:t>
            </a:r>
            <a:r>
              <a:rPr lang="ru" sz="1200">
                <a:solidFill>
                  <a:srgbClr val="999999"/>
                </a:solidFill>
              </a:rPr>
              <a:t>,</a:t>
            </a:r>
            <a:r>
              <a:rPr lang="ru" sz="1200">
                <a:solidFill>
                  <a:srgbClr val="303030"/>
                </a:solidFill>
              </a:rPr>
              <a:t> 0.7</a:t>
            </a:r>
            <a:r>
              <a:rPr lang="ru" sz="1200">
                <a:solidFill>
                  <a:srgbClr val="999999"/>
                </a:solidFill>
              </a:rPr>
              <a:t>,</a:t>
            </a:r>
            <a:r>
              <a:rPr lang="ru" sz="1200">
                <a:solidFill>
                  <a:srgbClr val="303030"/>
                </a:solidFill>
              </a:rPr>
              <a:t> 1.0</a:t>
            </a:r>
            <a:r>
              <a:rPr lang="ru" sz="1200">
                <a:solidFill>
                  <a:srgbClr val="999999"/>
                </a:solidFill>
              </a:rPr>
              <a:t>,</a:t>
            </a:r>
            <a:r>
              <a:rPr lang="ru" sz="1200">
                <a:solidFill>
                  <a:srgbClr val="303030"/>
                </a:solidFill>
              </a:rPr>
              <a:t> 0.1</a:t>
            </a:r>
            <a:r>
              <a:rPr lang="ru" sz="1200">
                <a:solidFill>
                  <a:srgbClr val="999999"/>
                </a:solidFill>
              </a:rPr>
              <a:t>);</a:t>
            </a:r>
            <a:endParaRPr sz="1200">
              <a:solidFill>
                <a:srgbClr val="303030"/>
              </a:solidFill>
            </a:endParaRPr>
          </a:p>
          <a:p>
            <a:pPr indent="0" lvl="0" marL="0" rtl="0" algn="l">
              <a:lnSpc>
                <a:spcPct val="150000"/>
              </a:lnSpc>
              <a:spcBef>
                <a:spcPts val="0"/>
              </a:spcBef>
              <a:spcAft>
                <a:spcPts val="0"/>
              </a:spcAft>
              <a:buNone/>
            </a:pPr>
            <a:r>
              <a:rPr lang="ru" sz="1200">
                <a:solidFill>
                  <a:srgbClr val="990055"/>
                </a:solidFill>
              </a:rPr>
              <a:t>animation-timing-function</a:t>
            </a:r>
            <a:r>
              <a:rPr lang="ru" sz="1200">
                <a:solidFill>
                  <a:srgbClr val="999999"/>
                </a:solidFill>
              </a:rPr>
              <a:t>:</a:t>
            </a:r>
            <a:r>
              <a:rPr lang="ru" sz="1200">
                <a:solidFill>
                  <a:srgbClr val="303030"/>
                </a:solidFill>
              </a:rPr>
              <a:t> initial</a:t>
            </a:r>
            <a:r>
              <a:rPr lang="ru" sz="1200">
                <a:solidFill>
                  <a:srgbClr val="999999"/>
                </a:solidFill>
              </a:rPr>
              <a:t>;</a:t>
            </a:r>
            <a:endParaRPr sz="1200">
              <a:solidFill>
                <a:srgbClr val="303030"/>
              </a:solidFill>
            </a:endParaRPr>
          </a:p>
          <a:p>
            <a:pPr indent="0" lvl="0" marL="0" marR="190500" rtl="0" algn="l">
              <a:lnSpc>
                <a:spcPct val="150000"/>
              </a:lnSpc>
              <a:spcBef>
                <a:spcPts val="0"/>
              </a:spcBef>
              <a:spcAft>
                <a:spcPts val="2300"/>
              </a:spcAft>
              <a:buNone/>
            </a:pPr>
            <a:r>
              <a:rPr lang="ru" sz="1200">
                <a:solidFill>
                  <a:srgbClr val="990055"/>
                </a:solidFill>
              </a:rPr>
              <a:t>animation-timing-function</a:t>
            </a:r>
            <a:r>
              <a:rPr lang="ru" sz="1200">
                <a:solidFill>
                  <a:srgbClr val="999999"/>
                </a:solidFill>
              </a:rPr>
              <a:t>:</a:t>
            </a:r>
            <a:r>
              <a:rPr lang="ru" sz="1200">
                <a:solidFill>
                  <a:srgbClr val="303030"/>
                </a:solidFill>
              </a:rPr>
              <a:t> inherit</a:t>
            </a:r>
            <a:r>
              <a:rPr lang="ru" sz="1200">
                <a:solidFill>
                  <a:srgbClr val="999999"/>
                </a:solidFill>
              </a:rPr>
              <a:t>;</a:t>
            </a:r>
            <a:endParaRPr sz="1200">
              <a:solidFill>
                <a:srgbClr val="999999"/>
              </a:solidFill>
            </a:endParaRPr>
          </a:p>
        </p:txBody>
      </p:sp>
      <p:sp>
        <p:nvSpPr>
          <p:cNvPr id="461" name="Google Shape;461;p66"/>
          <p:cNvSpPr txBox="1"/>
          <p:nvPr/>
        </p:nvSpPr>
        <p:spPr>
          <a:xfrm>
            <a:off x="475025" y="597925"/>
            <a:ext cx="4935000" cy="61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400"/>
              </a:spcAft>
              <a:buNone/>
            </a:pPr>
            <a:r>
              <a:rPr b="1" lang="ru" sz="2800">
                <a:solidFill>
                  <a:srgbClr val="303030"/>
                </a:solidFill>
                <a:highlight>
                  <a:srgbClr val="D5A6BD"/>
                </a:highlight>
                <a:latin typeface="Nunito"/>
                <a:ea typeface="Nunito"/>
                <a:cs typeface="Nunito"/>
                <a:sym typeface="Nunito"/>
              </a:rPr>
              <a:t>animation-timing-function</a:t>
            </a:r>
            <a:endParaRPr/>
          </a:p>
        </p:txBody>
      </p:sp>
      <p:graphicFrame>
        <p:nvGraphicFramePr>
          <p:cNvPr id="462" name="Google Shape;462;p66"/>
          <p:cNvGraphicFramePr/>
          <p:nvPr/>
        </p:nvGraphicFramePr>
        <p:xfrm>
          <a:off x="475025" y="1949850"/>
          <a:ext cx="3000000" cy="3000000"/>
        </p:xfrm>
        <a:graphic>
          <a:graphicData uri="http://schemas.openxmlformats.org/drawingml/2006/table">
            <a:tbl>
              <a:tblPr>
                <a:solidFill>
                  <a:srgbClr val="FFFFFF"/>
                </a:solidFill>
                <a:tableStyleId>{69577998-B902-4363-BD42-2B2995AA7EB3}</a:tableStyleId>
              </a:tblPr>
              <a:tblGrid>
                <a:gridCol w="962750"/>
                <a:gridCol w="3456850"/>
              </a:tblGrid>
              <a:tr h="314325">
                <a:tc>
                  <a:txBody>
                    <a:bodyPr/>
                    <a:lstStyle/>
                    <a:p>
                      <a:pPr indent="0" lvl="0" marL="0" rtl="0" algn="just">
                        <a:lnSpc>
                          <a:spcPct val="115000"/>
                        </a:lnSpc>
                        <a:spcBef>
                          <a:spcPts val="0"/>
                        </a:spcBef>
                        <a:spcAft>
                          <a:spcPts val="0"/>
                        </a:spcAft>
                        <a:buNone/>
                      </a:pPr>
                      <a:r>
                        <a:rPr lang="ru" sz="1200">
                          <a:solidFill>
                            <a:srgbClr val="303030"/>
                          </a:solidFill>
                        </a:rPr>
                        <a:t>initial</a:t>
                      </a:r>
                      <a:endParaRPr sz="1200">
                        <a:solidFill>
                          <a:srgbClr val="303030"/>
                        </a:solidFill>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solidFill>
                            <a:srgbClr val="303030"/>
                          </a:solidFill>
                        </a:rPr>
                        <a:t>Устанавливает значение свойства в значение по умолчанию.</a:t>
                      </a:r>
                      <a:endParaRPr sz="1200">
                        <a:solidFill>
                          <a:srgbClr val="303030"/>
                        </a:solidFill>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14325">
                <a:tc>
                  <a:txBody>
                    <a:bodyPr/>
                    <a:lstStyle/>
                    <a:p>
                      <a:pPr indent="0" lvl="0" marL="0" rtl="0" algn="just">
                        <a:lnSpc>
                          <a:spcPct val="115000"/>
                        </a:lnSpc>
                        <a:spcBef>
                          <a:spcPts val="0"/>
                        </a:spcBef>
                        <a:spcAft>
                          <a:spcPts val="0"/>
                        </a:spcAft>
                        <a:buNone/>
                      </a:pPr>
                      <a:r>
                        <a:rPr lang="ru" sz="1200">
                          <a:solidFill>
                            <a:srgbClr val="303030"/>
                          </a:solidFill>
                        </a:rPr>
                        <a:t>inherit</a:t>
                      </a:r>
                      <a:endParaRPr sz="1200">
                        <a:solidFill>
                          <a:srgbClr val="303030"/>
                        </a:solidFill>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solidFill>
                            <a:srgbClr val="303030"/>
                          </a:solidFill>
                        </a:rPr>
                        <a:t>Наследует значение свойства от родительского элемента.</a:t>
                      </a:r>
                      <a:endParaRPr sz="1200">
                        <a:solidFill>
                          <a:srgbClr val="303030"/>
                        </a:solidFill>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pic>
        <p:nvPicPr>
          <p:cNvPr id="467" name="Google Shape;467;p67" title="Анимация3.gif"/>
          <p:cNvPicPr preferRelativeResize="0"/>
          <p:nvPr/>
        </p:nvPicPr>
        <p:blipFill>
          <a:blip r:embed="rId3">
            <a:alphaModFix/>
          </a:blip>
          <a:stretch>
            <a:fillRect/>
          </a:stretch>
        </p:blipFill>
        <p:spPr>
          <a:xfrm>
            <a:off x="2116700" y="537925"/>
            <a:ext cx="4910601" cy="3893476"/>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8"/>
          <p:cNvSpPr txBox="1"/>
          <p:nvPr>
            <p:ph type="title"/>
          </p:nvPr>
        </p:nvSpPr>
        <p:spPr>
          <a:xfrm>
            <a:off x="453150" y="587900"/>
            <a:ext cx="8167800" cy="954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3.5. </a:t>
            </a:r>
            <a:r>
              <a:rPr b="1" lang="ru" sz="2800">
                <a:solidFill>
                  <a:srgbClr val="303030"/>
                </a:solidFill>
                <a:highlight>
                  <a:srgbClr val="FFFFFF"/>
                </a:highlight>
              </a:rPr>
              <a:t>Повтор анимации: свойство </a:t>
            </a:r>
            <a:r>
              <a:rPr b="1" lang="ru" sz="2800">
                <a:solidFill>
                  <a:srgbClr val="303030"/>
                </a:solidFill>
                <a:highlight>
                  <a:srgbClr val="D5A6BD"/>
                </a:highlight>
              </a:rPr>
              <a:t>animation-iteration-count</a:t>
            </a:r>
            <a:endParaRPr b="1" sz="2800">
              <a:solidFill>
                <a:srgbClr val="303030"/>
              </a:solidFill>
              <a:highlight>
                <a:srgbClr val="D5A6BD"/>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latin typeface="Arial"/>
              <a:ea typeface="Arial"/>
              <a:cs typeface="Arial"/>
              <a:sym typeface="Arial"/>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000000"/>
              </a:solidFill>
            </a:endParaRPr>
          </a:p>
          <a:p>
            <a:pPr indent="0" lvl="0" marL="0" rtl="0" algn="l">
              <a:spcBef>
                <a:spcPts val="400"/>
              </a:spcBef>
              <a:spcAft>
                <a:spcPts val="0"/>
              </a:spcAft>
              <a:buNone/>
            </a:pPr>
            <a:r>
              <a:t/>
            </a:r>
            <a:endParaRPr/>
          </a:p>
        </p:txBody>
      </p:sp>
      <p:sp>
        <p:nvSpPr>
          <p:cNvPr id="473" name="Google Shape;473;p68"/>
          <p:cNvSpPr txBox="1"/>
          <p:nvPr>
            <p:ph idx="1" type="body"/>
          </p:nvPr>
        </p:nvSpPr>
        <p:spPr>
          <a:xfrm>
            <a:off x="386350" y="1864950"/>
            <a:ext cx="8364300" cy="1580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ru" sz="1500">
                <a:solidFill>
                  <a:srgbClr val="000000"/>
                </a:solidFill>
                <a:latin typeface="Arial"/>
                <a:ea typeface="Arial"/>
                <a:cs typeface="Arial"/>
                <a:sym typeface="Arial"/>
              </a:rPr>
              <a:t>Свойство </a:t>
            </a:r>
            <a:r>
              <a:rPr lang="ru" sz="1500">
                <a:solidFill>
                  <a:srgbClr val="000000"/>
                </a:solidFill>
                <a:highlight>
                  <a:srgbClr val="D5A6BD"/>
                </a:highlight>
                <a:latin typeface="Arial"/>
                <a:ea typeface="Arial"/>
                <a:cs typeface="Arial"/>
                <a:sym typeface="Arial"/>
              </a:rPr>
              <a:t>animation-iteration-count </a:t>
            </a:r>
            <a:r>
              <a:rPr lang="ru" sz="1500">
                <a:solidFill>
                  <a:srgbClr val="000000"/>
                </a:solidFill>
                <a:latin typeface="Arial"/>
                <a:ea typeface="Arial"/>
                <a:cs typeface="Arial"/>
                <a:sym typeface="Arial"/>
              </a:rPr>
              <a:t>указывает, сколько раз проигрывается цикл анимации. Начальное значение 1 означает, что анимация будет воспроизводиться от начала до конца один раз. Это свойство часто используется в сочетании со значением alternate свойства animation-direction, которое заставляет анимацию воспроизводиться в обратном порядке в альтернативных циклах. Свойство не наследуется.</a:t>
            </a:r>
            <a:endParaRPr sz="1500">
              <a:solidFill>
                <a:srgbClr val="00000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0"/>
              </a:spcBef>
              <a:spcAft>
                <a:spcPts val="0"/>
              </a:spcAft>
              <a:buNone/>
            </a:pPr>
            <a:r>
              <a:t/>
            </a:r>
            <a:endParaRPr sz="1500">
              <a:solidFill>
                <a:srgbClr val="000000"/>
              </a:solidFill>
              <a:latin typeface="Arial"/>
              <a:ea typeface="Arial"/>
              <a:cs typeface="Arial"/>
              <a:sym typeface="Arial"/>
            </a:endParaRPr>
          </a:p>
          <a:p>
            <a:pPr indent="0" lvl="0" marL="0" rtl="0" algn="just">
              <a:spcBef>
                <a:spcPts val="1100"/>
              </a:spcBef>
              <a:spcAft>
                <a:spcPts val="0"/>
              </a:spcAft>
              <a:buNone/>
            </a:pPr>
            <a:r>
              <a:rPr lang="ru" sz="1500">
                <a:solidFill>
                  <a:srgbClr val="000000"/>
                </a:solidFill>
                <a:latin typeface="Arial"/>
                <a:ea typeface="Arial"/>
                <a:cs typeface="Arial"/>
                <a:sym typeface="Arial"/>
              </a:rPr>
              <a:t> </a:t>
            </a:r>
            <a:endParaRPr sz="1500">
              <a:solidFill>
                <a:srgbClr val="000000"/>
              </a:solidFill>
              <a:latin typeface="Arial"/>
              <a:ea typeface="Arial"/>
              <a:cs typeface="Arial"/>
              <a:sym typeface="Arial"/>
            </a:endParaRPr>
          </a:p>
          <a:p>
            <a:pPr indent="0" lvl="0" marL="0" rtl="0" algn="just">
              <a:lnSpc>
                <a:spcPct val="95000"/>
              </a:lnSpc>
              <a:spcBef>
                <a:spcPts val="1100"/>
              </a:spcBef>
              <a:spcAft>
                <a:spcPts val="1100"/>
              </a:spcAft>
              <a:buSzPts val="1018"/>
              <a:buNone/>
            </a:pPr>
            <a:r>
              <a:t/>
            </a:r>
            <a:endParaRPr sz="1500">
              <a:solidFill>
                <a:srgbClr val="000000"/>
              </a:solidFill>
              <a:latin typeface="Arial"/>
              <a:ea typeface="Arial"/>
              <a:cs typeface="Arial"/>
              <a:sym typeface="Arial"/>
            </a:endParaRPr>
          </a:p>
        </p:txBody>
      </p:sp>
      <p:sp>
        <p:nvSpPr>
          <p:cNvPr id="474" name="Google Shape;474;p68"/>
          <p:cNvSpPr txBox="1"/>
          <p:nvPr/>
        </p:nvSpPr>
        <p:spPr>
          <a:xfrm>
            <a:off x="2688600" y="3445650"/>
            <a:ext cx="3766800" cy="1108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ru" sz="1500">
                <a:solidFill>
                  <a:srgbClr val="990055"/>
                </a:solidFill>
              </a:rPr>
              <a:t>animation-iteration-count</a:t>
            </a:r>
            <a:r>
              <a:rPr lang="ru" sz="1500">
                <a:solidFill>
                  <a:srgbClr val="999999"/>
                </a:solidFill>
              </a:rPr>
              <a:t>:</a:t>
            </a:r>
            <a:r>
              <a:rPr lang="ru" sz="1500">
                <a:solidFill>
                  <a:srgbClr val="303030"/>
                </a:solidFill>
              </a:rPr>
              <a:t> infinite</a:t>
            </a:r>
            <a:r>
              <a:rPr lang="ru" sz="1500">
                <a:solidFill>
                  <a:srgbClr val="999999"/>
                </a:solidFill>
              </a:rPr>
              <a:t>;</a:t>
            </a:r>
            <a:endParaRPr sz="1500">
              <a:solidFill>
                <a:srgbClr val="303030"/>
              </a:solidFill>
            </a:endParaRPr>
          </a:p>
          <a:p>
            <a:pPr indent="0" lvl="0" marL="0" rtl="0" algn="l">
              <a:spcBef>
                <a:spcPts val="0"/>
              </a:spcBef>
              <a:spcAft>
                <a:spcPts val="0"/>
              </a:spcAft>
              <a:buNone/>
            </a:pPr>
            <a:r>
              <a:rPr lang="ru" sz="1500">
                <a:solidFill>
                  <a:srgbClr val="990055"/>
                </a:solidFill>
              </a:rPr>
              <a:t>animation-iteration-count</a:t>
            </a:r>
            <a:r>
              <a:rPr lang="ru" sz="1500">
                <a:solidFill>
                  <a:srgbClr val="999999"/>
                </a:solidFill>
              </a:rPr>
              <a:t>:</a:t>
            </a:r>
            <a:r>
              <a:rPr lang="ru" sz="1500">
                <a:solidFill>
                  <a:srgbClr val="303030"/>
                </a:solidFill>
              </a:rPr>
              <a:t> 3</a:t>
            </a:r>
            <a:r>
              <a:rPr lang="ru" sz="1500">
                <a:solidFill>
                  <a:srgbClr val="999999"/>
                </a:solidFill>
              </a:rPr>
              <a:t>;</a:t>
            </a:r>
            <a:endParaRPr sz="1500">
              <a:solidFill>
                <a:srgbClr val="303030"/>
              </a:solidFill>
            </a:endParaRPr>
          </a:p>
          <a:p>
            <a:pPr indent="0" lvl="0" marL="0" rtl="0" algn="l">
              <a:spcBef>
                <a:spcPts val="0"/>
              </a:spcBef>
              <a:spcAft>
                <a:spcPts val="0"/>
              </a:spcAft>
              <a:buNone/>
            </a:pPr>
            <a:r>
              <a:rPr lang="ru" sz="1500">
                <a:solidFill>
                  <a:srgbClr val="990055"/>
                </a:solidFill>
              </a:rPr>
              <a:t>animation-iteration-count</a:t>
            </a:r>
            <a:r>
              <a:rPr lang="ru" sz="1500">
                <a:solidFill>
                  <a:srgbClr val="999999"/>
                </a:solidFill>
              </a:rPr>
              <a:t>:</a:t>
            </a:r>
            <a:r>
              <a:rPr lang="ru" sz="1500">
                <a:solidFill>
                  <a:srgbClr val="303030"/>
                </a:solidFill>
              </a:rPr>
              <a:t> 2.5</a:t>
            </a:r>
            <a:r>
              <a:rPr lang="ru" sz="1500">
                <a:solidFill>
                  <a:srgbClr val="999999"/>
                </a:solidFill>
              </a:rPr>
              <a:t>;</a:t>
            </a:r>
            <a:endParaRPr sz="1500">
              <a:solidFill>
                <a:srgbClr val="303030"/>
              </a:solidFill>
            </a:endParaRPr>
          </a:p>
          <a:p>
            <a:pPr indent="0" lvl="0" marL="0" marR="190500" rtl="0" algn="l">
              <a:lnSpc>
                <a:spcPct val="150000"/>
              </a:lnSpc>
              <a:spcBef>
                <a:spcPts val="0"/>
              </a:spcBef>
              <a:spcAft>
                <a:spcPts val="2300"/>
              </a:spcAft>
              <a:buNone/>
            </a:pPr>
            <a:r>
              <a:rPr lang="ru" sz="1500">
                <a:solidFill>
                  <a:srgbClr val="990055"/>
                </a:solidFill>
              </a:rPr>
              <a:t>animation-iteration-count</a:t>
            </a:r>
            <a:r>
              <a:rPr lang="ru" sz="1500">
                <a:solidFill>
                  <a:srgbClr val="999999"/>
                </a:solidFill>
              </a:rPr>
              <a:t>:</a:t>
            </a:r>
            <a:r>
              <a:rPr lang="ru" sz="1500">
                <a:solidFill>
                  <a:srgbClr val="303030"/>
                </a:solidFill>
              </a:rPr>
              <a:t> 2</a:t>
            </a:r>
            <a:r>
              <a:rPr lang="ru" sz="1500">
                <a:solidFill>
                  <a:srgbClr val="999999"/>
                </a:solidFill>
              </a:rPr>
              <a:t>,</a:t>
            </a:r>
            <a:r>
              <a:rPr lang="ru" sz="1500">
                <a:solidFill>
                  <a:srgbClr val="303030"/>
                </a:solidFill>
              </a:rPr>
              <a:t> 0</a:t>
            </a:r>
            <a:r>
              <a:rPr lang="ru" sz="1500">
                <a:solidFill>
                  <a:srgbClr val="999999"/>
                </a:solidFill>
              </a:rPr>
              <a:t>,</a:t>
            </a:r>
            <a:r>
              <a:rPr lang="ru" sz="1500">
                <a:solidFill>
                  <a:srgbClr val="303030"/>
                </a:solidFill>
              </a:rPr>
              <a:t> infinite</a:t>
            </a:r>
            <a:r>
              <a:rPr lang="ru" sz="1500">
                <a:solidFill>
                  <a:srgbClr val="999999"/>
                </a:solidFill>
              </a:rPr>
              <a:t>;</a:t>
            </a:r>
            <a:endParaRPr sz="1500">
              <a:solidFill>
                <a:srgbClr val="999999"/>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9"/>
          <p:cNvSpPr txBox="1"/>
          <p:nvPr>
            <p:ph type="title"/>
          </p:nvPr>
        </p:nvSpPr>
        <p:spPr>
          <a:xfrm>
            <a:off x="453150" y="587900"/>
            <a:ext cx="8167800" cy="954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3.5. </a:t>
            </a:r>
            <a:r>
              <a:rPr b="1" lang="ru" sz="2800">
                <a:solidFill>
                  <a:srgbClr val="303030"/>
                </a:solidFill>
                <a:highlight>
                  <a:srgbClr val="FFFFFF"/>
                </a:highlight>
              </a:rPr>
              <a:t>Повтор анимации: свойство </a:t>
            </a:r>
            <a:r>
              <a:rPr b="1" lang="ru" sz="2800">
                <a:solidFill>
                  <a:srgbClr val="303030"/>
                </a:solidFill>
                <a:highlight>
                  <a:srgbClr val="D5A6BD"/>
                </a:highlight>
              </a:rPr>
              <a:t>animation-iteration-count</a:t>
            </a:r>
            <a:endParaRPr b="1" sz="2800">
              <a:solidFill>
                <a:srgbClr val="303030"/>
              </a:solidFill>
              <a:highlight>
                <a:srgbClr val="D5A6BD"/>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latin typeface="Arial"/>
              <a:ea typeface="Arial"/>
              <a:cs typeface="Arial"/>
              <a:sym typeface="Arial"/>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000000"/>
              </a:solidFill>
            </a:endParaRPr>
          </a:p>
          <a:p>
            <a:pPr indent="0" lvl="0" marL="0" rtl="0" algn="l">
              <a:spcBef>
                <a:spcPts val="400"/>
              </a:spcBef>
              <a:spcAft>
                <a:spcPts val="0"/>
              </a:spcAft>
              <a:buNone/>
            </a:pPr>
            <a:r>
              <a:t/>
            </a:r>
            <a:endParaRPr/>
          </a:p>
        </p:txBody>
      </p:sp>
      <p:graphicFrame>
        <p:nvGraphicFramePr>
          <p:cNvPr id="480" name="Google Shape;480;p69"/>
          <p:cNvGraphicFramePr/>
          <p:nvPr/>
        </p:nvGraphicFramePr>
        <p:xfrm>
          <a:off x="1309688" y="2241750"/>
          <a:ext cx="3000000" cy="3000000"/>
        </p:xfrm>
        <a:graphic>
          <a:graphicData uri="http://schemas.openxmlformats.org/drawingml/2006/table">
            <a:tbl>
              <a:tblPr>
                <a:solidFill>
                  <a:srgbClr val="FFFFFF"/>
                </a:solidFill>
                <a:tableStyleId>{69577998-B902-4363-BD42-2B2995AA7EB3}</a:tableStyleId>
              </a:tblPr>
              <a:tblGrid>
                <a:gridCol w="1304925"/>
                <a:gridCol w="5219700"/>
              </a:tblGrid>
              <a:tr h="371475">
                <a:tc gridSpan="2">
                  <a:txBody>
                    <a:bodyPr/>
                    <a:lstStyle/>
                    <a:p>
                      <a:pPr indent="0" lvl="0" marL="0" rtl="0" algn="ctr">
                        <a:lnSpc>
                          <a:spcPct val="115000"/>
                        </a:lnSpc>
                        <a:spcBef>
                          <a:spcPts val="0"/>
                        </a:spcBef>
                        <a:spcAft>
                          <a:spcPts val="0"/>
                        </a:spcAft>
                        <a:buNone/>
                      </a:pPr>
                      <a:r>
                        <a:rPr b="1" lang="ru" sz="1200"/>
                        <a:t>animation-iteration-count</a:t>
                      </a:r>
                      <a:endParaRPr b="1" sz="1200"/>
                    </a:p>
                  </a:txBody>
                  <a:tcPr marT="95250" marB="9525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hMerge="1"/>
              </a:tr>
              <a:tr h="314325">
                <a:tc>
                  <a:txBody>
                    <a:bodyPr/>
                    <a:lstStyle/>
                    <a:p>
                      <a:pPr indent="0" lvl="0" marL="0" rtl="0" algn="ctr">
                        <a:lnSpc>
                          <a:spcPct val="115000"/>
                        </a:lnSpc>
                        <a:spcBef>
                          <a:spcPts val="0"/>
                        </a:spcBef>
                        <a:spcAft>
                          <a:spcPts val="0"/>
                        </a:spcAft>
                        <a:buNone/>
                      </a:pPr>
                      <a:r>
                        <a:rPr b="1" lang="ru" sz="1200"/>
                        <a:t>Значения:</a:t>
                      </a:r>
                      <a:endParaRPr b="1"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ru" sz="1200"/>
                        <a:t>Описание</a:t>
                      </a:r>
                      <a:endParaRPr b="1"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4800">
                <a:tc>
                  <a:txBody>
                    <a:bodyPr/>
                    <a:lstStyle/>
                    <a:p>
                      <a:pPr indent="0" lvl="0" marL="0" rtl="0" algn="just">
                        <a:lnSpc>
                          <a:spcPct val="115000"/>
                        </a:lnSpc>
                        <a:spcBef>
                          <a:spcPts val="0"/>
                        </a:spcBef>
                        <a:spcAft>
                          <a:spcPts val="0"/>
                        </a:spcAft>
                        <a:buNone/>
                      </a:pPr>
                      <a:r>
                        <a:rPr lang="ru" sz="1200">
                          <a:solidFill>
                            <a:srgbClr val="303030"/>
                          </a:solidFill>
                        </a:rPr>
                        <a:t>infinite</a:t>
                      </a:r>
                      <a:endParaRPr sz="1200">
                        <a:solidFill>
                          <a:srgbClr val="303030"/>
                        </a:solidFill>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solidFill>
                            <a:srgbClr val="303030"/>
                          </a:solidFill>
                        </a:rPr>
                        <a:t>Анимация проигрывается бесконечно.</a:t>
                      </a:r>
                      <a:endParaRPr sz="1200">
                        <a:solidFill>
                          <a:srgbClr val="303030"/>
                        </a:solidFill>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90575">
                <a:tc>
                  <a:txBody>
                    <a:bodyPr/>
                    <a:lstStyle/>
                    <a:p>
                      <a:pPr indent="0" lvl="0" marL="0" rtl="0" algn="just">
                        <a:lnSpc>
                          <a:spcPct val="115000"/>
                        </a:lnSpc>
                        <a:spcBef>
                          <a:spcPts val="0"/>
                        </a:spcBef>
                        <a:spcAft>
                          <a:spcPts val="0"/>
                        </a:spcAft>
                        <a:buNone/>
                      </a:pPr>
                      <a:r>
                        <a:rPr lang="ru" sz="1200">
                          <a:solidFill>
                            <a:srgbClr val="303030"/>
                          </a:solidFill>
                        </a:rPr>
                        <a:t>число</a:t>
                      </a:r>
                      <a:endParaRPr sz="1200">
                        <a:solidFill>
                          <a:srgbClr val="303030"/>
                        </a:solidFill>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solidFill>
                            <a:srgbClr val="303030"/>
                          </a:solidFill>
                        </a:rPr>
                        <a:t>Анимация будет повторяться указанное количество раз. Если число не является целым числом, анимация закончится в середине последнего цикла. Отрицательные числа недействительны. Значение 0 вызывает мгновенное срабатывание анимации.</a:t>
                      </a:r>
                      <a:endParaRPr sz="1200">
                        <a:solidFill>
                          <a:srgbClr val="303030"/>
                        </a:solidFill>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70"/>
          <p:cNvSpPr txBox="1"/>
          <p:nvPr>
            <p:ph type="title"/>
          </p:nvPr>
        </p:nvSpPr>
        <p:spPr>
          <a:xfrm>
            <a:off x="484600" y="388175"/>
            <a:ext cx="8167800" cy="954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3.6. </a:t>
            </a:r>
            <a:r>
              <a:rPr b="1" lang="ru" sz="2800">
                <a:solidFill>
                  <a:srgbClr val="303030"/>
                </a:solidFill>
                <a:highlight>
                  <a:srgbClr val="FFFFFF"/>
                </a:highlight>
              </a:rPr>
              <a:t>Направление анимации: свойство </a:t>
            </a:r>
            <a:r>
              <a:rPr b="1" lang="ru" sz="2800">
                <a:solidFill>
                  <a:srgbClr val="303030"/>
                </a:solidFill>
                <a:highlight>
                  <a:srgbClr val="D5A6BD"/>
                </a:highlight>
              </a:rPr>
              <a:t>animation-direction</a:t>
            </a:r>
            <a:endParaRPr b="1" sz="2800">
              <a:solidFill>
                <a:srgbClr val="303030"/>
              </a:solidFill>
              <a:highlight>
                <a:srgbClr val="D5A6BD"/>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latin typeface="Arial"/>
              <a:ea typeface="Arial"/>
              <a:cs typeface="Arial"/>
              <a:sym typeface="Arial"/>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000000"/>
              </a:solidFill>
            </a:endParaRPr>
          </a:p>
          <a:p>
            <a:pPr indent="0" lvl="0" marL="0" rtl="0" algn="l">
              <a:spcBef>
                <a:spcPts val="400"/>
              </a:spcBef>
              <a:spcAft>
                <a:spcPts val="0"/>
              </a:spcAft>
              <a:buNone/>
            </a:pPr>
            <a:r>
              <a:t/>
            </a:r>
            <a:endParaRPr/>
          </a:p>
        </p:txBody>
      </p:sp>
      <p:sp>
        <p:nvSpPr>
          <p:cNvPr id="486" name="Google Shape;486;p70"/>
          <p:cNvSpPr txBox="1"/>
          <p:nvPr>
            <p:ph idx="1" type="body"/>
          </p:nvPr>
        </p:nvSpPr>
        <p:spPr>
          <a:xfrm>
            <a:off x="389850" y="1634500"/>
            <a:ext cx="4390200" cy="15807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ru" sz="1500">
                <a:solidFill>
                  <a:srgbClr val="303030"/>
                </a:solidFill>
                <a:latin typeface="Arial"/>
                <a:ea typeface="Arial"/>
                <a:cs typeface="Arial"/>
                <a:sym typeface="Arial"/>
              </a:rPr>
              <a:t>Свойство </a:t>
            </a:r>
            <a:r>
              <a:rPr lang="ru" sz="1500">
                <a:solidFill>
                  <a:srgbClr val="303030"/>
                </a:solidFill>
                <a:highlight>
                  <a:srgbClr val="D5A6BD"/>
                </a:highlight>
                <a:latin typeface="Arial"/>
                <a:ea typeface="Arial"/>
                <a:cs typeface="Arial"/>
                <a:sym typeface="Arial"/>
              </a:rPr>
              <a:t>animation-direction</a:t>
            </a:r>
            <a:r>
              <a:rPr lang="ru" sz="1500">
                <a:solidFill>
                  <a:srgbClr val="303030"/>
                </a:solidFill>
                <a:latin typeface="Arial"/>
                <a:ea typeface="Arial"/>
                <a:cs typeface="Arial"/>
                <a:sym typeface="Arial"/>
              </a:rPr>
              <a:t> определяет, должна ли анимация воспроизводиться в обратном порядке в некоторых или во всех циклах. Когда анимация воспроизводится в обратном порядке, временные функции также меняются местами. Например, при воспроизведении в обратном порядке функция ease-in будет вести себя как ease-out. Свойство не наследуется.</a:t>
            </a:r>
            <a:endParaRPr sz="1500">
              <a:solidFill>
                <a:srgbClr val="303030"/>
              </a:solidFill>
              <a:latin typeface="Arial"/>
              <a:ea typeface="Arial"/>
              <a:cs typeface="Arial"/>
              <a:sym typeface="Arial"/>
            </a:endParaRPr>
          </a:p>
          <a:p>
            <a:pPr indent="0" lvl="0" marL="0" rtl="0" algn="just">
              <a:spcBef>
                <a:spcPts val="1100"/>
              </a:spcBef>
              <a:spcAft>
                <a:spcPts val="0"/>
              </a:spcAft>
              <a:buNone/>
            </a:pPr>
            <a:br>
              <a:rPr lang="ru" sz="1500">
                <a:solidFill>
                  <a:srgbClr val="303030"/>
                </a:solidFill>
                <a:latin typeface="Arial"/>
                <a:ea typeface="Arial"/>
                <a:cs typeface="Arial"/>
                <a:sym typeface="Arial"/>
              </a:rPr>
            </a:br>
            <a:endParaRPr sz="1500">
              <a:solidFill>
                <a:srgbClr val="30303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0"/>
              </a:spcBef>
              <a:spcAft>
                <a:spcPts val="0"/>
              </a:spcAft>
              <a:buNone/>
            </a:pPr>
            <a:r>
              <a:t/>
            </a:r>
            <a:endParaRPr sz="1500">
              <a:solidFill>
                <a:srgbClr val="000000"/>
              </a:solidFill>
              <a:latin typeface="Arial"/>
              <a:ea typeface="Arial"/>
              <a:cs typeface="Arial"/>
              <a:sym typeface="Arial"/>
            </a:endParaRPr>
          </a:p>
          <a:p>
            <a:pPr indent="0" lvl="0" marL="0" rtl="0" algn="just">
              <a:spcBef>
                <a:spcPts val="1100"/>
              </a:spcBef>
              <a:spcAft>
                <a:spcPts val="0"/>
              </a:spcAft>
              <a:buNone/>
            </a:pPr>
            <a:r>
              <a:rPr lang="ru" sz="1500">
                <a:solidFill>
                  <a:srgbClr val="000000"/>
                </a:solidFill>
                <a:latin typeface="Arial"/>
                <a:ea typeface="Arial"/>
                <a:cs typeface="Arial"/>
                <a:sym typeface="Arial"/>
              </a:rPr>
              <a:t> </a:t>
            </a:r>
            <a:endParaRPr sz="1500">
              <a:solidFill>
                <a:srgbClr val="000000"/>
              </a:solidFill>
              <a:latin typeface="Arial"/>
              <a:ea typeface="Arial"/>
              <a:cs typeface="Arial"/>
              <a:sym typeface="Arial"/>
            </a:endParaRPr>
          </a:p>
          <a:p>
            <a:pPr indent="0" lvl="0" marL="0" rtl="0" algn="just">
              <a:lnSpc>
                <a:spcPct val="95000"/>
              </a:lnSpc>
              <a:spcBef>
                <a:spcPts val="1100"/>
              </a:spcBef>
              <a:spcAft>
                <a:spcPts val="1100"/>
              </a:spcAft>
              <a:buSzPts val="1018"/>
              <a:buNone/>
            </a:pPr>
            <a:r>
              <a:t/>
            </a:r>
            <a:endParaRPr sz="1500">
              <a:solidFill>
                <a:srgbClr val="000000"/>
              </a:solidFill>
              <a:latin typeface="Arial"/>
              <a:ea typeface="Arial"/>
              <a:cs typeface="Arial"/>
              <a:sym typeface="Arial"/>
            </a:endParaRPr>
          </a:p>
        </p:txBody>
      </p:sp>
      <p:sp>
        <p:nvSpPr>
          <p:cNvPr id="487" name="Google Shape;487;p70"/>
          <p:cNvSpPr txBox="1"/>
          <p:nvPr/>
        </p:nvSpPr>
        <p:spPr>
          <a:xfrm>
            <a:off x="5317825" y="1755725"/>
            <a:ext cx="3134700" cy="1993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190500" rtl="0" algn="l">
              <a:lnSpc>
                <a:spcPct val="100000"/>
              </a:lnSpc>
              <a:spcBef>
                <a:spcPts val="0"/>
              </a:spcBef>
              <a:spcAft>
                <a:spcPts val="0"/>
              </a:spcAft>
              <a:buNone/>
            </a:pPr>
            <a:r>
              <a:rPr lang="ru" sz="1200">
                <a:solidFill>
                  <a:srgbClr val="990055"/>
                </a:solidFill>
                <a:highlight>
                  <a:srgbClr val="F5F5F5"/>
                </a:highlight>
              </a:rPr>
              <a:t>animation-direction</a:t>
            </a:r>
            <a:r>
              <a:rPr lang="ru" sz="1200">
                <a:solidFill>
                  <a:srgbClr val="999999"/>
                </a:solidFill>
                <a:highlight>
                  <a:srgbClr val="F5F5F5"/>
                </a:highlight>
              </a:rPr>
              <a:t>:</a:t>
            </a:r>
            <a:r>
              <a:rPr lang="ru" sz="1200">
                <a:solidFill>
                  <a:srgbClr val="303030"/>
                </a:solidFill>
                <a:highlight>
                  <a:srgbClr val="F5F5F5"/>
                </a:highlight>
              </a:rPr>
              <a:t> normal</a:t>
            </a:r>
            <a:r>
              <a:rPr lang="ru" sz="1200">
                <a:solidFill>
                  <a:srgbClr val="999999"/>
                </a:solidFill>
                <a:highlight>
                  <a:srgbClr val="F5F5F5"/>
                </a:highlight>
              </a:rPr>
              <a:t>;</a:t>
            </a:r>
            <a:endParaRPr sz="1200">
              <a:solidFill>
                <a:srgbClr val="303030"/>
              </a:solidFill>
              <a:highlight>
                <a:srgbClr val="F5F5F5"/>
              </a:highlight>
            </a:endParaRPr>
          </a:p>
          <a:p>
            <a:pPr indent="0" lvl="0" marL="0" marR="190500" rtl="0" algn="l">
              <a:lnSpc>
                <a:spcPct val="100000"/>
              </a:lnSpc>
              <a:spcBef>
                <a:spcPts val="2300"/>
              </a:spcBef>
              <a:spcAft>
                <a:spcPts val="0"/>
              </a:spcAft>
              <a:buNone/>
            </a:pPr>
            <a:r>
              <a:rPr lang="ru" sz="1200">
                <a:solidFill>
                  <a:srgbClr val="990055"/>
                </a:solidFill>
                <a:highlight>
                  <a:srgbClr val="F5F5F5"/>
                </a:highlight>
              </a:rPr>
              <a:t>animation-direction</a:t>
            </a:r>
            <a:r>
              <a:rPr lang="ru" sz="1200">
                <a:solidFill>
                  <a:srgbClr val="999999"/>
                </a:solidFill>
                <a:highlight>
                  <a:srgbClr val="F5F5F5"/>
                </a:highlight>
              </a:rPr>
              <a:t>:</a:t>
            </a:r>
            <a:r>
              <a:rPr lang="ru" sz="1200">
                <a:solidFill>
                  <a:srgbClr val="303030"/>
                </a:solidFill>
                <a:highlight>
                  <a:srgbClr val="F5F5F5"/>
                </a:highlight>
              </a:rPr>
              <a:t> reverse</a:t>
            </a:r>
            <a:r>
              <a:rPr lang="ru" sz="1200">
                <a:solidFill>
                  <a:srgbClr val="999999"/>
                </a:solidFill>
                <a:highlight>
                  <a:srgbClr val="F5F5F5"/>
                </a:highlight>
              </a:rPr>
              <a:t>;</a:t>
            </a:r>
            <a:endParaRPr sz="1200">
              <a:solidFill>
                <a:srgbClr val="303030"/>
              </a:solidFill>
              <a:highlight>
                <a:srgbClr val="F5F5F5"/>
              </a:highlight>
            </a:endParaRPr>
          </a:p>
          <a:p>
            <a:pPr indent="0" lvl="0" marL="0" marR="190500" rtl="0" algn="l">
              <a:lnSpc>
                <a:spcPct val="100000"/>
              </a:lnSpc>
              <a:spcBef>
                <a:spcPts val="2300"/>
              </a:spcBef>
              <a:spcAft>
                <a:spcPts val="0"/>
              </a:spcAft>
              <a:buNone/>
            </a:pPr>
            <a:r>
              <a:rPr lang="ru" sz="1200">
                <a:solidFill>
                  <a:srgbClr val="990055"/>
                </a:solidFill>
                <a:highlight>
                  <a:srgbClr val="F5F5F5"/>
                </a:highlight>
              </a:rPr>
              <a:t>animation-direction</a:t>
            </a:r>
            <a:r>
              <a:rPr lang="ru" sz="1200">
                <a:solidFill>
                  <a:srgbClr val="999999"/>
                </a:solidFill>
                <a:highlight>
                  <a:srgbClr val="F5F5F5"/>
                </a:highlight>
              </a:rPr>
              <a:t>:</a:t>
            </a:r>
            <a:r>
              <a:rPr lang="ru" sz="1200">
                <a:solidFill>
                  <a:srgbClr val="303030"/>
                </a:solidFill>
                <a:highlight>
                  <a:srgbClr val="F5F5F5"/>
                </a:highlight>
              </a:rPr>
              <a:t> alternate-reverse</a:t>
            </a:r>
            <a:r>
              <a:rPr lang="ru" sz="1200">
                <a:solidFill>
                  <a:srgbClr val="999999"/>
                </a:solidFill>
                <a:highlight>
                  <a:srgbClr val="F5F5F5"/>
                </a:highlight>
              </a:rPr>
              <a:t>;</a:t>
            </a:r>
            <a:endParaRPr sz="1200">
              <a:solidFill>
                <a:srgbClr val="303030"/>
              </a:solidFill>
              <a:highlight>
                <a:srgbClr val="F5F5F5"/>
              </a:highlight>
            </a:endParaRPr>
          </a:p>
          <a:p>
            <a:pPr indent="0" lvl="0" marL="0" marR="190500" rtl="0" algn="l">
              <a:lnSpc>
                <a:spcPct val="100000"/>
              </a:lnSpc>
              <a:spcBef>
                <a:spcPts val="2300"/>
              </a:spcBef>
              <a:spcAft>
                <a:spcPts val="2300"/>
              </a:spcAft>
              <a:buNone/>
            </a:pPr>
            <a:r>
              <a:rPr lang="ru" sz="1200">
                <a:solidFill>
                  <a:srgbClr val="990055"/>
                </a:solidFill>
                <a:highlight>
                  <a:srgbClr val="F5F5F5"/>
                </a:highlight>
              </a:rPr>
              <a:t>animation-direction</a:t>
            </a:r>
            <a:r>
              <a:rPr lang="ru" sz="1200">
                <a:solidFill>
                  <a:srgbClr val="999999"/>
                </a:solidFill>
                <a:highlight>
                  <a:srgbClr val="F5F5F5"/>
                </a:highlight>
              </a:rPr>
              <a:t>:</a:t>
            </a:r>
            <a:r>
              <a:rPr lang="ru" sz="1200">
                <a:solidFill>
                  <a:srgbClr val="303030"/>
                </a:solidFill>
                <a:highlight>
                  <a:srgbClr val="F5F5F5"/>
                </a:highlight>
              </a:rPr>
              <a:t> alternate</a:t>
            </a:r>
            <a:r>
              <a:rPr lang="ru" sz="1200">
                <a:solidFill>
                  <a:srgbClr val="999999"/>
                </a:solidFill>
                <a:highlight>
                  <a:srgbClr val="F5F5F5"/>
                </a:highlight>
              </a:rPr>
              <a:t>,</a:t>
            </a:r>
            <a:r>
              <a:rPr lang="ru" sz="1200">
                <a:solidFill>
                  <a:srgbClr val="303030"/>
                </a:solidFill>
                <a:highlight>
                  <a:srgbClr val="F5F5F5"/>
                </a:highlight>
              </a:rPr>
              <a:t> reverse</a:t>
            </a:r>
            <a:r>
              <a:rPr lang="ru" sz="1200">
                <a:solidFill>
                  <a:srgbClr val="999999"/>
                </a:solidFill>
                <a:highlight>
                  <a:srgbClr val="F5F5F5"/>
                </a:highlight>
              </a:rPr>
              <a:t>,</a:t>
            </a:r>
            <a:r>
              <a:rPr lang="ru" sz="1200">
                <a:solidFill>
                  <a:srgbClr val="303030"/>
                </a:solidFill>
                <a:highlight>
                  <a:srgbClr val="F5F5F5"/>
                </a:highlight>
              </a:rPr>
              <a:t> normal</a:t>
            </a:r>
            <a:r>
              <a:rPr lang="ru" sz="1200">
                <a:solidFill>
                  <a:srgbClr val="999999"/>
                </a:solidFill>
                <a:highlight>
                  <a:srgbClr val="F5F5F5"/>
                </a:highlight>
              </a:rPr>
              <a:t>;</a:t>
            </a:r>
            <a:endParaRPr sz="1200">
              <a:solidFill>
                <a:srgbClr val="990055"/>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graphicFrame>
        <p:nvGraphicFramePr>
          <p:cNvPr id="492" name="Google Shape;492;p71"/>
          <p:cNvGraphicFramePr/>
          <p:nvPr/>
        </p:nvGraphicFramePr>
        <p:xfrm>
          <a:off x="1309688" y="476250"/>
          <a:ext cx="3000000" cy="3000000"/>
        </p:xfrm>
        <a:graphic>
          <a:graphicData uri="http://schemas.openxmlformats.org/drawingml/2006/table">
            <a:tbl>
              <a:tblPr>
                <a:solidFill>
                  <a:srgbClr val="FFFFFF"/>
                </a:solidFill>
                <a:tableStyleId>{69577998-B902-4363-BD42-2B2995AA7EB3}</a:tableStyleId>
              </a:tblPr>
              <a:tblGrid>
                <a:gridCol w="1443200"/>
                <a:gridCol w="5081425"/>
              </a:tblGrid>
              <a:tr h="371475">
                <a:tc gridSpan="2">
                  <a:txBody>
                    <a:bodyPr/>
                    <a:lstStyle/>
                    <a:p>
                      <a:pPr indent="0" lvl="0" marL="0" rtl="0" algn="ctr">
                        <a:lnSpc>
                          <a:spcPct val="115000"/>
                        </a:lnSpc>
                        <a:spcBef>
                          <a:spcPts val="0"/>
                        </a:spcBef>
                        <a:spcAft>
                          <a:spcPts val="0"/>
                        </a:spcAft>
                        <a:buNone/>
                      </a:pPr>
                      <a:r>
                        <a:rPr b="1" lang="ru" sz="1200">
                          <a:highlight>
                            <a:srgbClr val="D5A6BD"/>
                          </a:highlight>
                        </a:rPr>
                        <a:t>animation-direction</a:t>
                      </a:r>
                      <a:endParaRPr b="1" sz="1200">
                        <a:highlight>
                          <a:srgbClr val="D5A6BD"/>
                        </a:highlight>
                      </a:endParaRPr>
                    </a:p>
                  </a:txBody>
                  <a:tcPr marT="95250" marB="9525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hMerge="1"/>
              </a:tr>
              <a:tr h="314325">
                <a:tc>
                  <a:txBody>
                    <a:bodyPr/>
                    <a:lstStyle/>
                    <a:p>
                      <a:pPr indent="0" lvl="0" marL="0" rtl="0" algn="ctr">
                        <a:lnSpc>
                          <a:spcPct val="115000"/>
                        </a:lnSpc>
                        <a:spcBef>
                          <a:spcPts val="0"/>
                        </a:spcBef>
                        <a:spcAft>
                          <a:spcPts val="0"/>
                        </a:spcAft>
                        <a:buNone/>
                      </a:pPr>
                      <a:r>
                        <a:rPr b="1" lang="ru" sz="1200"/>
                        <a:t>Значения:</a:t>
                      </a:r>
                      <a:endParaRPr b="1"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ru" sz="1200"/>
                        <a:t>Описание</a:t>
                      </a:r>
                      <a:endParaRPr b="1"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6725">
                <a:tc>
                  <a:txBody>
                    <a:bodyPr/>
                    <a:lstStyle/>
                    <a:p>
                      <a:pPr indent="0" lvl="0" marL="0" rtl="0" algn="just">
                        <a:lnSpc>
                          <a:spcPct val="115000"/>
                        </a:lnSpc>
                        <a:spcBef>
                          <a:spcPts val="0"/>
                        </a:spcBef>
                        <a:spcAft>
                          <a:spcPts val="0"/>
                        </a:spcAft>
                        <a:buNone/>
                      </a:pPr>
                      <a:r>
                        <a:rPr lang="ru" sz="1200"/>
                        <a:t>normal</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Все повторы анимации воспроизводятся так, как указано. Значение по умолчанию.</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6725">
                <a:tc>
                  <a:txBody>
                    <a:bodyPr/>
                    <a:lstStyle/>
                    <a:p>
                      <a:pPr indent="0" lvl="0" marL="0" rtl="0" algn="just">
                        <a:lnSpc>
                          <a:spcPct val="115000"/>
                        </a:lnSpc>
                        <a:spcBef>
                          <a:spcPts val="0"/>
                        </a:spcBef>
                        <a:spcAft>
                          <a:spcPts val="0"/>
                        </a:spcAft>
                        <a:buNone/>
                      </a:pPr>
                      <a:r>
                        <a:rPr lang="ru" sz="1200"/>
                        <a:t>reverse</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Все повторы анимации воспроизводятся в обратном направлении от того, как они были определены.</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19125">
                <a:tc>
                  <a:txBody>
                    <a:bodyPr/>
                    <a:lstStyle/>
                    <a:p>
                      <a:pPr indent="0" lvl="0" marL="0" rtl="0" algn="just">
                        <a:lnSpc>
                          <a:spcPct val="115000"/>
                        </a:lnSpc>
                        <a:spcBef>
                          <a:spcPts val="0"/>
                        </a:spcBef>
                        <a:spcAft>
                          <a:spcPts val="0"/>
                        </a:spcAft>
                        <a:buNone/>
                      </a:pPr>
                      <a:r>
                        <a:rPr lang="ru" sz="1200"/>
                        <a:t>alternate</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Каждый нечетный повтор цикла анимации воспроизводятся в нормальном направлении, каждый четный повтор воспроизводится в обратном направлении.</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19125">
                <a:tc>
                  <a:txBody>
                    <a:bodyPr/>
                    <a:lstStyle/>
                    <a:p>
                      <a:pPr indent="0" lvl="0" marL="0" rtl="0" algn="just">
                        <a:lnSpc>
                          <a:spcPct val="115000"/>
                        </a:lnSpc>
                        <a:spcBef>
                          <a:spcPts val="0"/>
                        </a:spcBef>
                        <a:spcAft>
                          <a:spcPts val="0"/>
                        </a:spcAft>
                        <a:buNone/>
                      </a:pPr>
                      <a:r>
                        <a:rPr lang="ru" sz="1200"/>
                        <a:t>alternate-reverse</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Каждый нечетный повтор цикла анимации воспроизводятся в обратном направлении, каждый четный повтор воспроизводится в нормальном направлении.</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04800">
                <a:tc>
                  <a:txBody>
                    <a:bodyPr/>
                    <a:lstStyle/>
                    <a:p>
                      <a:pPr indent="0" lvl="0" marL="0" rtl="0" algn="just">
                        <a:lnSpc>
                          <a:spcPct val="115000"/>
                        </a:lnSpc>
                        <a:spcBef>
                          <a:spcPts val="0"/>
                        </a:spcBef>
                        <a:spcAft>
                          <a:spcPts val="0"/>
                        </a:spcAft>
                        <a:buNone/>
                      </a:pPr>
                      <a:r>
                        <a:rPr lang="ru" sz="1200"/>
                        <a:t>initial</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Устанавливает значение свойства в значение по умолчанию.</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81450">
                <a:tc>
                  <a:txBody>
                    <a:bodyPr/>
                    <a:lstStyle/>
                    <a:p>
                      <a:pPr indent="0" lvl="0" marL="0" rtl="0" algn="just">
                        <a:lnSpc>
                          <a:spcPct val="115000"/>
                        </a:lnSpc>
                        <a:spcBef>
                          <a:spcPts val="0"/>
                        </a:spcBef>
                        <a:spcAft>
                          <a:spcPts val="0"/>
                        </a:spcAft>
                        <a:buNone/>
                      </a:pPr>
                      <a:r>
                        <a:rPr lang="ru" sz="1200"/>
                        <a:t>inherit</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Наследует значение свойства от родительского элемента.</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pic>
        <p:nvPicPr>
          <p:cNvPr id="497" name="Google Shape;497;p72" title="Анимация4.gif"/>
          <p:cNvPicPr preferRelativeResize="0"/>
          <p:nvPr/>
        </p:nvPicPr>
        <p:blipFill>
          <a:blip r:embed="rId3">
            <a:alphaModFix/>
          </a:blip>
          <a:stretch>
            <a:fillRect/>
          </a:stretch>
        </p:blipFill>
        <p:spPr>
          <a:xfrm>
            <a:off x="2134487" y="587525"/>
            <a:ext cx="4875024" cy="396842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pic>
        <p:nvPicPr>
          <p:cNvPr id="502" name="Google Shape;502;p73" title="Анимация5.gif"/>
          <p:cNvPicPr preferRelativeResize="0"/>
          <p:nvPr/>
        </p:nvPicPr>
        <p:blipFill>
          <a:blip r:embed="rId3">
            <a:alphaModFix/>
          </a:blip>
          <a:stretch>
            <a:fillRect/>
          </a:stretch>
        </p:blipFill>
        <p:spPr>
          <a:xfrm>
            <a:off x="2124438" y="579363"/>
            <a:ext cx="4895126" cy="3984774"/>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74"/>
          <p:cNvSpPr txBox="1"/>
          <p:nvPr>
            <p:ph type="title"/>
          </p:nvPr>
        </p:nvSpPr>
        <p:spPr>
          <a:xfrm>
            <a:off x="484600" y="388175"/>
            <a:ext cx="8167800" cy="954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3.7. </a:t>
            </a:r>
            <a:r>
              <a:rPr b="1" lang="ru" sz="2800">
                <a:solidFill>
                  <a:srgbClr val="303030"/>
                </a:solidFill>
                <a:highlight>
                  <a:srgbClr val="FFFFFF"/>
                </a:highlight>
              </a:rPr>
              <a:t>Проигрывание анимации: свойство </a:t>
            </a:r>
            <a:r>
              <a:rPr b="1" lang="ru" sz="2800">
                <a:solidFill>
                  <a:srgbClr val="303030"/>
                </a:solidFill>
                <a:highlight>
                  <a:srgbClr val="D5A6BD"/>
                </a:highlight>
              </a:rPr>
              <a:t>animation-play-state</a:t>
            </a:r>
            <a:endParaRPr b="1" sz="2800">
              <a:solidFill>
                <a:srgbClr val="303030"/>
              </a:solidFill>
              <a:highlight>
                <a:srgbClr val="D5A6BD"/>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latin typeface="Arial"/>
              <a:ea typeface="Arial"/>
              <a:cs typeface="Arial"/>
              <a:sym typeface="Arial"/>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000000"/>
              </a:solidFill>
            </a:endParaRPr>
          </a:p>
          <a:p>
            <a:pPr indent="0" lvl="0" marL="0" rtl="0" algn="l">
              <a:spcBef>
                <a:spcPts val="400"/>
              </a:spcBef>
              <a:spcAft>
                <a:spcPts val="0"/>
              </a:spcAft>
              <a:buNone/>
            </a:pPr>
            <a:r>
              <a:t/>
            </a:r>
            <a:endParaRPr/>
          </a:p>
        </p:txBody>
      </p:sp>
      <p:sp>
        <p:nvSpPr>
          <p:cNvPr id="508" name="Google Shape;508;p74"/>
          <p:cNvSpPr txBox="1"/>
          <p:nvPr>
            <p:ph idx="1" type="body"/>
          </p:nvPr>
        </p:nvSpPr>
        <p:spPr>
          <a:xfrm>
            <a:off x="389850" y="1634500"/>
            <a:ext cx="4390200" cy="2946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ru" sz="1500">
                <a:solidFill>
                  <a:srgbClr val="303030"/>
                </a:solidFill>
                <a:latin typeface="Arial"/>
                <a:ea typeface="Arial"/>
                <a:cs typeface="Arial"/>
                <a:sym typeface="Arial"/>
              </a:rPr>
              <a:t>Свойство </a:t>
            </a:r>
            <a:r>
              <a:rPr lang="ru" sz="1500">
                <a:solidFill>
                  <a:srgbClr val="303030"/>
                </a:solidFill>
                <a:highlight>
                  <a:srgbClr val="D5A6BD"/>
                </a:highlight>
                <a:latin typeface="Arial"/>
                <a:ea typeface="Arial"/>
                <a:cs typeface="Arial"/>
                <a:sym typeface="Arial"/>
              </a:rPr>
              <a:t>animation-play-state</a:t>
            </a:r>
            <a:r>
              <a:rPr lang="ru" sz="1500">
                <a:solidFill>
                  <a:srgbClr val="303030"/>
                </a:solidFill>
                <a:latin typeface="Arial"/>
                <a:ea typeface="Arial"/>
                <a:cs typeface="Arial"/>
                <a:sym typeface="Arial"/>
              </a:rPr>
              <a:t> определяет, будет ли анимация запущена или приостановлена. Остановка анимации внутри цикла возможна через использование этого свойства в скрипте JavaScript. Также можно останавливать анимацию при наведении курсора мыши на объект — состояние :hover.</a:t>
            </a:r>
            <a:endParaRPr sz="1500">
              <a:solidFill>
                <a:srgbClr val="303030"/>
              </a:solidFill>
              <a:latin typeface="Arial"/>
              <a:ea typeface="Arial"/>
              <a:cs typeface="Arial"/>
              <a:sym typeface="Arial"/>
            </a:endParaRPr>
          </a:p>
          <a:p>
            <a:pPr indent="0" lvl="0" marL="0" rtl="0" algn="just">
              <a:spcBef>
                <a:spcPts val="1100"/>
              </a:spcBef>
              <a:spcAft>
                <a:spcPts val="0"/>
              </a:spcAft>
              <a:buNone/>
            </a:pPr>
            <a:r>
              <a:rPr lang="ru" sz="1500">
                <a:solidFill>
                  <a:srgbClr val="303030"/>
                </a:solidFill>
                <a:latin typeface="Arial"/>
                <a:ea typeface="Arial"/>
                <a:cs typeface="Arial"/>
                <a:sym typeface="Arial"/>
              </a:rPr>
              <a:t>Свойство не наследуется.</a:t>
            </a:r>
            <a:endParaRPr sz="1500">
              <a:solidFill>
                <a:srgbClr val="303030"/>
              </a:solidFill>
              <a:latin typeface="Arial"/>
              <a:ea typeface="Arial"/>
              <a:cs typeface="Arial"/>
              <a:sym typeface="Arial"/>
            </a:endParaRPr>
          </a:p>
          <a:p>
            <a:pPr indent="0" lvl="0" marL="0" rtl="0" algn="just">
              <a:spcBef>
                <a:spcPts val="1100"/>
              </a:spcBef>
              <a:spcAft>
                <a:spcPts val="0"/>
              </a:spcAft>
              <a:buNone/>
            </a:pPr>
            <a:r>
              <a:t/>
            </a:r>
            <a:endParaRPr sz="1500">
              <a:solidFill>
                <a:srgbClr val="303030"/>
              </a:solidFill>
              <a:latin typeface="Arial"/>
              <a:ea typeface="Arial"/>
              <a:cs typeface="Arial"/>
              <a:sym typeface="Arial"/>
            </a:endParaRPr>
          </a:p>
          <a:p>
            <a:pPr indent="0" lvl="0" marL="0" rtl="0" algn="just">
              <a:spcBef>
                <a:spcPts val="1100"/>
              </a:spcBef>
              <a:spcAft>
                <a:spcPts val="0"/>
              </a:spcAft>
              <a:buNone/>
            </a:pPr>
            <a:br>
              <a:rPr lang="ru" sz="1500">
                <a:solidFill>
                  <a:srgbClr val="303030"/>
                </a:solidFill>
                <a:latin typeface="Arial"/>
                <a:ea typeface="Arial"/>
                <a:cs typeface="Arial"/>
                <a:sym typeface="Arial"/>
              </a:rPr>
            </a:br>
            <a:endParaRPr sz="1500">
              <a:solidFill>
                <a:srgbClr val="30303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0"/>
              </a:spcBef>
              <a:spcAft>
                <a:spcPts val="0"/>
              </a:spcAft>
              <a:buNone/>
            </a:pPr>
            <a:r>
              <a:t/>
            </a:r>
            <a:endParaRPr sz="1500">
              <a:solidFill>
                <a:srgbClr val="000000"/>
              </a:solidFill>
              <a:latin typeface="Arial"/>
              <a:ea typeface="Arial"/>
              <a:cs typeface="Arial"/>
              <a:sym typeface="Arial"/>
            </a:endParaRPr>
          </a:p>
          <a:p>
            <a:pPr indent="0" lvl="0" marL="0" rtl="0" algn="just">
              <a:spcBef>
                <a:spcPts val="1100"/>
              </a:spcBef>
              <a:spcAft>
                <a:spcPts val="0"/>
              </a:spcAft>
              <a:buNone/>
            </a:pPr>
            <a:r>
              <a:rPr lang="ru" sz="1500">
                <a:solidFill>
                  <a:srgbClr val="000000"/>
                </a:solidFill>
                <a:latin typeface="Arial"/>
                <a:ea typeface="Arial"/>
                <a:cs typeface="Arial"/>
                <a:sym typeface="Arial"/>
              </a:rPr>
              <a:t> </a:t>
            </a:r>
            <a:endParaRPr sz="1500">
              <a:solidFill>
                <a:srgbClr val="000000"/>
              </a:solidFill>
              <a:latin typeface="Arial"/>
              <a:ea typeface="Arial"/>
              <a:cs typeface="Arial"/>
              <a:sym typeface="Arial"/>
            </a:endParaRPr>
          </a:p>
          <a:p>
            <a:pPr indent="0" lvl="0" marL="0" rtl="0" algn="just">
              <a:lnSpc>
                <a:spcPct val="95000"/>
              </a:lnSpc>
              <a:spcBef>
                <a:spcPts val="1100"/>
              </a:spcBef>
              <a:spcAft>
                <a:spcPts val="1100"/>
              </a:spcAft>
              <a:buSzPts val="1018"/>
              <a:buNone/>
            </a:pPr>
            <a:r>
              <a:t/>
            </a:r>
            <a:endParaRPr sz="1500">
              <a:solidFill>
                <a:srgbClr val="000000"/>
              </a:solidFill>
              <a:latin typeface="Arial"/>
              <a:ea typeface="Arial"/>
              <a:cs typeface="Arial"/>
              <a:sym typeface="Arial"/>
            </a:endParaRPr>
          </a:p>
        </p:txBody>
      </p:sp>
      <p:sp>
        <p:nvSpPr>
          <p:cNvPr id="509" name="Google Shape;509;p74"/>
          <p:cNvSpPr txBox="1"/>
          <p:nvPr/>
        </p:nvSpPr>
        <p:spPr>
          <a:xfrm>
            <a:off x="5271725" y="1496375"/>
            <a:ext cx="3134700" cy="2750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190500" rtl="0" algn="l">
              <a:lnSpc>
                <a:spcPct val="100000"/>
              </a:lnSpc>
              <a:spcBef>
                <a:spcPts val="0"/>
              </a:spcBef>
              <a:spcAft>
                <a:spcPts val="0"/>
              </a:spcAft>
              <a:buNone/>
            </a:pPr>
            <a:r>
              <a:rPr lang="ru" sz="1500">
                <a:solidFill>
                  <a:srgbClr val="990055"/>
                </a:solidFill>
                <a:highlight>
                  <a:srgbClr val="F5F5F5"/>
                </a:highlight>
              </a:rPr>
              <a:t>animation-play-state</a:t>
            </a:r>
            <a:r>
              <a:rPr lang="ru" sz="1500">
                <a:solidFill>
                  <a:srgbClr val="999999"/>
                </a:solidFill>
                <a:highlight>
                  <a:srgbClr val="F5F5F5"/>
                </a:highlight>
              </a:rPr>
              <a:t>:</a:t>
            </a:r>
            <a:r>
              <a:rPr lang="ru" sz="1500">
                <a:solidFill>
                  <a:srgbClr val="303030"/>
                </a:solidFill>
                <a:highlight>
                  <a:srgbClr val="F5F5F5"/>
                </a:highlight>
              </a:rPr>
              <a:t> running</a:t>
            </a:r>
            <a:r>
              <a:rPr lang="ru" sz="1500">
                <a:solidFill>
                  <a:srgbClr val="999999"/>
                </a:solidFill>
                <a:highlight>
                  <a:srgbClr val="F5F5F5"/>
                </a:highlight>
              </a:rPr>
              <a:t>;</a:t>
            </a:r>
            <a:endParaRPr sz="1500">
              <a:solidFill>
                <a:srgbClr val="303030"/>
              </a:solidFill>
              <a:highlight>
                <a:srgbClr val="F5F5F5"/>
              </a:highlight>
            </a:endParaRPr>
          </a:p>
          <a:p>
            <a:pPr indent="0" lvl="0" marL="0" marR="190500" rtl="0" algn="l">
              <a:lnSpc>
                <a:spcPct val="100000"/>
              </a:lnSpc>
              <a:spcBef>
                <a:spcPts val="2300"/>
              </a:spcBef>
              <a:spcAft>
                <a:spcPts val="0"/>
              </a:spcAft>
              <a:buNone/>
            </a:pPr>
            <a:r>
              <a:rPr lang="ru" sz="1500">
                <a:solidFill>
                  <a:srgbClr val="990055"/>
                </a:solidFill>
                <a:highlight>
                  <a:srgbClr val="F5F5F5"/>
                </a:highlight>
              </a:rPr>
              <a:t>animation-play-state</a:t>
            </a:r>
            <a:r>
              <a:rPr lang="ru" sz="1500">
                <a:solidFill>
                  <a:srgbClr val="999999"/>
                </a:solidFill>
                <a:highlight>
                  <a:srgbClr val="F5F5F5"/>
                </a:highlight>
              </a:rPr>
              <a:t>:</a:t>
            </a:r>
            <a:r>
              <a:rPr lang="ru" sz="1500">
                <a:solidFill>
                  <a:srgbClr val="303030"/>
                </a:solidFill>
                <a:highlight>
                  <a:srgbClr val="F5F5F5"/>
                </a:highlight>
              </a:rPr>
              <a:t> paused</a:t>
            </a:r>
            <a:r>
              <a:rPr lang="ru" sz="1500">
                <a:solidFill>
                  <a:srgbClr val="999999"/>
                </a:solidFill>
                <a:highlight>
                  <a:srgbClr val="F5F5F5"/>
                </a:highlight>
              </a:rPr>
              <a:t>;</a:t>
            </a:r>
            <a:endParaRPr sz="1500">
              <a:solidFill>
                <a:srgbClr val="303030"/>
              </a:solidFill>
              <a:highlight>
                <a:srgbClr val="F5F5F5"/>
              </a:highlight>
            </a:endParaRPr>
          </a:p>
          <a:p>
            <a:pPr indent="0" lvl="0" marL="0" marR="190500" rtl="0" algn="l">
              <a:lnSpc>
                <a:spcPct val="100000"/>
              </a:lnSpc>
              <a:spcBef>
                <a:spcPts val="2300"/>
              </a:spcBef>
              <a:spcAft>
                <a:spcPts val="0"/>
              </a:spcAft>
              <a:buNone/>
            </a:pPr>
            <a:r>
              <a:rPr lang="ru" sz="1500">
                <a:solidFill>
                  <a:srgbClr val="990055"/>
                </a:solidFill>
                <a:highlight>
                  <a:srgbClr val="F5F5F5"/>
                </a:highlight>
              </a:rPr>
              <a:t>animation-play-state</a:t>
            </a:r>
            <a:r>
              <a:rPr lang="ru" sz="1500">
                <a:solidFill>
                  <a:srgbClr val="999999"/>
                </a:solidFill>
                <a:highlight>
                  <a:srgbClr val="F5F5F5"/>
                </a:highlight>
              </a:rPr>
              <a:t>:</a:t>
            </a:r>
            <a:r>
              <a:rPr lang="ru" sz="1500">
                <a:solidFill>
                  <a:srgbClr val="303030"/>
                </a:solidFill>
                <a:highlight>
                  <a:srgbClr val="F5F5F5"/>
                </a:highlight>
              </a:rPr>
              <a:t> paused</a:t>
            </a:r>
            <a:r>
              <a:rPr lang="ru" sz="1500">
                <a:solidFill>
                  <a:srgbClr val="999999"/>
                </a:solidFill>
                <a:highlight>
                  <a:srgbClr val="F5F5F5"/>
                </a:highlight>
              </a:rPr>
              <a:t>,</a:t>
            </a:r>
            <a:r>
              <a:rPr lang="ru" sz="1500">
                <a:solidFill>
                  <a:srgbClr val="303030"/>
                </a:solidFill>
                <a:highlight>
                  <a:srgbClr val="F5F5F5"/>
                </a:highlight>
              </a:rPr>
              <a:t> running</a:t>
            </a:r>
            <a:r>
              <a:rPr lang="ru" sz="1500">
                <a:solidFill>
                  <a:srgbClr val="999999"/>
                </a:solidFill>
                <a:highlight>
                  <a:srgbClr val="F5F5F5"/>
                </a:highlight>
              </a:rPr>
              <a:t>,</a:t>
            </a:r>
            <a:r>
              <a:rPr lang="ru" sz="1500">
                <a:solidFill>
                  <a:srgbClr val="303030"/>
                </a:solidFill>
                <a:highlight>
                  <a:srgbClr val="F5F5F5"/>
                </a:highlight>
              </a:rPr>
              <a:t> running</a:t>
            </a:r>
            <a:r>
              <a:rPr lang="ru" sz="1500">
                <a:solidFill>
                  <a:srgbClr val="999999"/>
                </a:solidFill>
                <a:highlight>
                  <a:srgbClr val="F5F5F5"/>
                </a:highlight>
              </a:rPr>
              <a:t>;</a:t>
            </a:r>
            <a:endParaRPr sz="1500">
              <a:solidFill>
                <a:srgbClr val="303030"/>
              </a:solidFill>
              <a:highlight>
                <a:srgbClr val="F5F5F5"/>
              </a:highlight>
            </a:endParaRPr>
          </a:p>
          <a:p>
            <a:pPr indent="0" lvl="0" marL="0" marR="190500" rtl="0" algn="l">
              <a:lnSpc>
                <a:spcPct val="100000"/>
              </a:lnSpc>
              <a:spcBef>
                <a:spcPts val="2300"/>
              </a:spcBef>
              <a:spcAft>
                <a:spcPts val="0"/>
              </a:spcAft>
              <a:buNone/>
            </a:pPr>
            <a:r>
              <a:rPr lang="ru" sz="1500">
                <a:solidFill>
                  <a:srgbClr val="990055"/>
                </a:solidFill>
                <a:highlight>
                  <a:srgbClr val="F5F5F5"/>
                </a:highlight>
              </a:rPr>
              <a:t>animation-play-state</a:t>
            </a:r>
            <a:r>
              <a:rPr lang="ru" sz="1500">
                <a:solidFill>
                  <a:srgbClr val="999999"/>
                </a:solidFill>
                <a:highlight>
                  <a:srgbClr val="F5F5F5"/>
                </a:highlight>
              </a:rPr>
              <a:t>:</a:t>
            </a:r>
            <a:r>
              <a:rPr lang="ru" sz="1500">
                <a:solidFill>
                  <a:srgbClr val="303030"/>
                </a:solidFill>
                <a:highlight>
                  <a:srgbClr val="F5F5F5"/>
                </a:highlight>
              </a:rPr>
              <a:t> initial</a:t>
            </a:r>
            <a:r>
              <a:rPr lang="ru" sz="1500">
                <a:solidFill>
                  <a:srgbClr val="999999"/>
                </a:solidFill>
                <a:highlight>
                  <a:srgbClr val="F5F5F5"/>
                </a:highlight>
              </a:rPr>
              <a:t>;</a:t>
            </a:r>
            <a:endParaRPr sz="1500">
              <a:solidFill>
                <a:srgbClr val="303030"/>
              </a:solidFill>
              <a:highlight>
                <a:srgbClr val="F5F5F5"/>
              </a:highlight>
            </a:endParaRPr>
          </a:p>
          <a:p>
            <a:pPr indent="0" lvl="0" marL="0" marR="190500" rtl="0" algn="l">
              <a:lnSpc>
                <a:spcPct val="150000"/>
              </a:lnSpc>
              <a:spcBef>
                <a:spcPts val="2300"/>
              </a:spcBef>
              <a:spcAft>
                <a:spcPts val="2300"/>
              </a:spcAft>
              <a:buNone/>
            </a:pPr>
            <a:r>
              <a:rPr lang="ru" sz="1500">
                <a:solidFill>
                  <a:srgbClr val="990055"/>
                </a:solidFill>
                <a:highlight>
                  <a:srgbClr val="F5F5F5"/>
                </a:highlight>
              </a:rPr>
              <a:t>an</a:t>
            </a:r>
            <a:r>
              <a:rPr lang="ru" sz="1500">
                <a:solidFill>
                  <a:srgbClr val="990055"/>
                </a:solidFill>
                <a:highlight>
                  <a:srgbClr val="F5F5F5"/>
                </a:highlight>
              </a:rPr>
              <a:t>imation-play-state</a:t>
            </a:r>
            <a:r>
              <a:rPr lang="ru" sz="1500">
                <a:solidFill>
                  <a:srgbClr val="999999"/>
                </a:solidFill>
                <a:highlight>
                  <a:srgbClr val="F5F5F5"/>
                </a:highlight>
              </a:rPr>
              <a:t>:</a:t>
            </a:r>
            <a:r>
              <a:rPr lang="ru" sz="1500">
                <a:solidFill>
                  <a:srgbClr val="303030"/>
                </a:solidFill>
                <a:highlight>
                  <a:srgbClr val="F5F5F5"/>
                </a:highlight>
              </a:rPr>
              <a:t> inherit</a:t>
            </a:r>
            <a:r>
              <a:rPr lang="ru" sz="1500">
                <a:solidFill>
                  <a:srgbClr val="999999"/>
                </a:solidFill>
                <a:highlight>
                  <a:srgbClr val="F5F5F5"/>
                </a:highlight>
              </a:rPr>
              <a:t>;</a:t>
            </a:r>
            <a:endParaRPr sz="1500">
              <a:solidFill>
                <a:srgbClr val="990055"/>
              </a:solidFill>
              <a:highlight>
                <a:srgbClr val="F5F5F5"/>
              </a:highlight>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graphicFrame>
        <p:nvGraphicFramePr>
          <p:cNvPr id="514" name="Google Shape;514;p75"/>
          <p:cNvGraphicFramePr/>
          <p:nvPr/>
        </p:nvGraphicFramePr>
        <p:xfrm>
          <a:off x="518488" y="797625"/>
          <a:ext cx="3000000" cy="3000000"/>
        </p:xfrm>
        <a:graphic>
          <a:graphicData uri="http://schemas.openxmlformats.org/drawingml/2006/table">
            <a:tbl>
              <a:tblPr>
                <a:solidFill>
                  <a:srgbClr val="FFFFFF"/>
                </a:solidFill>
                <a:tableStyleId>{69577998-B902-4363-BD42-2B2995AA7EB3}</a:tableStyleId>
              </a:tblPr>
              <a:tblGrid>
                <a:gridCol w="1621400"/>
                <a:gridCol w="6485625"/>
              </a:tblGrid>
              <a:tr h="517000">
                <a:tc gridSpan="2">
                  <a:txBody>
                    <a:bodyPr/>
                    <a:lstStyle/>
                    <a:p>
                      <a:pPr indent="0" lvl="0" marL="0" rtl="0" algn="ctr">
                        <a:lnSpc>
                          <a:spcPct val="115000"/>
                        </a:lnSpc>
                        <a:spcBef>
                          <a:spcPts val="0"/>
                        </a:spcBef>
                        <a:spcAft>
                          <a:spcPts val="0"/>
                        </a:spcAft>
                        <a:buNone/>
                      </a:pPr>
                      <a:r>
                        <a:rPr b="1" lang="ru" sz="1200">
                          <a:highlight>
                            <a:srgbClr val="D5A6BD"/>
                          </a:highlight>
                        </a:rPr>
                        <a:t>animation-play-state</a:t>
                      </a:r>
                      <a:endParaRPr b="1" sz="1200">
                        <a:highlight>
                          <a:srgbClr val="D5A6BD"/>
                        </a:highlight>
                      </a:endParaRPr>
                    </a:p>
                  </a:txBody>
                  <a:tcPr marT="95250" marB="9525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hMerge="1"/>
              </a:tr>
              <a:tr h="467750">
                <a:tc>
                  <a:txBody>
                    <a:bodyPr/>
                    <a:lstStyle/>
                    <a:p>
                      <a:pPr indent="0" lvl="0" marL="0" rtl="0" algn="ctr">
                        <a:lnSpc>
                          <a:spcPct val="115000"/>
                        </a:lnSpc>
                        <a:spcBef>
                          <a:spcPts val="0"/>
                        </a:spcBef>
                        <a:spcAft>
                          <a:spcPts val="0"/>
                        </a:spcAft>
                        <a:buNone/>
                      </a:pPr>
                      <a:r>
                        <a:rPr b="1" lang="ru" sz="1200"/>
                        <a:t>Значения:</a:t>
                      </a:r>
                      <a:endParaRPr b="1"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b="1" lang="ru" sz="1200"/>
                        <a:t>Описание</a:t>
                      </a:r>
                      <a:endParaRPr b="1"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7750">
                <a:tc>
                  <a:txBody>
                    <a:bodyPr/>
                    <a:lstStyle/>
                    <a:p>
                      <a:pPr indent="0" lvl="0" marL="0" rtl="0" algn="just">
                        <a:lnSpc>
                          <a:spcPct val="115000"/>
                        </a:lnSpc>
                        <a:spcBef>
                          <a:spcPts val="0"/>
                        </a:spcBef>
                        <a:spcAft>
                          <a:spcPts val="0"/>
                        </a:spcAft>
                        <a:buNone/>
                      </a:pPr>
                      <a:r>
                        <a:rPr lang="ru" sz="1200"/>
                        <a:t>running</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Анимация выполняется. Значение по умолчанию.</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997925">
                <a:tc>
                  <a:txBody>
                    <a:bodyPr/>
                    <a:lstStyle/>
                    <a:p>
                      <a:pPr indent="0" lvl="0" marL="0" rtl="0" algn="just">
                        <a:lnSpc>
                          <a:spcPct val="115000"/>
                        </a:lnSpc>
                        <a:spcBef>
                          <a:spcPts val="0"/>
                        </a:spcBef>
                        <a:spcAft>
                          <a:spcPts val="0"/>
                        </a:spcAft>
                        <a:buNone/>
                      </a:pPr>
                      <a:r>
                        <a:rPr lang="ru" sz="1200"/>
                        <a:t>paused</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Анимация приостанавливается. При перезапуске анимация начинается с того места, где она была остановлена, как если бы «часы», управляющие анимацией, остановились и снова запустились. Если анимация остановлена во время задержки, при повторном воспроизведении время задержки также возобновляется.</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7750">
                <a:tc>
                  <a:txBody>
                    <a:bodyPr/>
                    <a:lstStyle/>
                    <a:p>
                      <a:pPr indent="0" lvl="0" marL="0" rtl="0" algn="just">
                        <a:lnSpc>
                          <a:spcPct val="115000"/>
                        </a:lnSpc>
                        <a:spcBef>
                          <a:spcPts val="0"/>
                        </a:spcBef>
                        <a:spcAft>
                          <a:spcPts val="0"/>
                        </a:spcAft>
                        <a:buNone/>
                      </a:pPr>
                      <a:r>
                        <a:rPr lang="ru" sz="1200"/>
                        <a:t>initial</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Устанавливает значение свойства в значение по умолчанию.</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67750">
                <a:tc>
                  <a:txBody>
                    <a:bodyPr/>
                    <a:lstStyle/>
                    <a:p>
                      <a:pPr indent="0" lvl="0" marL="0" rtl="0" algn="just">
                        <a:lnSpc>
                          <a:spcPct val="115000"/>
                        </a:lnSpc>
                        <a:spcBef>
                          <a:spcPts val="0"/>
                        </a:spcBef>
                        <a:spcAft>
                          <a:spcPts val="0"/>
                        </a:spcAft>
                        <a:buNone/>
                      </a:pPr>
                      <a:r>
                        <a:rPr lang="ru" sz="1200"/>
                        <a:t>inherit</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ru" sz="1200"/>
                        <a:t>Наследует значение свойства от родительского элемента.</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76"/>
          <p:cNvSpPr txBox="1"/>
          <p:nvPr>
            <p:ph type="title"/>
          </p:nvPr>
        </p:nvSpPr>
        <p:spPr>
          <a:xfrm>
            <a:off x="484600" y="388175"/>
            <a:ext cx="8167800" cy="9546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3.8. </a:t>
            </a:r>
            <a:r>
              <a:rPr b="1" lang="ru" sz="2800">
                <a:solidFill>
                  <a:srgbClr val="303030"/>
                </a:solidFill>
                <a:highlight>
                  <a:srgbClr val="FFFFFF"/>
                </a:highlight>
              </a:rPr>
              <a:t>Задержка анимации: свойство </a:t>
            </a:r>
            <a:r>
              <a:rPr b="1" lang="ru" sz="2800">
                <a:solidFill>
                  <a:srgbClr val="303030"/>
                </a:solidFill>
                <a:highlight>
                  <a:srgbClr val="D5A6BD"/>
                </a:highlight>
              </a:rPr>
              <a:t>animation-delay</a:t>
            </a:r>
            <a:endParaRPr b="1" sz="2800">
              <a:solidFill>
                <a:srgbClr val="303030"/>
              </a:solidFill>
              <a:highlight>
                <a:srgbClr val="D5A6BD"/>
              </a:highlight>
            </a:endParaRPr>
          </a:p>
          <a:p>
            <a:pPr indent="0" lvl="0" marL="0" rtl="0" algn="l">
              <a:lnSpc>
                <a:spcPct val="115000"/>
              </a:lnSpc>
              <a:spcBef>
                <a:spcPts val="400"/>
              </a:spcBef>
              <a:spcAft>
                <a:spcPts val="0"/>
              </a:spcAft>
              <a:buNone/>
            </a:pPr>
            <a:r>
              <a:t/>
            </a:r>
            <a:endParaRPr sz="1100">
              <a:solidFill>
                <a:srgbClr val="000000"/>
              </a:solidFill>
              <a:latin typeface="Arial"/>
              <a:ea typeface="Arial"/>
              <a:cs typeface="Arial"/>
              <a:sym typeface="Arial"/>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latin typeface="Arial"/>
              <a:ea typeface="Arial"/>
              <a:cs typeface="Arial"/>
              <a:sym typeface="Arial"/>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000000"/>
              </a:solidFill>
            </a:endParaRPr>
          </a:p>
          <a:p>
            <a:pPr indent="0" lvl="0" marL="0" rtl="0" algn="l">
              <a:spcBef>
                <a:spcPts val="400"/>
              </a:spcBef>
              <a:spcAft>
                <a:spcPts val="0"/>
              </a:spcAft>
              <a:buNone/>
            </a:pPr>
            <a:r>
              <a:t/>
            </a:r>
            <a:endParaRPr/>
          </a:p>
        </p:txBody>
      </p:sp>
      <p:sp>
        <p:nvSpPr>
          <p:cNvPr id="520" name="Google Shape;520;p76"/>
          <p:cNvSpPr txBox="1"/>
          <p:nvPr>
            <p:ph idx="1" type="body"/>
          </p:nvPr>
        </p:nvSpPr>
        <p:spPr>
          <a:xfrm>
            <a:off x="389850" y="1634500"/>
            <a:ext cx="4390200" cy="95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500">
                <a:solidFill>
                  <a:srgbClr val="303030"/>
                </a:solidFill>
                <a:latin typeface="Arial"/>
                <a:ea typeface="Arial"/>
                <a:cs typeface="Arial"/>
                <a:sym typeface="Arial"/>
              </a:rPr>
              <a:t>Свойство </a:t>
            </a:r>
            <a:r>
              <a:rPr lang="ru" sz="1500">
                <a:solidFill>
                  <a:srgbClr val="303030"/>
                </a:solidFill>
                <a:highlight>
                  <a:srgbClr val="D5A6BD"/>
                </a:highlight>
                <a:latin typeface="Arial"/>
                <a:ea typeface="Arial"/>
                <a:cs typeface="Arial"/>
                <a:sym typeface="Arial"/>
              </a:rPr>
              <a:t>animation-delay</a:t>
            </a:r>
            <a:r>
              <a:rPr lang="ru" sz="1500">
                <a:solidFill>
                  <a:srgbClr val="303030"/>
                </a:solidFill>
                <a:latin typeface="Arial"/>
                <a:ea typeface="Arial"/>
                <a:cs typeface="Arial"/>
                <a:sym typeface="Arial"/>
              </a:rPr>
              <a:t> определяет, когда анимация начнется. Задается в секундах s или миллисекундах ms. Свойство не наследуется.</a:t>
            </a:r>
            <a:endParaRPr sz="1500">
              <a:solidFill>
                <a:srgbClr val="303030"/>
              </a:solidFill>
              <a:latin typeface="Arial"/>
              <a:ea typeface="Arial"/>
              <a:cs typeface="Arial"/>
              <a:sym typeface="Arial"/>
            </a:endParaRPr>
          </a:p>
          <a:p>
            <a:pPr indent="0" lvl="0" marL="0" rtl="0" algn="just">
              <a:spcBef>
                <a:spcPts val="1100"/>
              </a:spcBef>
              <a:spcAft>
                <a:spcPts val="0"/>
              </a:spcAft>
              <a:buNone/>
            </a:pPr>
            <a:r>
              <a:t/>
            </a:r>
            <a:endParaRPr sz="1500">
              <a:solidFill>
                <a:srgbClr val="303030"/>
              </a:solidFill>
              <a:latin typeface="Arial"/>
              <a:ea typeface="Arial"/>
              <a:cs typeface="Arial"/>
              <a:sym typeface="Arial"/>
            </a:endParaRPr>
          </a:p>
          <a:p>
            <a:pPr indent="0" lvl="0" marL="0" rtl="0" algn="just">
              <a:spcBef>
                <a:spcPts val="1100"/>
              </a:spcBef>
              <a:spcAft>
                <a:spcPts val="0"/>
              </a:spcAft>
              <a:buNone/>
            </a:pPr>
            <a:r>
              <a:t/>
            </a:r>
            <a:endParaRPr sz="1500">
              <a:solidFill>
                <a:srgbClr val="303030"/>
              </a:solidFill>
              <a:latin typeface="Arial"/>
              <a:ea typeface="Arial"/>
              <a:cs typeface="Arial"/>
              <a:sym typeface="Arial"/>
            </a:endParaRPr>
          </a:p>
          <a:p>
            <a:pPr indent="0" lvl="0" marL="0" rtl="0" algn="just">
              <a:spcBef>
                <a:spcPts val="1100"/>
              </a:spcBef>
              <a:spcAft>
                <a:spcPts val="0"/>
              </a:spcAft>
              <a:buNone/>
            </a:pPr>
            <a:br>
              <a:rPr lang="ru" sz="1500">
                <a:solidFill>
                  <a:srgbClr val="303030"/>
                </a:solidFill>
                <a:latin typeface="Arial"/>
                <a:ea typeface="Arial"/>
                <a:cs typeface="Arial"/>
                <a:sym typeface="Arial"/>
              </a:rPr>
            </a:br>
            <a:endParaRPr sz="1500">
              <a:solidFill>
                <a:srgbClr val="30303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0"/>
              </a:spcBef>
              <a:spcAft>
                <a:spcPts val="0"/>
              </a:spcAft>
              <a:buNone/>
            </a:pPr>
            <a:r>
              <a:t/>
            </a:r>
            <a:endParaRPr sz="1500">
              <a:solidFill>
                <a:srgbClr val="000000"/>
              </a:solidFill>
              <a:latin typeface="Arial"/>
              <a:ea typeface="Arial"/>
              <a:cs typeface="Arial"/>
              <a:sym typeface="Arial"/>
            </a:endParaRPr>
          </a:p>
          <a:p>
            <a:pPr indent="0" lvl="0" marL="0" rtl="0" algn="just">
              <a:spcBef>
                <a:spcPts val="1100"/>
              </a:spcBef>
              <a:spcAft>
                <a:spcPts val="0"/>
              </a:spcAft>
              <a:buNone/>
            </a:pPr>
            <a:r>
              <a:rPr lang="ru" sz="1500">
                <a:solidFill>
                  <a:srgbClr val="000000"/>
                </a:solidFill>
                <a:latin typeface="Arial"/>
                <a:ea typeface="Arial"/>
                <a:cs typeface="Arial"/>
                <a:sym typeface="Arial"/>
              </a:rPr>
              <a:t> </a:t>
            </a:r>
            <a:endParaRPr sz="1500">
              <a:solidFill>
                <a:srgbClr val="000000"/>
              </a:solidFill>
              <a:latin typeface="Arial"/>
              <a:ea typeface="Arial"/>
              <a:cs typeface="Arial"/>
              <a:sym typeface="Arial"/>
            </a:endParaRPr>
          </a:p>
          <a:p>
            <a:pPr indent="0" lvl="0" marL="0" rtl="0" algn="just">
              <a:lnSpc>
                <a:spcPct val="95000"/>
              </a:lnSpc>
              <a:spcBef>
                <a:spcPts val="1100"/>
              </a:spcBef>
              <a:spcAft>
                <a:spcPts val="1100"/>
              </a:spcAft>
              <a:buSzPts val="1018"/>
              <a:buNone/>
            </a:pPr>
            <a:r>
              <a:t/>
            </a:r>
            <a:endParaRPr sz="1500">
              <a:solidFill>
                <a:srgbClr val="000000"/>
              </a:solidFill>
              <a:latin typeface="Arial"/>
              <a:ea typeface="Arial"/>
              <a:cs typeface="Arial"/>
              <a:sym typeface="Arial"/>
            </a:endParaRPr>
          </a:p>
        </p:txBody>
      </p:sp>
      <p:sp>
        <p:nvSpPr>
          <p:cNvPr id="521" name="Google Shape;521;p76"/>
          <p:cNvSpPr txBox="1"/>
          <p:nvPr/>
        </p:nvSpPr>
        <p:spPr>
          <a:xfrm>
            <a:off x="5256350" y="1527100"/>
            <a:ext cx="3134700" cy="941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190500" rtl="0" algn="l">
              <a:lnSpc>
                <a:spcPct val="100000"/>
              </a:lnSpc>
              <a:spcBef>
                <a:spcPts val="0"/>
              </a:spcBef>
              <a:spcAft>
                <a:spcPts val="0"/>
              </a:spcAft>
              <a:buNone/>
            </a:pPr>
            <a:r>
              <a:rPr lang="ru" sz="1500">
                <a:solidFill>
                  <a:srgbClr val="990055"/>
                </a:solidFill>
                <a:highlight>
                  <a:srgbClr val="F5F5F5"/>
                </a:highlight>
              </a:rPr>
              <a:t>animation-delay</a:t>
            </a:r>
            <a:r>
              <a:rPr lang="ru" sz="1500">
                <a:solidFill>
                  <a:srgbClr val="999999"/>
                </a:solidFill>
                <a:highlight>
                  <a:srgbClr val="F5F5F5"/>
                </a:highlight>
              </a:rPr>
              <a:t>:</a:t>
            </a:r>
            <a:r>
              <a:rPr lang="ru" sz="1500">
                <a:solidFill>
                  <a:srgbClr val="303030"/>
                </a:solidFill>
                <a:highlight>
                  <a:srgbClr val="F5F5F5"/>
                </a:highlight>
              </a:rPr>
              <a:t> 5s</a:t>
            </a:r>
            <a:r>
              <a:rPr lang="ru" sz="1500">
                <a:solidFill>
                  <a:srgbClr val="999999"/>
                </a:solidFill>
                <a:highlight>
                  <a:srgbClr val="F5F5F5"/>
                </a:highlight>
              </a:rPr>
              <a:t>;</a:t>
            </a:r>
            <a:endParaRPr sz="1500">
              <a:solidFill>
                <a:srgbClr val="303030"/>
              </a:solidFill>
              <a:highlight>
                <a:srgbClr val="F5F5F5"/>
              </a:highlight>
            </a:endParaRPr>
          </a:p>
          <a:p>
            <a:pPr indent="0" lvl="0" marL="0" marR="190500" rtl="0" algn="l">
              <a:lnSpc>
                <a:spcPct val="100000"/>
              </a:lnSpc>
              <a:spcBef>
                <a:spcPts val="2300"/>
              </a:spcBef>
              <a:spcAft>
                <a:spcPts val="2300"/>
              </a:spcAft>
              <a:buNone/>
            </a:pPr>
            <a:r>
              <a:rPr lang="ru" sz="1500">
                <a:solidFill>
                  <a:srgbClr val="990055"/>
                </a:solidFill>
                <a:highlight>
                  <a:srgbClr val="F5F5F5"/>
                </a:highlight>
              </a:rPr>
              <a:t>animation-delay</a:t>
            </a:r>
            <a:r>
              <a:rPr lang="ru" sz="1500">
                <a:solidFill>
                  <a:srgbClr val="999999"/>
                </a:solidFill>
                <a:highlight>
                  <a:srgbClr val="F5F5F5"/>
                </a:highlight>
              </a:rPr>
              <a:t>:</a:t>
            </a:r>
            <a:r>
              <a:rPr lang="ru" sz="1500">
                <a:solidFill>
                  <a:srgbClr val="303030"/>
                </a:solidFill>
                <a:highlight>
                  <a:srgbClr val="F5F5F5"/>
                </a:highlight>
              </a:rPr>
              <a:t> 3s</a:t>
            </a:r>
            <a:r>
              <a:rPr lang="ru" sz="1500">
                <a:solidFill>
                  <a:srgbClr val="999999"/>
                </a:solidFill>
                <a:highlight>
                  <a:srgbClr val="F5F5F5"/>
                </a:highlight>
              </a:rPr>
              <a:t>,</a:t>
            </a:r>
            <a:r>
              <a:rPr lang="ru" sz="1500">
                <a:solidFill>
                  <a:srgbClr val="303030"/>
                </a:solidFill>
                <a:highlight>
                  <a:srgbClr val="F5F5F5"/>
                </a:highlight>
              </a:rPr>
              <a:t> 10ms</a:t>
            </a:r>
            <a:r>
              <a:rPr lang="ru" sz="1500">
                <a:solidFill>
                  <a:srgbClr val="999999"/>
                </a:solidFill>
                <a:highlight>
                  <a:srgbClr val="F5F5F5"/>
                </a:highlight>
              </a:rPr>
              <a:t>;</a:t>
            </a:r>
            <a:endParaRPr sz="1500">
              <a:solidFill>
                <a:srgbClr val="990055"/>
              </a:solidFill>
              <a:highlight>
                <a:srgbClr val="F5F5F5"/>
              </a:highlight>
            </a:endParaRPr>
          </a:p>
        </p:txBody>
      </p:sp>
      <p:graphicFrame>
        <p:nvGraphicFramePr>
          <p:cNvPr id="522" name="Google Shape;522;p76"/>
          <p:cNvGraphicFramePr/>
          <p:nvPr/>
        </p:nvGraphicFramePr>
        <p:xfrm>
          <a:off x="687300" y="2760375"/>
          <a:ext cx="3000000" cy="3000000"/>
        </p:xfrm>
        <a:graphic>
          <a:graphicData uri="http://schemas.openxmlformats.org/drawingml/2006/table">
            <a:tbl>
              <a:tblPr>
                <a:solidFill>
                  <a:srgbClr val="FFFFFF"/>
                </a:solidFill>
                <a:tableStyleId>{69577998-B902-4363-BD42-2B2995AA7EB3}</a:tableStyleId>
              </a:tblPr>
              <a:tblGrid>
                <a:gridCol w="1425700"/>
                <a:gridCol w="6336700"/>
              </a:tblGrid>
              <a:tr h="1712850">
                <a:tc>
                  <a:txBody>
                    <a:bodyPr/>
                    <a:lstStyle/>
                    <a:p>
                      <a:pPr indent="0" lvl="0" marL="0" rtl="0" algn="just">
                        <a:lnSpc>
                          <a:spcPct val="100000"/>
                        </a:lnSpc>
                        <a:spcBef>
                          <a:spcPts val="0"/>
                        </a:spcBef>
                        <a:spcAft>
                          <a:spcPts val="0"/>
                        </a:spcAft>
                        <a:buNone/>
                      </a:pPr>
                      <a:r>
                        <a:rPr lang="ru" sz="1200"/>
                        <a:t>время</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ru" sz="1200"/>
                        <a:t>Время определяет длительность задержки между началом анимации (когда анимация применяется к элементу через свойства) и когда она начинает выполняться. Отрицательные значения разрешены, такая задержка начинает анимацию с определенного момента внутри её цикла, т.е. со времени, указанного в задержке. Это позволяет применять анимацию к нескольким элементам со сдвигом фазы, изменяя лишь время задержки. Чтобы анимация началась с середины, нужно задать отрицательную задержку, равную половине времени, установленном в animation-duration. Значение по умолчанию 0s.</a:t>
                      </a:r>
                      <a:endParaRPr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pic>
        <p:nvPicPr>
          <p:cNvPr id="527" name="Google Shape;527;p77" title="Анимация6.gif"/>
          <p:cNvPicPr preferRelativeResize="0"/>
          <p:nvPr/>
        </p:nvPicPr>
        <p:blipFill>
          <a:blip r:embed="rId3">
            <a:alphaModFix/>
          </a:blip>
          <a:stretch>
            <a:fillRect/>
          </a:stretch>
        </p:blipFill>
        <p:spPr>
          <a:xfrm>
            <a:off x="1615623" y="673763"/>
            <a:ext cx="6065476" cy="3795976"/>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78"/>
          <p:cNvSpPr txBox="1"/>
          <p:nvPr>
            <p:ph type="title"/>
          </p:nvPr>
        </p:nvSpPr>
        <p:spPr>
          <a:xfrm>
            <a:off x="484600" y="388175"/>
            <a:ext cx="8167800" cy="1672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3.9. </a:t>
            </a:r>
            <a:r>
              <a:rPr b="1" lang="ru" sz="2800">
                <a:solidFill>
                  <a:srgbClr val="303030"/>
                </a:solidFill>
                <a:highlight>
                  <a:srgbClr val="FFFFFF"/>
                </a:highlight>
              </a:rPr>
              <a:t>Состояние элемента до и после воспроизведения анимации: свойство </a:t>
            </a:r>
            <a:r>
              <a:rPr b="1" lang="ru" sz="2800">
                <a:solidFill>
                  <a:srgbClr val="303030"/>
                </a:solidFill>
                <a:highlight>
                  <a:srgbClr val="D5A6BD"/>
                </a:highlight>
              </a:rPr>
              <a:t>animation-fill-mode</a:t>
            </a:r>
            <a:endParaRPr b="1" sz="2800">
              <a:solidFill>
                <a:srgbClr val="303030"/>
              </a:solidFill>
              <a:highlight>
                <a:srgbClr val="D5A6BD"/>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latin typeface="Arial"/>
              <a:ea typeface="Arial"/>
              <a:cs typeface="Arial"/>
              <a:sym typeface="Arial"/>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000000"/>
              </a:solidFill>
            </a:endParaRPr>
          </a:p>
          <a:p>
            <a:pPr indent="0" lvl="0" marL="0" rtl="0" algn="l">
              <a:spcBef>
                <a:spcPts val="400"/>
              </a:spcBef>
              <a:spcAft>
                <a:spcPts val="0"/>
              </a:spcAft>
              <a:buNone/>
            </a:pPr>
            <a:r>
              <a:t/>
            </a:r>
            <a:endParaRPr/>
          </a:p>
        </p:txBody>
      </p:sp>
      <p:sp>
        <p:nvSpPr>
          <p:cNvPr id="533" name="Google Shape;533;p78"/>
          <p:cNvSpPr txBox="1"/>
          <p:nvPr>
            <p:ph idx="1" type="body"/>
          </p:nvPr>
        </p:nvSpPr>
        <p:spPr>
          <a:xfrm>
            <a:off x="389850" y="2061025"/>
            <a:ext cx="8167800" cy="2519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ru" sz="1500">
                <a:solidFill>
                  <a:srgbClr val="303030"/>
                </a:solidFill>
                <a:latin typeface="Arial"/>
                <a:ea typeface="Arial"/>
                <a:cs typeface="Arial"/>
                <a:sym typeface="Arial"/>
              </a:rPr>
              <a:t>Свойство </a:t>
            </a:r>
            <a:r>
              <a:rPr lang="ru" sz="1500">
                <a:solidFill>
                  <a:srgbClr val="303030"/>
                </a:solidFill>
                <a:highlight>
                  <a:srgbClr val="D5A6BD"/>
                </a:highlight>
                <a:latin typeface="Arial"/>
                <a:ea typeface="Arial"/>
                <a:cs typeface="Arial"/>
                <a:sym typeface="Arial"/>
              </a:rPr>
              <a:t>animation-fill-mode</a:t>
            </a:r>
            <a:r>
              <a:rPr lang="ru" sz="1500">
                <a:solidFill>
                  <a:srgbClr val="303030"/>
                </a:solidFill>
                <a:latin typeface="Arial"/>
                <a:ea typeface="Arial"/>
                <a:cs typeface="Arial"/>
                <a:sym typeface="Arial"/>
              </a:rPr>
              <a:t> определяет, какие значения применяются анимацией вне времени ее выполнения. Когда анимация завершается, элемент возвращается к своим исходным стилям. По умолчанию анимация не влияет на значения свойств animation-name и animation-delay, когда анимация применяется к элементу. Кроме того, по умолчанию анимация не влияет на значения свойств animation-duration и animation-iteration-count после ее завершения. Свойство animation-fill-mode может переопределить это поведение.</a:t>
            </a:r>
            <a:endParaRPr sz="1500">
              <a:solidFill>
                <a:srgbClr val="303030"/>
              </a:solidFill>
              <a:latin typeface="Arial"/>
              <a:ea typeface="Arial"/>
              <a:cs typeface="Arial"/>
              <a:sym typeface="Arial"/>
            </a:endParaRPr>
          </a:p>
          <a:p>
            <a:pPr indent="0" lvl="0" marL="0" rtl="0" algn="l">
              <a:spcBef>
                <a:spcPts val="1100"/>
              </a:spcBef>
              <a:spcAft>
                <a:spcPts val="0"/>
              </a:spcAft>
              <a:buNone/>
            </a:pPr>
            <a:r>
              <a:rPr lang="ru" sz="1500">
                <a:solidFill>
                  <a:srgbClr val="303030"/>
                </a:solidFill>
                <a:latin typeface="Arial"/>
                <a:ea typeface="Arial"/>
                <a:cs typeface="Arial"/>
                <a:sym typeface="Arial"/>
              </a:rPr>
              <a:t>Свойство не наследуется.</a:t>
            </a:r>
            <a:endParaRPr sz="1500">
              <a:solidFill>
                <a:srgbClr val="303030"/>
              </a:solidFill>
              <a:latin typeface="Arial"/>
              <a:ea typeface="Arial"/>
              <a:cs typeface="Arial"/>
              <a:sym typeface="Arial"/>
            </a:endParaRPr>
          </a:p>
          <a:p>
            <a:pPr indent="0" lvl="0" marL="0" rtl="0" algn="just">
              <a:spcBef>
                <a:spcPts val="1100"/>
              </a:spcBef>
              <a:spcAft>
                <a:spcPts val="0"/>
              </a:spcAft>
              <a:buNone/>
            </a:pPr>
            <a:r>
              <a:t/>
            </a:r>
            <a:endParaRPr sz="1500">
              <a:solidFill>
                <a:srgbClr val="303030"/>
              </a:solidFill>
              <a:latin typeface="Arial"/>
              <a:ea typeface="Arial"/>
              <a:cs typeface="Arial"/>
              <a:sym typeface="Arial"/>
            </a:endParaRPr>
          </a:p>
          <a:p>
            <a:pPr indent="0" lvl="0" marL="0" rtl="0" algn="just">
              <a:spcBef>
                <a:spcPts val="1100"/>
              </a:spcBef>
              <a:spcAft>
                <a:spcPts val="0"/>
              </a:spcAft>
              <a:buNone/>
            </a:pPr>
            <a:r>
              <a:t/>
            </a:r>
            <a:endParaRPr sz="1500">
              <a:solidFill>
                <a:srgbClr val="303030"/>
              </a:solidFill>
              <a:latin typeface="Arial"/>
              <a:ea typeface="Arial"/>
              <a:cs typeface="Arial"/>
              <a:sym typeface="Arial"/>
            </a:endParaRPr>
          </a:p>
          <a:p>
            <a:pPr indent="0" lvl="0" marL="0" rtl="0" algn="just">
              <a:spcBef>
                <a:spcPts val="1100"/>
              </a:spcBef>
              <a:spcAft>
                <a:spcPts val="0"/>
              </a:spcAft>
              <a:buNone/>
            </a:pPr>
            <a:br>
              <a:rPr lang="ru" sz="1500">
                <a:solidFill>
                  <a:srgbClr val="303030"/>
                </a:solidFill>
                <a:latin typeface="Arial"/>
                <a:ea typeface="Arial"/>
                <a:cs typeface="Arial"/>
                <a:sym typeface="Arial"/>
              </a:rPr>
            </a:br>
            <a:endParaRPr sz="1500">
              <a:solidFill>
                <a:srgbClr val="30303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0"/>
              </a:spcBef>
              <a:spcAft>
                <a:spcPts val="0"/>
              </a:spcAft>
              <a:buNone/>
            </a:pPr>
            <a:r>
              <a:t/>
            </a:r>
            <a:endParaRPr sz="1500">
              <a:solidFill>
                <a:srgbClr val="000000"/>
              </a:solidFill>
              <a:latin typeface="Arial"/>
              <a:ea typeface="Arial"/>
              <a:cs typeface="Arial"/>
              <a:sym typeface="Arial"/>
            </a:endParaRPr>
          </a:p>
          <a:p>
            <a:pPr indent="0" lvl="0" marL="0" rtl="0" algn="just">
              <a:spcBef>
                <a:spcPts val="1100"/>
              </a:spcBef>
              <a:spcAft>
                <a:spcPts val="0"/>
              </a:spcAft>
              <a:buNone/>
            </a:pPr>
            <a:r>
              <a:rPr lang="ru" sz="1500">
                <a:solidFill>
                  <a:srgbClr val="000000"/>
                </a:solidFill>
                <a:latin typeface="Arial"/>
                <a:ea typeface="Arial"/>
                <a:cs typeface="Arial"/>
                <a:sym typeface="Arial"/>
              </a:rPr>
              <a:t> </a:t>
            </a:r>
            <a:endParaRPr sz="1500">
              <a:solidFill>
                <a:srgbClr val="000000"/>
              </a:solidFill>
              <a:latin typeface="Arial"/>
              <a:ea typeface="Arial"/>
              <a:cs typeface="Arial"/>
              <a:sym typeface="Arial"/>
            </a:endParaRPr>
          </a:p>
          <a:p>
            <a:pPr indent="0" lvl="0" marL="0" rtl="0" algn="just">
              <a:lnSpc>
                <a:spcPct val="95000"/>
              </a:lnSpc>
              <a:spcBef>
                <a:spcPts val="1100"/>
              </a:spcBef>
              <a:spcAft>
                <a:spcPts val="1100"/>
              </a:spcAft>
              <a:buSzPts val="1018"/>
              <a:buNone/>
            </a:pPr>
            <a:r>
              <a:t/>
            </a:r>
            <a:endParaRPr sz="1500">
              <a:solidFill>
                <a:srgbClr val="000000"/>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graphicFrame>
        <p:nvGraphicFramePr>
          <p:cNvPr id="538" name="Google Shape;538;p79"/>
          <p:cNvGraphicFramePr/>
          <p:nvPr/>
        </p:nvGraphicFramePr>
        <p:xfrm>
          <a:off x="306050" y="452138"/>
          <a:ext cx="3000000" cy="3000000"/>
        </p:xfrm>
        <a:graphic>
          <a:graphicData uri="http://schemas.openxmlformats.org/drawingml/2006/table">
            <a:tbl>
              <a:tblPr>
                <a:solidFill>
                  <a:srgbClr val="FFFFFF"/>
                </a:solidFill>
                <a:tableStyleId>{69577998-B902-4363-BD42-2B2995AA7EB3}</a:tableStyleId>
              </a:tblPr>
              <a:tblGrid>
                <a:gridCol w="1094625"/>
                <a:gridCol w="7442525"/>
              </a:tblGrid>
              <a:tr h="356975">
                <a:tc gridSpan="2">
                  <a:txBody>
                    <a:bodyPr/>
                    <a:lstStyle/>
                    <a:p>
                      <a:pPr indent="0" lvl="0" marL="0" rtl="0" algn="ctr">
                        <a:lnSpc>
                          <a:spcPct val="100000"/>
                        </a:lnSpc>
                        <a:spcBef>
                          <a:spcPts val="0"/>
                        </a:spcBef>
                        <a:spcAft>
                          <a:spcPts val="0"/>
                        </a:spcAft>
                        <a:buNone/>
                      </a:pPr>
                      <a:r>
                        <a:rPr b="1" lang="ru" sz="1200">
                          <a:highlight>
                            <a:srgbClr val="D5A6BD"/>
                          </a:highlight>
                        </a:rPr>
                        <a:t>animation-fill-mode</a:t>
                      </a:r>
                      <a:endParaRPr b="1" sz="1200">
                        <a:highlight>
                          <a:srgbClr val="D5A6BD"/>
                        </a:highlight>
                      </a:endParaRPr>
                    </a:p>
                  </a:txBody>
                  <a:tcPr marT="95250" marB="9525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8250">
                      <a:solidFill>
                        <a:srgbClr val="000000"/>
                      </a:solidFill>
                      <a:prstDash val="solid"/>
                      <a:round/>
                      <a:headEnd len="sm" w="sm" type="none"/>
                      <a:tailEnd len="sm" w="sm" type="none"/>
                    </a:lnB>
                  </a:tcPr>
                </a:tc>
                <a:tc hMerge="1"/>
              </a:tr>
              <a:tr h="320375">
                <a:tc>
                  <a:txBody>
                    <a:bodyPr/>
                    <a:lstStyle/>
                    <a:p>
                      <a:pPr indent="0" lvl="0" marL="0" rtl="0" algn="ctr">
                        <a:lnSpc>
                          <a:spcPct val="100000"/>
                        </a:lnSpc>
                        <a:spcBef>
                          <a:spcPts val="0"/>
                        </a:spcBef>
                        <a:spcAft>
                          <a:spcPts val="0"/>
                        </a:spcAft>
                        <a:buNone/>
                      </a:pPr>
                      <a:r>
                        <a:rPr b="1" lang="ru" sz="1200"/>
                        <a:t>Значения:</a:t>
                      </a:r>
                      <a:endParaRPr b="1"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00000"/>
                        </a:lnSpc>
                        <a:spcBef>
                          <a:spcPts val="0"/>
                        </a:spcBef>
                        <a:spcAft>
                          <a:spcPts val="0"/>
                        </a:spcAft>
                        <a:buNone/>
                      </a:pPr>
                      <a:r>
                        <a:rPr b="1" lang="ru" sz="1200"/>
                        <a:t>Описание</a:t>
                      </a:r>
                      <a:endParaRPr b="1" sz="1200"/>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82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48525">
                <a:tc>
                  <a:txBody>
                    <a:bodyPr/>
                    <a:lstStyle/>
                    <a:p>
                      <a:pPr indent="0" lvl="0" marL="0" rtl="0" algn="just">
                        <a:lnSpc>
                          <a:spcPct val="100000"/>
                        </a:lnSpc>
                        <a:spcBef>
                          <a:spcPts val="0"/>
                        </a:spcBef>
                        <a:spcAft>
                          <a:spcPts val="0"/>
                        </a:spcAft>
                        <a:buNone/>
                      </a:pPr>
                      <a:r>
                        <a:rPr lang="ru" sz="1200">
                          <a:solidFill>
                            <a:srgbClr val="303030"/>
                          </a:solidFill>
                        </a:rPr>
                        <a:t>none</a:t>
                      </a:r>
                      <a:endParaRPr sz="1200">
                        <a:solidFill>
                          <a:srgbClr val="303030"/>
                        </a:solidFill>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ru" sz="1200">
                          <a:solidFill>
                            <a:srgbClr val="303030"/>
                          </a:solidFill>
                        </a:rPr>
                        <a:t>Значение по умолчанию. Состояние элемента не меняется до или после воспроизведения анимации.</a:t>
                      </a:r>
                      <a:endParaRPr sz="1200">
                        <a:solidFill>
                          <a:srgbClr val="303030"/>
                        </a:solidFill>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267425">
                <a:tc>
                  <a:txBody>
                    <a:bodyPr/>
                    <a:lstStyle/>
                    <a:p>
                      <a:pPr indent="0" lvl="0" marL="0" rtl="0" algn="just">
                        <a:lnSpc>
                          <a:spcPct val="100000"/>
                        </a:lnSpc>
                        <a:spcBef>
                          <a:spcPts val="0"/>
                        </a:spcBef>
                        <a:spcAft>
                          <a:spcPts val="0"/>
                        </a:spcAft>
                        <a:buNone/>
                      </a:pPr>
                      <a:r>
                        <a:rPr lang="ru" sz="1200">
                          <a:solidFill>
                            <a:srgbClr val="303030"/>
                          </a:solidFill>
                        </a:rPr>
                        <a:t>forwards</a:t>
                      </a:r>
                      <a:endParaRPr sz="1200">
                        <a:solidFill>
                          <a:srgbClr val="303030"/>
                        </a:solidFill>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ru" sz="1200">
                          <a:solidFill>
                            <a:srgbClr val="303030"/>
                          </a:solidFill>
                        </a:rPr>
                        <a:t>После того, как анимация заканчивается (как определено значением animation-iteration-count), анимация будет применять значения свойств к моменту окончания анимации. Если animation-iteration-count больше нуля, применяются значения для конца последней завершенной итерации анимации (а не значения для начала итерации, которое будет следующим). Если значение animation-iteration-count равно нулю, применяемыми значениями будут те, которые начнут первую итерацию (так же, как и в режиме animation-fill-mode: backwards;).</a:t>
                      </a:r>
                      <a:endParaRPr sz="1200">
                        <a:solidFill>
                          <a:srgbClr val="303030"/>
                        </a:solidFill>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017675">
                <a:tc>
                  <a:txBody>
                    <a:bodyPr/>
                    <a:lstStyle/>
                    <a:p>
                      <a:pPr indent="0" lvl="0" marL="0" rtl="0" algn="just">
                        <a:lnSpc>
                          <a:spcPct val="100000"/>
                        </a:lnSpc>
                        <a:spcBef>
                          <a:spcPts val="0"/>
                        </a:spcBef>
                        <a:spcAft>
                          <a:spcPts val="0"/>
                        </a:spcAft>
                        <a:buNone/>
                      </a:pPr>
                      <a:r>
                        <a:rPr lang="ru" sz="1200">
                          <a:solidFill>
                            <a:srgbClr val="303030"/>
                          </a:solidFill>
                        </a:rPr>
                        <a:t>backwards</a:t>
                      </a:r>
                      <a:endParaRPr sz="1200">
                        <a:solidFill>
                          <a:srgbClr val="303030"/>
                        </a:solidFill>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ru" sz="1200">
                          <a:solidFill>
                            <a:srgbClr val="303030"/>
                          </a:solidFill>
                        </a:rPr>
                        <a:t>В течение периода, определенного с помощью animation-delay, анимация будет применять значения свойств, определенные в ключевом кадре, которые начнут первую итерацию анимации. Это либо значения ключевого кадра from (когда animation-direction: normal или animation-direction: alternate), либо значения ключевого кадра to (когда animation-direction: reverse или animation-direction: alternate).</a:t>
                      </a:r>
                      <a:endParaRPr sz="1200">
                        <a:solidFill>
                          <a:srgbClr val="303030"/>
                        </a:solidFill>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68200">
                <a:tc>
                  <a:txBody>
                    <a:bodyPr/>
                    <a:lstStyle/>
                    <a:p>
                      <a:pPr indent="0" lvl="0" marL="0" rtl="0" algn="just">
                        <a:lnSpc>
                          <a:spcPct val="100000"/>
                        </a:lnSpc>
                        <a:spcBef>
                          <a:spcPts val="0"/>
                        </a:spcBef>
                        <a:spcAft>
                          <a:spcPts val="0"/>
                        </a:spcAft>
                        <a:buNone/>
                      </a:pPr>
                      <a:r>
                        <a:rPr lang="ru" sz="1200">
                          <a:solidFill>
                            <a:srgbClr val="303030"/>
                          </a:solidFill>
                        </a:rPr>
                        <a:t>both</a:t>
                      </a:r>
                      <a:endParaRPr sz="1200">
                        <a:solidFill>
                          <a:srgbClr val="303030"/>
                        </a:solidFill>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just">
                        <a:lnSpc>
                          <a:spcPct val="100000"/>
                        </a:lnSpc>
                        <a:spcBef>
                          <a:spcPts val="0"/>
                        </a:spcBef>
                        <a:spcAft>
                          <a:spcPts val="0"/>
                        </a:spcAft>
                        <a:buNone/>
                      </a:pPr>
                      <a:r>
                        <a:rPr lang="ru" sz="1200">
                          <a:solidFill>
                            <a:srgbClr val="303030"/>
                          </a:solidFill>
                        </a:rPr>
                        <a:t>Позволяет оставлять элемент в первом ключевом кадре до начала анимации (игнорируя положительное значение задержки) и задерживать на последнем кадре до конца последней анимации.</a:t>
                      </a:r>
                      <a:endParaRPr sz="1200">
                        <a:solidFill>
                          <a:srgbClr val="303030"/>
                        </a:solidFill>
                      </a:endParaRPr>
                    </a:p>
                  </a:txBody>
                  <a:tcPr marT="76200" marB="76200" marR="142875" marL="142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80"/>
          <p:cNvSpPr txBox="1"/>
          <p:nvPr>
            <p:ph type="title"/>
          </p:nvPr>
        </p:nvSpPr>
        <p:spPr>
          <a:xfrm>
            <a:off x="484600" y="388175"/>
            <a:ext cx="8167800" cy="1672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3.9. </a:t>
            </a:r>
            <a:r>
              <a:rPr b="1" lang="ru" sz="2800">
                <a:solidFill>
                  <a:srgbClr val="303030"/>
                </a:solidFill>
                <a:highlight>
                  <a:srgbClr val="FFFFFF"/>
                </a:highlight>
              </a:rPr>
              <a:t>Состояние элемента до и после воспроизведения анимации: свойство </a:t>
            </a:r>
            <a:r>
              <a:rPr b="1" lang="ru" sz="2800">
                <a:solidFill>
                  <a:srgbClr val="303030"/>
                </a:solidFill>
                <a:highlight>
                  <a:srgbClr val="D5A6BD"/>
                </a:highlight>
              </a:rPr>
              <a:t>animation-fill-mode</a:t>
            </a:r>
            <a:endParaRPr b="1" sz="2800">
              <a:solidFill>
                <a:srgbClr val="303030"/>
              </a:solidFill>
              <a:highlight>
                <a:srgbClr val="D5A6BD"/>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latin typeface="Arial"/>
              <a:ea typeface="Arial"/>
              <a:cs typeface="Arial"/>
              <a:sym typeface="Arial"/>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000000"/>
              </a:solidFill>
            </a:endParaRPr>
          </a:p>
          <a:p>
            <a:pPr indent="0" lvl="0" marL="0" rtl="0" algn="l">
              <a:spcBef>
                <a:spcPts val="400"/>
              </a:spcBef>
              <a:spcAft>
                <a:spcPts val="0"/>
              </a:spcAft>
              <a:buNone/>
            </a:pPr>
            <a:r>
              <a:t/>
            </a:r>
            <a:endParaRPr/>
          </a:p>
        </p:txBody>
      </p:sp>
      <p:sp>
        <p:nvSpPr>
          <p:cNvPr id="544" name="Google Shape;544;p80"/>
          <p:cNvSpPr/>
          <p:nvPr/>
        </p:nvSpPr>
        <p:spPr>
          <a:xfrm>
            <a:off x="4457500" y="1786575"/>
            <a:ext cx="2826900" cy="2458200"/>
          </a:xfrm>
          <a:prstGeom prst="rect">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45" name="Google Shape;545;p80"/>
          <p:cNvSpPr txBox="1"/>
          <p:nvPr>
            <p:ph idx="1" type="body"/>
          </p:nvPr>
        </p:nvSpPr>
        <p:spPr>
          <a:xfrm>
            <a:off x="2489100" y="2060975"/>
            <a:ext cx="4165800" cy="2521500"/>
          </a:xfrm>
          <a:prstGeom prst="rect">
            <a:avLst/>
          </a:prstGeom>
          <a:solidFill>
            <a:schemeClr val="dk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just">
              <a:spcBef>
                <a:spcPts val="0"/>
              </a:spcBef>
              <a:spcAft>
                <a:spcPts val="0"/>
              </a:spcAft>
              <a:buNone/>
            </a:pPr>
            <a:r>
              <a:rPr lang="ru" sz="1500">
                <a:solidFill>
                  <a:srgbClr val="990055"/>
                </a:solidFill>
                <a:latin typeface="Arial"/>
                <a:ea typeface="Arial"/>
                <a:cs typeface="Arial"/>
                <a:sym typeface="Arial"/>
              </a:rPr>
              <a:t>animation-fill-mode</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none</a:t>
            </a:r>
            <a:r>
              <a:rPr lang="ru" sz="1500">
                <a:solidFill>
                  <a:srgbClr val="999999"/>
                </a:solidFill>
                <a:latin typeface="Arial"/>
                <a:ea typeface="Arial"/>
                <a:cs typeface="Arial"/>
                <a:sym typeface="Arial"/>
              </a:rPr>
              <a:t>;</a:t>
            </a:r>
            <a:endParaRPr sz="1500">
              <a:solidFill>
                <a:srgbClr val="303030"/>
              </a:solidFill>
              <a:latin typeface="Arial"/>
              <a:ea typeface="Arial"/>
              <a:cs typeface="Arial"/>
              <a:sym typeface="Arial"/>
            </a:endParaRPr>
          </a:p>
          <a:p>
            <a:pPr indent="0" lvl="0" marL="0" rtl="0" algn="just">
              <a:spcBef>
                <a:spcPts val="1100"/>
              </a:spcBef>
              <a:spcAft>
                <a:spcPts val="0"/>
              </a:spcAft>
              <a:buNone/>
            </a:pPr>
            <a:r>
              <a:rPr lang="ru" sz="1500">
                <a:solidFill>
                  <a:srgbClr val="990055"/>
                </a:solidFill>
                <a:latin typeface="Arial"/>
                <a:ea typeface="Arial"/>
                <a:cs typeface="Arial"/>
                <a:sym typeface="Arial"/>
              </a:rPr>
              <a:t>animation-fill-mode</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forwards</a:t>
            </a:r>
            <a:r>
              <a:rPr lang="ru" sz="1500">
                <a:solidFill>
                  <a:srgbClr val="999999"/>
                </a:solidFill>
                <a:latin typeface="Arial"/>
                <a:ea typeface="Arial"/>
                <a:cs typeface="Arial"/>
                <a:sym typeface="Arial"/>
              </a:rPr>
              <a:t>;</a:t>
            </a:r>
            <a:endParaRPr sz="1500">
              <a:solidFill>
                <a:srgbClr val="303030"/>
              </a:solidFill>
              <a:latin typeface="Arial"/>
              <a:ea typeface="Arial"/>
              <a:cs typeface="Arial"/>
              <a:sym typeface="Arial"/>
            </a:endParaRPr>
          </a:p>
          <a:p>
            <a:pPr indent="0" lvl="0" marL="0" rtl="0" algn="just">
              <a:spcBef>
                <a:spcPts val="1100"/>
              </a:spcBef>
              <a:spcAft>
                <a:spcPts val="0"/>
              </a:spcAft>
              <a:buNone/>
            </a:pPr>
            <a:r>
              <a:rPr lang="ru" sz="1500">
                <a:solidFill>
                  <a:srgbClr val="990055"/>
                </a:solidFill>
                <a:latin typeface="Arial"/>
                <a:ea typeface="Arial"/>
                <a:cs typeface="Arial"/>
                <a:sym typeface="Arial"/>
              </a:rPr>
              <a:t>animation-fill-mode</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backwards</a:t>
            </a:r>
            <a:r>
              <a:rPr lang="ru" sz="1500">
                <a:solidFill>
                  <a:srgbClr val="999999"/>
                </a:solidFill>
                <a:latin typeface="Arial"/>
                <a:ea typeface="Arial"/>
                <a:cs typeface="Arial"/>
                <a:sym typeface="Arial"/>
              </a:rPr>
              <a:t>;</a:t>
            </a:r>
            <a:endParaRPr sz="1500">
              <a:solidFill>
                <a:srgbClr val="303030"/>
              </a:solidFill>
              <a:latin typeface="Arial"/>
              <a:ea typeface="Arial"/>
              <a:cs typeface="Arial"/>
              <a:sym typeface="Arial"/>
            </a:endParaRPr>
          </a:p>
          <a:p>
            <a:pPr indent="0" lvl="0" marL="0" rtl="0" algn="just">
              <a:spcBef>
                <a:spcPts val="1100"/>
              </a:spcBef>
              <a:spcAft>
                <a:spcPts val="0"/>
              </a:spcAft>
              <a:buNone/>
            </a:pPr>
            <a:r>
              <a:rPr lang="ru" sz="1500">
                <a:solidFill>
                  <a:srgbClr val="990055"/>
                </a:solidFill>
                <a:latin typeface="Arial"/>
                <a:ea typeface="Arial"/>
                <a:cs typeface="Arial"/>
                <a:sym typeface="Arial"/>
              </a:rPr>
              <a:t>animation-fill-mode</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both</a:t>
            </a:r>
            <a:r>
              <a:rPr lang="ru" sz="1500">
                <a:solidFill>
                  <a:srgbClr val="999999"/>
                </a:solidFill>
                <a:latin typeface="Arial"/>
                <a:ea typeface="Arial"/>
                <a:cs typeface="Arial"/>
                <a:sym typeface="Arial"/>
              </a:rPr>
              <a:t>;</a:t>
            </a:r>
            <a:endParaRPr sz="1500">
              <a:solidFill>
                <a:srgbClr val="303030"/>
              </a:solidFill>
              <a:latin typeface="Arial"/>
              <a:ea typeface="Arial"/>
              <a:cs typeface="Arial"/>
              <a:sym typeface="Arial"/>
            </a:endParaRPr>
          </a:p>
          <a:p>
            <a:pPr indent="0" lvl="0" marL="0" rtl="0" algn="just">
              <a:spcBef>
                <a:spcPts val="1100"/>
              </a:spcBef>
              <a:spcAft>
                <a:spcPts val="0"/>
              </a:spcAft>
              <a:buNone/>
            </a:pPr>
            <a:r>
              <a:rPr lang="ru" sz="1500">
                <a:solidFill>
                  <a:srgbClr val="990055"/>
                </a:solidFill>
                <a:latin typeface="Arial"/>
                <a:ea typeface="Arial"/>
                <a:cs typeface="Arial"/>
                <a:sym typeface="Arial"/>
              </a:rPr>
              <a:t>animation-fill-mode</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none</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backwards</a:t>
            </a:r>
            <a:r>
              <a:rPr lang="ru" sz="1500">
                <a:solidFill>
                  <a:srgbClr val="999999"/>
                </a:solidFill>
                <a:latin typeface="Arial"/>
                <a:ea typeface="Arial"/>
                <a:cs typeface="Arial"/>
                <a:sym typeface="Arial"/>
              </a:rPr>
              <a:t>;</a:t>
            </a:r>
            <a:endParaRPr sz="1500">
              <a:solidFill>
                <a:srgbClr val="303030"/>
              </a:solidFill>
              <a:latin typeface="Arial"/>
              <a:ea typeface="Arial"/>
              <a:cs typeface="Arial"/>
              <a:sym typeface="Arial"/>
            </a:endParaRPr>
          </a:p>
          <a:p>
            <a:pPr indent="0" lvl="0" marL="0" marR="190500" rtl="0" algn="l">
              <a:lnSpc>
                <a:spcPct val="150000"/>
              </a:lnSpc>
              <a:spcBef>
                <a:spcPts val="1100"/>
              </a:spcBef>
              <a:spcAft>
                <a:spcPts val="0"/>
              </a:spcAft>
              <a:buNone/>
            </a:pPr>
            <a:r>
              <a:rPr lang="ru" sz="1500">
                <a:solidFill>
                  <a:srgbClr val="990055"/>
                </a:solidFill>
                <a:latin typeface="Arial"/>
                <a:ea typeface="Arial"/>
                <a:cs typeface="Arial"/>
                <a:sym typeface="Arial"/>
              </a:rPr>
              <a:t>animation-fill-mode</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both</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forwards</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none</a:t>
            </a:r>
            <a:r>
              <a:rPr lang="ru" sz="1500">
                <a:solidFill>
                  <a:srgbClr val="999999"/>
                </a:solidFill>
                <a:latin typeface="Arial"/>
                <a:ea typeface="Arial"/>
                <a:cs typeface="Arial"/>
                <a:sym typeface="Arial"/>
              </a:rPr>
              <a:t>;</a:t>
            </a:r>
            <a:endParaRPr sz="1500">
              <a:solidFill>
                <a:srgbClr val="999999"/>
              </a:solidFill>
              <a:latin typeface="Arial"/>
              <a:ea typeface="Arial"/>
              <a:cs typeface="Arial"/>
              <a:sym typeface="Arial"/>
            </a:endParaRPr>
          </a:p>
          <a:p>
            <a:pPr indent="0" lvl="0" marL="0" rtl="0" algn="just">
              <a:spcBef>
                <a:spcPts val="2300"/>
              </a:spcBef>
              <a:spcAft>
                <a:spcPts val="0"/>
              </a:spcAft>
              <a:buNone/>
            </a:pPr>
            <a:r>
              <a:t/>
            </a:r>
            <a:endParaRPr sz="1500">
              <a:solidFill>
                <a:srgbClr val="303030"/>
              </a:solidFill>
              <a:latin typeface="Arial"/>
              <a:ea typeface="Arial"/>
              <a:cs typeface="Arial"/>
              <a:sym typeface="Arial"/>
            </a:endParaRPr>
          </a:p>
          <a:p>
            <a:pPr indent="0" lvl="0" marL="0" rtl="0" algn="just">
              <a:spcBef>
                <a:spcPts val="1100"/>
              </a:spcBef>
              <a:spcAft>
                <a:spcPts val="0"/>
              </a:spcAft>
              <a:buNone/>
            </a:pPr>
            <a:r>
              <a:t/>
            </a:r>
            <a:endParaRPr sz="1500">
              <a:solidFill>
                <a:srgbClr val="303030"/>
              </a:solidFill>
              <a:latin typeface="Arial"/>
              <a:ea typeface="Arial"/>
              <a:cs typeface="Arial"/>
              <a:sym typeface="Arial"/>
            </a:endParaRPr>
          </a:p>
          <a:p>
            <a:pPr indent="0" lvl="0" marL="0" rtl="0" algn="just">
              <a:spcBef>
                <a:spcPts val="1100"/>
              </a:spcBef>
              <a:spcAft>
                <a:spcPts val="0"/>
              </a:spcAft>
              <a:buNone/>
            </a:pPr>
            <a:br>
              <a:rPr lang="ru" sz="1500">
                <a:solidFill>
                  <a:srgbClr val="303030"/>
                </a:solidFill>
                <a:latin typeface="Arial"/>
                <a:ea typeface="Arial"/>
                <a:cs typeface="Arial"/>
                <a:sym typeface="Arial"/>
              </a:rPr>
            </a:br>
            <a:endParaRPr sz="1500">
              <a:solidFill>
                <a:srgbClr val="30303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0"/>
              </a:spcBef>
              <a:spcAft>
                <a:spcPts val="0"/>
              </a:spcAft>
              <a:buNone/>
            </a:pPr>
            <a:r>
              <a:t/>
            </a:r>
            <a:endParaRPr sz="1500">
              <a:solidFill>
                <a:srgbClr val="000000"/>
              </a:solidFill>
              <a:latin typeface="Arial"/>
              <a:ea typeface="Arial"/>
              <a:cs typeface="Arial"/>
              <a:sym typeface="Arial"/>
            </a:endParaRPr>
          </a:p>
          <a:p>
            <a:pPr indent="0" lvl="0" marL="0" rtl="0" algn="just">
              <a:spcBef>
                <a:spcPts val="1100"/>
              </a:spcBef>
              <a:spcAft>
                <a:spcPts val="0"/>
              </a:spcAft>
              <a:buNone/>
            </a:pPr>
            <a:r>
              <a:rPr lang="ru" sz="1500">
                <a:solidFill>
                  <a:srgbClr val="000000"/>
                </a:solidFill>
                <a:latin typeface="Arial"/>
                <a:ea typeface="Arial"/>
                <a:cs typeface="Arial"/>
                <a:sym typeface="Arial"/>
              </a:rPr>
              <a:t> </a:t>
            </a:r>
            <a:endParaRPr sz="1500">
              <a:solidFill>
                <a:srgbClr val="000000"/>
              </a:solidFill>
              <a:latin typeface="Arial"/>
              <a:ea typeface="Arial"/>
              <a:cs typeface="Arial"/>
              <a:sym typeface="Arial"/>
            </a:endParaRPr>
          </a:p>
          <a:p>
            <a:pPr indent="0" lvl="0" marL="0" rtl="0" algn="just">
              <a:lnSpc>
                <a:spcPct val="95000"/>
              </a:lnSpc>
              <a:spcBef>
                <a:spcPts val="1100"/>
              </a:spcBef>
              <a:spcAft>
                <a:spcPts val="1100"/>
              </a:spcAft>
              <a:buSzPts val="1018"/>
              <a:buNone/>
            </a:pPr>
            <a:r>
              <a:t/>
            </a:r>
            <a:endParaRPr sz="1500">
              <a:solidFill>
                <a:srgbClr val="000000"/>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81"/>
          <p:cNvSpPr txBox="1"/>
          <p:nvPr>
            <p:ph type="title"/>
          </p:nvPr>
        </p:nvSpPr>
        <p:spPr>
          <a:xfrm>
            <a:off x="484600" y="388175"/>
            <a:ext cx="8167800" cy="11679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3.10. </a:t>
            </a:r>
            <a:r>
              <a:rPr b="1" lang="ru" sz="2800">
                <a:solidFill>
                  <a:srgbClr val="303030"/>
                </a:solidFill>
                <a:highlight>
                  <a:srgbClr val="FFFFFF"/>
                </a:highlight>
              </a:rPr>
              <a:t>Краткая запись анимации: свойство </a:t>
            </a:r>
            <a:r>
              <a:rPr b="1" lang="ru" sz="2800">
                <a:solidFill>
                  <a:srgbClr val="303030"/>
                </a:solidFill>
                <a:highlight>
                  <a:srgbClr val="D5A6BD"/>
                </a:highlight>
              </a:rPr>
              <a:t>animation</a:t>
            </a:r>
            <a:endParaRPr b="1" sz="2800">
              <a:solidFill>
                <a:srgbClr val="303030"/>
              </a:solidFill>
              <a:highlight>
                <a:srgbClr val="D5A6BD"/>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latin typeface="Arial"/>
              <a:ea typeface="Arial"/>
              <a:cs typeface="Arial"/>
              <a:sym typeface="Arial"/>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000000"/>
              </a:solidFill>
            </a:endParaRPr>
          </a:p>
          <a:p>
            <a:pPr indent="0" lvl="0" marL="0" rtl="0" algn="l">
              <a:spcBef>
                <a:spcPts val="400"/>
              </a:spcBef>
              <a:spcAft>
                <a:spcPts val="0"/>
              </a:spcAft>
              <a:buNone/>
            </a:pPr>
            <a:r>
              <a:t/>
            </a:r>
            <a:endParaRPr/>
          </a:p>
        </p:txBody>
      </p:sp>
      <p:sp>
        <p:nvSpPr>
          <p:cNvPr id="551" name="Google Shape;551;p81"/>
          <p:cNvSpPr txBox="1"/>
          <p:nvPr>
            <p:ph idx="1" type="body"/>
          </p:nvPr>
        </p:nvSpPr>
        <p:spPr>
          <a:xfrm>
            <a:off x="420575" y="1692300"/>
            <a:ext cx="8167800" cy="27060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ru" sz="1500">
                <a:solidFill>
                  <a:srgbClr val="303030"/>
                </a:solidFill>
                <a:latin typeface="Arial"/>
                <a:ea typeface="Arial"/>
                <a:cs typeface="Arial"/>
                <a:sym typeface="Arial"/>
              </a:rPr>
              <a:t>Все параметры воспроизведения анимации можно объединить в одном свойстве — </a:t>
            </a:r>
            <a:r>
              <a:rPr lang="ru" sz="1500">
                <a:solidFill>
                  <a:srgbClr val="303030"/>
                </a:solidFill>
                <a:highlight>
                  <a:srgbClr val="D5A6BD"/>
                </a:highlight>
                <a:latin typeface="Arial"/>
                <a:ea typeface="Arial"/>
                <a:cs typeface="Arial"/>
                <a:sym typeface="Arial"/>
              </a:rPr>
              <a:t>animation</a:t>
            </a:r>
            <a:r>
              <a:rPr lang="ru" sz="1500">
                <a:solidFill>
                  <a:srgbClr val="303030"/>
                </a:solidFill>
                <a:latin typeface="Arial"/>
                <a:ea typeface="Arial"/>
                <a:cs typeface="Arial"/>
                <a:sym typeface="Arial"/>
              </a:rPr>
              <a:t>, перечислив их через пробел:</a:t>
            </a:r>
            <a:br>
              <a:rPr lang="ru" sz="1500">
                <a:solidFill>
                  <a:srgbClr val="303030"/>
                </a:solidFill>
                <a:latin typeface="Arial"/>
                <a:ea typeface="Arial"/>
                <a:cs typeface="Arial"/>
                <a:sym typeface="Arial"/>
              </a:rPr>
            </a:br>
            <a:r>
              <a:rPr lang="ru" sz="1500">
                <a:solidFill>
                  <a:srgbClr val="303030"/>
                </a:solidFill>
                <a:latin typeface="Arial"/>
                <a:ea typeface="Arial"/>
                <a:cs typeface="Arial"/>
                <a:sym typeface="Arial"/>
              </a:rPr>
              <a:t>animation: animation-name animation-duration animation-timing-function animation-delay animation-iteration-count animation-direction;</a:t>
            </a:r>
            <a:endParaRPr sz="1500">
              <a:solidFill>
                <a:srgbClr val="303030"/>
              </a:solidFill>
              <a:latin typeface="Arial"/>
              <a:ea typeface="Arial"/>
              <a:cs typeface="Arial"/>
              <a:sym typeface="Arial"/>
            </a:endParaRPr>
          </a:p>
          <a:p>
            <a:pPr indent="0" lvl="0" marL="0" rtl="0" algn="just">
              <a:spcBef>
                <a:spcPts val="1100"/>
              </a:spcBef>
              <a:spcAft>
                <a:spcPts val="0"/>
              </a:spcAft>
              <a:buNone/>
            </a:pPr>
            <a:r>
              <a:rPr lang="ru" sz="1500">
                <a:solidFill>
                  <a:srgbClr val="303030"/>
                </a:solidFill>
                <a:latin typeface="Arial"/>
                <a:ea typeface="Arial"/>
                <a:cs typeface="Arial"/>
                <a:sym typeface="Arial"/>
              </a:rPr>
              <a:t>Для воспроизведения анимации достаточно указать только два свойства — animation-name и animation-duration, остальные свойства примут значения по умолчанию. Порядок перечисления свойств не имеет значения, единственное, время выполнения анимации animation-duration обязательно должно стоять перед задержкой animation-delay.</a:t>
            </a:r>
            <a:endParaRPr sz="1500">
              <a:solidFill>
                <a:srgbClr val="303030"/>
              </a:solidFill>
              <a:latin typeface="Arial"/>
              <a:ea typeface="Arial"/>
              <a:cs typeface="Arial"/>
              <a:sym typeface="Arial"/>
            </a:endParaRPr>
          </a:p>
          <a:p>
            <a:pPr indent="0" lvl="0" marL="0" rtl="0" algn="just">
              <a:spcBef>
                <a:spcPts val="1100"/>
              </a:spcBef>
              <a:spcAft>
                <a:spcPts val="0"/>
              </a:spcAft>
              <a:buNone/>
            </a:pPr>
            <a:r>
              <a:t/>
            </a:r>
            <a:endParaRPr sz="1500">
              <a:solidFill>
                <a:srgbClr val="303030"/>
              </a:solidFill>
              <a:latin typeface="Arial"/>
              <a:ea typeface="Arial"/>
              <a:cs typeface="Arial"/>
              <a:sym typeface="Arial"/>
            </a:endParaRPr>
          </a:p>
          <a:p>
            <a:pPr indent="0" lvl="0" marL="0" rtl="0" algn="just">
              <a:spcBef>
                <a:spcPts val="1100"/>
              </a:spcBef>
              <a:spcAft>
                <a:spcPts val="0"/>
              </a:spcAft>
              <a:buNone/>
            </a:pPr>
            <a:r>
              <a:t/>
            </a:r>
            <a:endParaRPr sz="1500">
              <a:solidFill>
                <a:srgbClr val="303030"/>
              </a:solidFill>
              <a:latin typeface="Arial"/>
              <a:ea typeface="Arial"/>
              <a:cs typeface="Arial"/>
              <a:sym typeface="Arial"/>
            </a:endParaRPr>
          </a:p>
          <a:p>
            <a:pPr indent="0" lvl="0" marL="0" rtl="0" algn="just">
              <a:spcBef>
                <a:spcPts val="1100"/>
              </a:spcBef>
              <a:spcAft>
                <a:spcPts val="0"/>
              </a:spcAft>
              <a:buNone/>
            </a:pPr>
            <a:r>
              <a:t/>
            </a:r>
            <a:endParaRPr sz="1500">
              <a:solidFill>
                <a:srgbClr val="303030"/>
              </a:solidFill>
              <a:latin typeface="Arial"/>
              <a:ea typeface="Arial"/>
              <a:cs typeface="Arial"/>
              <a:sym typeface="Arial"/>
            </a:endParaRPr>
          </a:p>
          <a:p>
            <a:pPr indent="0" lvl="0" marL="0" rtl="0" algn="just">
              <a:spcBef>
                <a:spcPts val="1100"/>
              </a:spcBef>
              <a:spcAft>
                <a:spcPts val="0"/>
              </a:spcAft>
              <a:buNone/>
            </a:pPr>
            <a:br>
              <a:rPr lang="ru" sz="1500">
                <a:solidFill>
                  <a:srgbClr val="303030"/>
                </a:solidFill>
                <a:latin typeface="Arial"/>
                <a:ea typeface="Arial"/>
                <a:cs typeface="Arial"/>
                <a:sym typeface="Arial"/>
              </a:rPr>
            </a:br>
            <a:endParaRPr sz="1500">
              <a:solidFill>
                <a:srgbClr val="30303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0"/>
              </a:spcBef>
              <a:spcAft>
                <a:spcPts val="0"/>
              </a:spcAft>
              <a:buNone/>
            </a:pPr>
            <a:r>
              <a:t/>
            </a:r>
            <a:endParaRPr sz="1500">
              <a:solidFill>
                <a:srgbClr val="000000"/>
              </a:solidFill>
              <a:latin typeface="Arial"/>
              <a:ea typeface="Arial"/>
              <a:cs typeface="Arial"/>
              <a:sym typeface="Arial"/>
            </a:endParaRPr>
          </a:p>
          <a:p>
            <a:pPr indent="0" lvl="0" marL="0" rtl="0" algn="just">
              <a:spcBef>
                <a:spcPts val="1100"/>
              </a:spcBef>
              <a:spcAft>
                <a:spcPts val="0"/>
              </a:spcAft>
              <a:buNone/>
            </a:pPr>
            <a:r>
              <a:rPr lang="ru" sz="1500">
                <a:solidFill>
                  <a:srgbClr val="000000"/>
                </a:solidFill>
                <a:latin typeface="Arial"/>
                <a:ea typeface="Arial"/>
                <a:cs typeface="Arial"/>
                <a:sym typeface="Arial"/>
              </a:rPr>
              <a:t> </a:t>
            </a:r>
            <a:endParaRPr sz="1500">
              <a:solidFill>
                <a:srgbClr val="000000"/>
              </a:solidFill>
              <a:latin typeface="Arial"/>
              <a:ea typeface="Arial"/>
              <a:cs typeface="Arial"/>
              <a:sym typeface="Arial"/>
            </a:endParaRPr>
          </a:p>
          <a:p>
            <a:pPr indent="0" lvl="0" marL="0" rtl="0" algn="just">
              <a:lnSpc>
                <a:spcPct val="95000"/>
              </a:lnSpc>
              <a:spcBef>
                <a:spcPts val="1100"/>
              </a:spcBef>
              <a:spcAft>
                <a:spcPts val="1100"/>
              </a:spcAft>
              <a:buSzPts val="1018"/>
              <a:buNone/>
            </a:pPr>
            <a:r>
              <a:t/>
            </a:r>
            <a:endParaRPr sz="1500">
              <a:solidFill>
                <a:srgbClr val="000000"/>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82"/>
          <p:cNvSpPr/>
          <p:nvPr/>
        </p:nvSpPr>
        <p:spPr>
          <a:xfrm>
            <a:off x="572025" y="1099575"/>
            <a:ext cx="7763700" cy="1943700"/>
          </a:xfrm>
          <a:prstGeom prst="rect">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57" name="Google Shape;557;p82"/>
          <p:cNvSpPr txBox="1"/>
          <p:nvPr/>
        </p:nvSpPr>
        <p:spPr>
          <a:xfrm>
            <a:off x="4341075" y="1306850"/>
            <a:ext cx="3876600" cy="1520400"/>
          </a:xfrm>
          <a:prstGeom prst="rect">
            <a:avLst/>
          </a:prstGeom>
          <a:solidFill>
            <a:schemeClr val="dk1"/>
          </a:solid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ru" sz="1350"/>
              <a:t>/* Краткая запись */</a:t>
            </a:r>
            <a:endParaRPr sz="1350"/>
          </a:p>
          <a:p>
            <a:pPr indent="0" lvl="0" marL="0" rtl="0" algn="l">
              <a:lnSpc>
                <a:spcPct val="135714"/>
              </a:lnSpc>
              <a:spcBef>
                <a:spcPts val="0"/>
              </a:spcBef>
              <a:spcAft>
                <a:spcPts val="0"/>
              </a:spcAft>
              <a:buNone/>
            </a:pPr>
            <a:r>
              <a:rPr lang="ru" sz="1350"/>
              <a:t>.element {</a:t>
            </a:r>
            <a:endParaRPr sz="1350"/>
          </a:p>
          <a:p>
            <a:pPr indent="0" lvl="0" marL="0" rtl="0" algn="l">
              <a:lnSpc>
                <a:spcPct val="135714"/>
              </a:lnSpc>
              <a:spcBef>
                <a:spcPts val="0"/>
              </a:spcBef>
              <a:spcAft>
                <a:spcPts val="0"/>
              </a:spcAft>
              <a:buNone/>
            </a:pPr>
            <a:r>
              <a:rPr lang="ru" sz="1350"/>
              <a:t>  animation: slideIn 1s ease-out 0.3s infinite alternate forwards;</a:t>
            </a:r>
            <a:endParaRPr sz="1350"/>
          </a:p>
          <a:p>
            <a:pPr indent="0" lvl="0" marL="0" rtl="0" algn="l">
              <a:lnSpc>
                <a:spcPct val="135714"/>
              </a:lnSpc>
              <a:spcBef>
                <a:spcPts val="0"/>
              </a:spcBef>
              <a:spcAft>
                <a:spcPts val="0"/>
              </a:spcAft>
              <a:buNone/>
            </a:pPr>
            <a:r>
              <a:rPr lang="ru" sz="1350"/>
              <a:t>}</a:t>
            </a:r>
            <a:endParaRPr sz="1300">
              <a:solidFill>
                <a:schemeClr val="dk2"/>
              </a:solidFill>
            </a:endParaRPr>
          </a:p>
        </p:txBody>
      </p:sp>
      <p:sp>
        <p:nvSpPr>
          <p:cNvPr id="558" name="Google Shape;558;p82"/>
          <p:cNvSpPr txBox="1"/>
          <p:nvPr>
            <p:ph idx="1" type="body"/>
          </p:nvPr>
        </p:nvSpPr>
        <p:spPr>
          <a:xfrm>
            <a:off x="776975" y="530475"/>
            <a:ext cx="3166800" cy="2985300"/>
          </a:xfrm>
          <a:prstGeom prst="rect">
            <a:avLst/>
          </a:prstGeom>
          <a:solidFill>
            <a:schemeClr val="dk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ru" sz="1350">
                <a:solidFill>
                  <a:srgbClr val="000000"/>
                </a:solidFill>
                <a:latin typeface="Arial"/>
                <a:ea typeface="Arial"/>
                <a:cs typeface="Arial"/>
                <a:sym typeface="Arial"/>
              </a:rPr>
              <a:t>/* Полная запись */</a:t>
            </a:r>
            <a:endParaRPr sz="1350">
              <a:solidFill>
                <a:srgbClr val="000000"/>
              </a:solidFill>
              <a:latin typeface="Arial"/>
              <a:ea typeface="Arial"/>
              <a:cs typeface="Arial"/>
              <a:sym typeface="Arial"/>
            </a:endParaRPr>
          </a:p>
          <a:p>
            <a:pPr indent="0" lvl="0" marL="0" rtl="0" algn="l">
              <a:lnSpc>
                <a:spcPct val="135714"/>
              </a:lnSpc>
              <a:spcBef>
                <a:spcPts val="0"/>
              </a:spcBef>
              <a:spcAft>
                <a:spcPts val="0"/>
              </a:spcAft>
              <a:buNone/>
            </a:pPr>
            <a:r>
              <a:rPr lang="ru" sz="1350">
                <a:solidFill>
                  <a:srgbClr val="000000"/>
                </a:solidFill>
                <a:latin typeface="Arial"/>
                <a:ea typeface="Arial"/>
                <a:cs typeface="Arial"/>
                <a:sym typeface="Arial"/>
              </a:rPr>
              <a:t>.element {</a:t>
            </a:r>
            <a:endParaRPr sz="1350">
              <a:solidFill>
                <a:srgbClr val="000000"/>
              </a:solidFill>
              <a:latin typeface="Arial"/>
              <a:ea typeface="Arial"/>
              <a:cs typeface="Arial"/>
              <a:sym typeface="Arial"/>
            </a:endParaRPr>
          </a:p>
          <a:p>
            <a:pPr indent="0" lvl="0" marL="0" rtl="0" algn="l">
              <a:lnSpc>
                <a:spcPct val="135714"/>
              </a:lnSpc>
              <a:spcBef>
                <a:spcPts val="0"/>
              </a:spcBef>
              <a:spcAft>
                <a:spcPts val="0"/>
              </a:spcAft>
              <a:buNone/>
            </a:pPr>
            <a:r>
              <a:rPr lang="ru" sz="1350">
                <a:solidFill>
                  <a:srgbClr val="000000"/>
                </a:solidFill>
                <a:latin typeface="Arial"/>
                <a:ea typeface="Arial"/>
                <a:cs typeface="Arial"/>
                <a:sym typeface="Arial"/>
              </a:rPr>
              <a:t>  animation-name: slideIn;</a:t>
            </a:r>
            <a:endParaRPr sz="1350">
              <a:solidFill>
                <a:srgbClr val="000000"/>
              </a:solidFill>
              <a:latin typeface="Arial"/>
              <a:ea typeface="Arial"/>
              <a:cs typeface="Arial"/>
              <a:sym typeface="Arial"/>
            </a:endParaRPr>
          </a:p>
          <a:p>
            <a:pPr indent="0" lvl="0" marL="0" rtl="0" algn="l">
              <a:lnSpc>
                <a:spcPct val="135714"/>
              </a:lnSpc>
              <a:spcBef>
                <a:spcPts val="0"/>
              </a:spcBef>
              <a:spcAft>
                <a:spcPts val="0"/>
              </a:spcAft>
              <a:buNone/>
            </a:pPr>
            <a:r>
              <a:rPr lang="ru" sz="1350">
                <a:solidFill>
                  <a:srgbClr val="000000"/>
                </a:solidFill>
                <a:latin typeface="Arial"/>
                <a:ea typeface="Arial"/>
                <a:cs typeface="Arial"/>
                <a:sym typeface="Arial"/>
              </a:rPr>
              <a:t>  animation-duration: 1s;</a:t>
            </a:r>
            <a:endParaRPr sz="1350">
              <a:solidFill>
                <a:srgbClr val="000000"/>
              </a:solidFill>
              <a:latin typeface="Arial"/>
              <a:ea typeface="Arial"/>
              <a:cs typeface="Arial"/>
              <a:sym typeface="Arial"/>
            </a:endParaRPr>
          </a:p>
          <a:p>
            <a:pPr indent="0" lvl="0" marL="0" rtl="0" algn="l">
              <a:lnSpc>
                <a:spcPct val="135714"/>
              </a:lnSpc>
              <a:spcBef>
                <a:spcPts val="0"/>
              </a:spcBef>
              <a:spcAft>
                <a:spcPts val="0"/>
              </a:spcAft>
              <a:buNone/>
            </a:pPr>
            <a:r>
              <a:rPr lang="ru" sz="1350">
                <a:solidFill>
                  <a:srgbClr val="000000"/>
                </a:solidFill>
                <a:latin typeface="Arial"/>
                <a:ea typeface="Arial"/>
                <a:cs typeface="Arial"/>
                <a:sym typeface="Arial"/>
              </a:rPr>
              <a:t>  animation-timing-function: ease-out;</a:t>
            </a:r>
            <a:endParaRPr sz="1350">
              <a:solidFill>
                <a:srgbClr val="000000"/>
              </a:solidFill>
              <a:latin typeface="Arial"/>
              <a:ea typeface="Arial"/>
              <a:cs typeface="Arial"/>
              <a:sym typeface="Arial"/>
            </a:endParaRPr>
          </a:p>
          <a:p>
            <a:pPr indent="0" lvl="0" marL="0" rtl="0" algn="l">
              <a:lnSpc>
                <a:spcPct val="135714"/>
              </a:lnSpc>
              <a:spcBef>
                <a:spcPts val="0"/>
              </a:spcBef>
              <a:spcAft>
                <a:spcPts val="0"/>
              </a:spcAft>
              <a:buNone/>
            </a:pPr>
            <a:r>
              <a:rPr lang="ru" sz="1350">
                <a:solidFill>
                  <a:srgbClr val="000000"/>
                </a:solidFill>
                <a:latin typeface="Arial"/>
                <a:ea typeface="Arial"/>
                <a:cs typeface="Arial"/>
                <a:sym typeface="Arial"/>
              </a:rPr>
              <a:t>  animation-delay: 0.3s;</a:t>
            </a:r>
            <a:endParaRPr sz="1350">
              <a:solidFill>
                <a:srgbClr val="000000"/>
              </a:solidFill>
              <a:latin typeface="Arial"/>
              <a:ea typeface="Arial"/>
              <a:cs typeface="Arial"/>
              <a:sym typeface="Arial"/>
            </a:endParaRPr>
          </a:p>
          <a:p>
            <a:pPr indent="0" lvl="0" marL="0" rtl="0" algn="l">
              <a:lnSpc>
                <a:spcPct val="135714"/>
              </a:lnSpc>
              <a:spcBef>
                <a:spcPts val="0"/>
              </a:spcBef>
              <a:spcAft>
                <a:spcPts val="0"/>
              </a:spcAft>
              <a:buNone/>
            </a:pPr>
            <a:r>
              <a:rPr lang="ru" sz="1350">
                <a:solidFill>
                  <a:srgbClr val="000000"/>
                </a:solidFill>
                <a:latin typeface="Arial"/>
                <a:ea typeface="Arial"/>
                <a:cs typeface="Arial"/>
                <a:sym typeface="Arial"/>
              </a:rPr>
              <a:t>  animation-iteration-count: infinite;</a:t>
            </a:r>
            <a:endParaRPr sz="1350">
              <a:solidFill>
                <a:srgbClr val="000000"/>
              </a:solidFill>
              <a:latin typeface="Arial"/>
              <a:ea typeface="Arial"/>
              <a:cs typeface="Arial"/>
              <a:sym typeface="Arial"/>
            </a:endParaRPr>
          </a:p>
          <a:p>
            <a:pPr indent="0" lvl="0" marL="0" rtl="0" algn="l">
              <a:lnSpc>
                <a:spcPct val="135714"/>
              </a:lnSpc>
              <a:spcBef>
                <a:spcPts val="0"/>
              </a:spcBef>
              <a:spcAft>
                <a:spcPts val="0"/>
              </a:spcAft>
              <a:buNone/>
            </a:pPr>
            <a:r>
              <a:rPr lang="ru" sz="1350">
                <a:solidFill>
                  <a:srgbClr val="000000"/>
                </a:solidFill>
                <a:latin typeface="Arial"/>
                <a:ea typeface="Arial"/>
                <a:cs typeface="Arial"/>
                <a:sym typeface="Arial"/>
              </a:rPr>
              <a:t>  animation-direction: alternate;</a:t>
            </a:r>
            <a:endParaRPr sz="1350">
              <a:solidFill>
                <a:srgbClr val="000000"/>
              </a:solidFill>
              <a:latin typeface="Arial"/>
              <a:ea typeface="Arial"/>
              <a:cs typeface="Arial"/>
              <a:sym typeface="Arial"/>
            </a:endParaRPr>
          </a:p>
          <a:p>
            <a:pPr indent="0" lvl="0" marL="0" rtl="0" algn="l">
              <a:lnSpc>
                <a:spcPct val="135714"/>
              </a:lnSpc>
              <a:spcBef>
                <a:spcPts val="0"/>
              </a:spcBef>
              <a:spcAft>
                <a:spcPts val="0"/>
              </a:spcAft>
              <a:buNone/>
            </a:pPr>
            <a:r>
              <a:rPr lang="ru" sz="1350">
                <a:solidFill>
                  <a:srgbClr val="000000"/>
                </a:solidFill>
                <a:latin typeface="Arial"/>
                <a:ea typeface="Arial"/>
                <a:cs typeface="Arial"/>
                <a:sym typeface="Arial"/>
              </a:rPr>
              <a:t>  animation-fill-mode: forwards;</a:t>
            </a:r>
            <a:endParaRPr sz="1350">
              <a:solidFill>
                <a:srgbClr val="000000"/>
              </a:solidFill>
              <a:latin typeface="Arial"/>
              <a:ea typeface="Arial"/>
              <a:cs typeface="Arial"/>
              <a:sym typeface="Arial"/>
            </a:endParaRPr>
          </a:p>
          <a:p>
            <a:pPr indent="0" lvl="0" marL="0" rtl="0" algn="l">
              <a:lnSpc>
                <a:spcPct val="135714"/>
              </a:lnSpc>
              <a:spcBef>
                <a:spcPts val="0"/>
              </a:spcBef>
              <a:spcAft>
                <a:spcPts val="0"/>
              </a:spcAft>
              <a:buNone/>
            </a:pPr>
            <a:r>
              <a:rPr lang="ru" sz="1350">
                <a:solidFill>
                  <a:srgbClr val="000000"/>
                </a:solidFill>
                <a:latin typeface="Arial"/>
                <a:ea typeface="Arial"/>
                <a:cs typeface="Arial"/>
                <a:sym typeface="Arial"/>
              </a:rPr>
              <a:t>}</a:t>
            </a:r>
            <a:endParaRPr sz="1350">
              <a:solidFill>
                <a:srgbClr val="000000"/>
              </a:solidFill>
              <a:latin typeface="Arial"/>
              <a:ea typeface="Arial"/>
              <a:cs typeface="Arial"/>
              <a:sym typeface="Arial"/>
            </a:endParaRPr>
          </a:p>
          <a:p>
            <a:pPr indent="0" lvl="0" marL="0" rtl="0" algn="l">
              <a:lnSpc>
                <a:spcPct val="95000"/>
              </a:lnSpc>
              <a:spcBef>
                <a:spcPts val="0"/>
              </a:spcBef>
              <a:spcAft>
                <a:spcPts val="1200"/>
              </a:spcAft>
              <a:buSzPts val="275"/>
              <a:buNone/>
            </a:pPr>
            <a:r>
              <a:t/>
            </a:r>
            <a:endParaRPr sz="1425">
              <a:solidFill>
                <a:srgbClr val="000000"/>
              </a:solidFill>
              <a:latin typeface="Arial"/>
              <a:ea typeface="Arial"/>
              <a:cs typeface="Arial"/>
              <a:sym typeface="Arial"/>
            </a:endParaRPr>
          </a:p>
        </p:txBody>
      </p:sp>
      <p:sp>
        <p:nvSpPr>
          <p:cNvPr id="559" name="Google Shape;559;p82"/>
          <p:cNvSpPr txBox="1"/>
          <p:nvPr/>
        </p:nvSpPr>
        <p:spPr>
          <a:xfrm flipH="1">
            <a:off x="365200" y="3814050"/>
            <a:ext cx="8409900" cy="5817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ru" sz="1200"/>
              <a:t>Порядок в краткой записи:</a:t>
            </a:r>
            <a:r>
              <a:rPr lang="ru" sz="1200"/>
              <a:t> animation-name, animation-duration, animation-timing-function, animation-delay, animation-iteration-count, animation-direction, animation-fill-mode</a:t>
            </a:r>
            <a:endParaRPr sz="1200"/>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83"/>
          <p:cNvSpPr txBox="1"/>
          <p:nvPr>
            <p:ph type="title"/>
          </p:nvPr>
        </p:nvSpPr>
        <p:spPr>
          <a:xfrm>
            <a:off x="484600" y="388175"/>
            <a:ext cx="8167800" cy="6762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sz="2800">
                <a:solidFill>
                  <a:srgbClr val="000000"/>
                </a:solidFill>
              </a:rPr>
              <a:t>3.11. </a:t>
            </a:r>
            <a:r>
              <a:rPr b="1" lang="ru" sz="2800">
                <a:solidFill>
                  <a:srgbClr val="303030"/>
                </a:solidFill>
                <a:highlight>
                  <a:srgbClr val="FFFFFF"/>
                </a:highlight>
              </a:rPr>
              <a:t>Множественные анимации</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latin typeface="Arial"/>
              <a:ea typeface="Arial"/>
              <a:cs typeface="Arial"/>
              <a:sym typeface="Arial"/>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303030"/>
              </a:solidFill>
              <a:highlight>
                <a:srgbClr val="FFFFFF"/>
              </a:highlight>
            </a:endParaRPr>
          </a:p>
          <a:p>
            <a:pPr indent="0" lvl="0" marL="0" rtl="0" algn="l">
              <a:lnSpc>
                <a:spcPct val="115000"/>
              </a:lnSpc>
              <a:spcBef>
                <a:spcPts val="1400"/>
              </a:spcBef>
              <a:spcAft>
                <a:spcPts val="0"/>
              </a:spcAft>
              <a:buNone/>
            </a:pPr>
            <a:r>
              <a:t/>
            </a:r>
            <a:endParaRPr b="1" sz="2800">
              <a:solidFill>
                <a:srgbClr val="000000"/>
              </a:solidFill>
            </a:endParaRPr>
          </a:p>
          <a:p>
            <a:pPr indent="0" lvl="0" marL="0" rtl="0" algn="l">
              <a:spcBef>
                <a:spcPts val="400"/>
              </a:spcBef>
              <a:spcAft>
                <a:spcPts val="0"/>
              </a:spcAft>
              <a:buNone/>
            </a:pPr>
            <a:r>
              <a:t/>
            </a:r>
            <a:endParaRPr/>
          </a:p>
        </p:txBody>
      </p:sp>
      <p:sp>
        <p:nvSpPr>
          <p:cNvPr id="565" name="Google Shape;565;p83"/>
          <p:cNvSpPr/>
          <p:nvPr/>
        </p:nvSpPr>
        <p:spPr>
          <a:xfrm>
            <a:off x="893325" y="1604350"/>
            <a:ext cx="7927200" cy="1165500"/>
          </a:xfrm>
          <a:prstGeom prst="rect">
            <a:avLst/>
          </a:prstGeom>
          <a:solidFill>
            <a:srgbClr val="EAD1D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66" name="Google Shape;566;p83"/>
          <p:cNvSpPr txBox="1"/>
          <p:nvPr>
            <p:ph idx="1" type="body"/>
          </p:nvPr>
        </p:nvSpPr>
        <p:spPr>
          <a:xfrm>
            <a:off x="484600" y="1989000"/>
            <a:ext cx="8167800" cy="1165500"/>
          </a:xfrm>
          <a:prstGeom prst="rect">
            <a:avLst/>
          </a:prstGeom>
          <a:solidFill>
            <a:schemeClr val="dk1"/>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ru" sz="1500">
                <a:solidFill>
                  <a:srgbClr val="303030"/>
                </a:solidFill>
                <a:latin typeface="Arial"/>
                <a:ea typeface="Arial"/>
                <a:cs typeface="Arial"/>
                <a:sym typeface="Arial"/>
              </a:rPr>
              <a:t>Для одного элемента можно задавать несколько анимаций, перечислив их названия через запятую:</a:t>
            </a:r>
            <a:endParaRPr sz="1500">
              <a:solidFill>
                <a:srgbClr val="303030"/>
              </a:solidFill>
              <a:latin typeface="Arial"/>
              <a:ea typeface="Arial"/>
              <a:cs typeface="Arial"/>
              <a:sym typeface="Arial"/>
            </a:endParaRPr>
          </a:p>
          <a:p>
            <a:pPr indent="0" lvl="0" marL="0" marR="190500" rtl="0" algn="l">
              <a:lnSpc>
                <a:spcPct val="150000"/>
              </a:lnSpc>
              <a:spcBef>
                <a:spcPts val="1100"/>
              </a:spcBef>
              <a:spcAft>
                <a:spcPts val="0"/>
              </a:spcAft>
              <a:buNone/>
            </a:pPr>
            <a:r>
              <a:rPr lang="ru" sz="1500">
                <a:solidFill>
                  <a:srgbClr val="669900"/>
                </a:solidFill>
                <a:latin typeface="Arial"/>
                <a:ea typeface="Arial"/>
                <a:cs typeface="Arial"/>
                <a:sym typeface="Arial"/>
              </a:rPr>
              <a:t>div</a:t>
            </a:r>
            <a:r>
              <a:rPr lang="ru" sz="1500">
                <a:solidFill>
                  <a:srgbClr val="303030"/>
                </a:solidFill>
                <a:latin typeface="Arial"/>
                <a:ea typeface="Arial"/>
                <a:cs typeface="Arial"/>
                <a:sym typeface="Arial"/>
              </a:rPr>
              <a:t> </a:t>
            </a:r>
            <a:r>
              <a:rPr lang="ru" sz="1500">
                <a:solidFill>
                  <a:srgbClr val="999999"/>
                </a:solidFill>
                <a:latin typeface="Arial"/>
                <a:ea typeface="Arial"/>
                <a:cs typeface="Arial"/>
                <a:sym typeface="Arial"/>
              </a:rPr>
              <a:t>{</a:t>
            </a:r>
            <a:r>
              <a:rPr lang="ru" sz="1500">
                <a:solidFill>
                  <a:srgbClr val="990055"/>
                </a:solidFill>
                <a:highlight>
                  <a:srgbClr val="D5A6BD"/>
                </a:highlight>
                <a:latin typeface="Arial"/>
                <a:ea typeface="Arial"/>
                <a:cs typeface="Arial"/>
                <a:sym typeface="Arial"/>
              </a:rPr>
              <a:t>animation</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shadow 1s ease-in-out 0.5s alternate</a:t>
            </a:r>
            <a:r>
              <a:rPr lang="ru" sz="1500">
                <a:solidFill>
                  <a:srgbClr val="999999"/>
                </a:solidFill>
                <a:latin typeface="Arial"/>
                <a:ea typeface="Arial"/>
                <a:cs typeface="Arial"/>
                <a:sym typeface="Arial"/>
              </a:rPr>
              <a:t>,</a:t>
            </a:r>
            <a:r>
              <a:rPr lang="ru" sz="1500">
                <a:solidFill>
                  <a:srgbClr val="303030"/>
                </a:solidFill>
                <a:latin typeface="Arial"/>
                <a:ea typeface="Arial"/>
                <a:cs typeface="Arial"/>
                <a:sym typeface="Arial"/>
              </a:rPr>
              <a:t> move 5s linear 2s</a:t>
            </a:r>
            <a:r>
              <a:rPr lang="ru" sz="1500">
                <a:solidFill>
                  <a:srgbClr val="999999"/>
                </a:solidFill>
                <a:latin typeface="Arial"/>
                <a:ea typeface="Arial"/>
                <a:cs typeface="Arial"/>
                <a:sym typeface="Arial"/>
              </a:rPr>
              <a:t>;}</a:t>
            </a:r>
            <a:endParaRPr sz="1500">
              <a:solidFill>
                <a:srgbClr val="999999"/>
              </a:solidFill>
              <a:latin typeface="Arial"/>
              <a:ea typeface="Arial"/>
              <a:cs typeface="Arial"/>
              <a:sym typeface="Arial"/>
            </a:endParaRPr>
          </a:p>
          <a:p>
            <a:pPr indent="0" lvl="0" marL="0" rtl="0" algn="just">
              <a:spcBef>
                <a:spcPts val="2300"/>
              </a:spcBef>
              <a:spcAft>
                <a:spcPts val="0"/>
              </a:spcAft>
              <a:buNone/>
            </a:pPr>
            <a:r>
              <a:t/>
            </a:r>
            <a:endParaRPr sz="1500">
              <a:solidFill>
                <a:srgbClr val="303030"/>
              </a:solidFill>
              <a:latin typeface="Arial"/>
              <a:ea typeface="Arial"/>
              <a:cs typeface="Arial"/>
              <a:sym typeface="Arial"/>
            </a:endParaRPr>
          </a:p>
          <a:p>
            <a:pPr indent="0" lvl="0" marL="0" rtl="0" algn="just">
              <a:spcBef>
                <a:spcPts val="1100"/>
              </a:spcBef>
              <a:spcAft>
                <a:spcPts val="0"/>
              </a:spcAft>
              <a:buNone/>
            </a:pPr>
            <a:r>
              <a:t/>
            </a:r>
            <a:endParaRPr sz="1500">
              <a:solidFill>
                <a:srgbClr val="303030"/>
              </a:solidFill>
              <a:latin typeface="Arial"/>
              <a:ea typeface="Arial"/>
              <a:cs typeface="Arial"/>
              <a:sym typeface="Arial"/>
            </a:endParaRPr>
          </a:p>
          <a:p>
            <a:pPr indent="0" lvl="0" marL="0" rtl="0" algn="just">
              <a:spcBef>
                <a:spcPts val="1100"/>
              </a:spcBef>
              <a:spcAft>
                <a:spcPts val="0"/>
              </a:spcAft>
              <a:buNone/>
            </a:pPr>
            <a:r>
              <a:t/>
            </a:r>
            <a:endParaRPr sz="1500">
              <a:solidFill>
                <a:srgbClr val="303030"/>
              </a:solidFill>
              <a:latin typeface="Arial"/>
              <a:ea typeface="Arial"/>
              <a:cs typeface="Arial"/>
              <a:sym typeface="Arial"/>
            </a:endParaRPr>
          </a:p>
          <a:p>
            <a:pPr indent="0" lvl="0" marL="0" rtl="0" algn="just">
              <a:spcBef>
                <a:spcPts val="1100"/>
              </a:spcBef>
              <a:spcAft>
                <a:spcPts val="0"/>
              </a:spcAft>
              <a:buNone/>
            </a:pPr>
            <a:r>
              <a:t/>
            </a:r>
            <a:endParaRPr sz="1500">
              <a:solidFill>
                <a:srgbClr val="303030"/>
              </a:solidFill>
              <a:latin typeface="Arial"/>
              <a:ea typeface="Arial"/>
              <a:cs typeface="Arial"/>
              <a:sym typeface="Arial"/>
            </a:endParaRPr>
          </a:p>
          <a:p>
            <a:pPr indent="0" lvl="0" marL="0" rtl="0" algn="just">
              <a:spcBef>
                <a:spcPts val="1100"/>
              </a:spcBef>
              <a:spcAft>
                <a:spcPts val="0"/>
              </a:spcAft>
              <a:buNone/>
            </a:pPr>
            <a:br>
              <a:rPr lang="ru" sz="1500">
                <a:solidFill>
                  <a:srgbClr val="303030"/>
                </a:solidFill>
                <a:latin typeface="Arial"/>
                <a:ea typeface="Arial"/>
                <a:cs typeface="Arial"/>
                <a:sym typeface="Arial"/>
              </a:rPr>
            </a:br>
            <a:endParaRPr sz="1500">
              <a:solidFill>
                <a:srgbClr val="30303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1100"/>
              </a:spcBef>
              <a:spcAft>
                <a:spcPts val="0"/>
              </a:spcAft>
              <a:buNone/>
            </a:pPr>
            <a:r>
              <a:t/>
            </a:r>
            <a:endParaRPr sz="1500">
              <a:solidFill>
                <a:srgbClr val="000000"/>
              </a:solidFill>
              <a:latin typeface="Arial"/>
              <a:ea typeface="Arial"/>
              <a:cs typeface="Arial"/>
              <a:sym typeface="Arial"/>
            </a:endParaRPr>
          </a:p>
          <a:p>
            <a:pPr indent="0" lvl="0" marL="0" rtl="0" algn="just">
              <a:spcBef>
                <a:spcPts val="0"/>
              </a:spcBef>
              <a:spcAft>
                <a:spcPts val="0"/>
              </a:spcAft>
              <a:buNone/>
            </a:pPr>
            <a:r>
              <a:t/>
            </a:r>
            <a:endParaRPr sz="1500">
              <a:solidFill>
                <a:srgbClr val="000000"/>
              </a:solidFill>
              <a:latin typeface="Arial"/>
              <a:ea typeface="Arial"/>
              <a:cs typeface="Arial"/>
              <a:sym typeface="Arial"/>
            </a:endParaRPr>
          </a:p>
          <a:p>
            <a:pPr indent="0" lvl="0" marL="0" rtl="0" algn="just">
              <a:spcBef>
                <a:spcPts val="1100"/>
              </a:spcBef>
              <a:spcAft>
                <a:spcPts val="0"/>
              </a:spcAft>
              <a:buNone/>
            </a:pPr>
            <a:r>
              <a:rPr lang="ru" sz="1500">
                <a:solidFill>
                  <a:srgbClr val="000000"/>
                </a:solidFill>
                <a:latin typeface="Arial"/>
                <a:ea typeface="Arial"/>
                <a:cs typeface="Arial"/>
                <a:sym typeface="Arial"/>
              </a:rPr>
              <a:t> </a:t>
            </a:r>
            <a:endParaRPr sz="1500">
              <a:solidFill>
                <a:srgbClr val="000000"/>
              </a:solidFill>
              <a:latin typeface="Arial"/>
              <a:ea typeface="Arial"/>
              <a:cs typeface="Arial"/>
              <a:sym typeface="Arial"/>
            </a:endParaRPr>
          </a:p>
          <a:p>
            <a:pPr indent="0" lvl="0" marL="0" rtl="0" algn="just">
              <a:lnSpc>
                <a:spcPct val="95000"/>
              </a:lnSpc>
              <a:spcBef>
                <a:spcPts val="1100"/>
              </a:spcBef>
              <a:spcAft>
                <a:spcPts val="1100"/>
              </a:spcAft>
              <a:buSzPts val="1018"/>
              <a:buNone/>
            </a:pPr>
            <a:r>
              <a:t/>
            </a:r>
            <a:endParaRPr sz="1500">
              <a:solidFill>
                <a:srgbClr val="000000"/>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8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ru" sz="2900">
                <a:solidFill>
                  <a:srgbClr val="000000"/>
                </a:solidFill>
              </a:rPr>
              <a:t>Заключение</a:t>
            </a:r>
            <a:endParaRPr b="1" sz="2900">
              <a:solidFill>
                <a:srgbClr val="000000"/>
              </a:solidFill>
            </a:endParaRPr>
          </a:p>
        </p:txBody>
      </p:sp>
      <p:sp>
        <p:nvSpPr>
          <p:cNvPr id="572" name="Google Shape;572;p8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sz="1500">
                <a:solidFill>
                  <a:srgbClr val="000000"/>
                </a:solidFill>
                <a:latin typeface="Arial"/>
                <a:ea typeface="Arial"/>
                <a:cs typeface="Arial"/>
                <a:sym typeface="Arial"/>
              </a:rPr>
              <a:t>CSS-трансформации и анимации — это инструменты для создания интерактивных визуальных эффектов без JavaScript: </a:t>
            </a:r>
            <a:r>
              <a:rPr lang="ru" sz="1500">
                <a:solidFill>
                  <a:srgbClr val="000000"/>
                </a:solidFill>
                <a:highlight>
                  <a:srgbClr val="D5A6BD"/>
                </a:highlight>
                <a:latin typeface="Arial"/>
                <a:ea typeface="Arial"/>
                <a:cs typeface="Arial"/>
                <a:sym typeface="Arial"/>
              </a:rPr>
              <a:t>transform </a:t>
            </a:r>
            <a:r>
              <a:rPr lang="ru" sz="1500">
                <a:solidFill>
                  <a:srgbClr val="000000"/>
                </a:solidFill>
                <a:latin typeface="Arial"/>
                <a:ea typeface="Arial"/>
                <a:cs typeface="Arial"/>
                <a:sym typeface="Arial"/>
              </a:rPr>
              <a:t>изменяет вид элемента (перемещение, поворот, масштаб, наклон) без влияния на поток документа, </a:t>
            </a:r>
            <a:r>
              <a:rPr lang="ru" sz="1500">
                <a:solidFill>
                  <a:srgbClr val="000000"/>
                </a:solidFill>
                <a:highlight>
                  <a:srgbClr val="D5A6BD"/>
                </a:highlight>
                <a:latin typeface="Arial"/>
                <a:ea typeface="Arial"/>
                <a:cs typeface="Arial"/>
                <a:sym typeface="Arial"/>
              </a:rPr>
              <a:t>transition </a:t>
            </a:r>
            <a:r>
              <a:rPr lang="ru" sz="1500">
                <a:solidFill>
                  <a:srgbClr val="000000"/>
                </a:solidFill>
                <a:latin typeface="Arial"/>
                <a:ea typeface="Arial"/>
                <a:cs typeface="Arial"/>
                <a:sym typeface="Arial"/>
              </a:rPr>
              <a:t>обеспечивает плавные переходы между двумя состояниями при событиях (hover, click), а </a:t>
            </a:r>
            <a:r>
              <a:rPr lang="ru" sz="1500">
                <a:solidFill>
                  <a:srgbClr val="000000"/>
                </a:solidFill>
                <a:highlight>
                  <a:srgbClr val="D5A6BD"/>
                </a:highlight>
                <a:latin typeface="Arial"/>
                <a:ea typeface="Arial"/>
                <a:cs typeface="Arial"/>
                <a:sym typeface="Arial"/>
              </a:rPr>
              <a:t>animation </a:t>
            </a:r>
            <a:r>
              <a:rPr lang="ru" sz="1500">
                <a:solidFill>
                  <a:srgbClr val="000000"/>
                </a:solidFill>
                <a:latin typeface="Arial"/>
                <a:ea typeface="Arial"/>
                <a:cs typeface="Arial"/>
                <a:sym typeface="Arial"/>
              </a:rPr>
              <a:t>воспроизводит сложные многокадровые сценарии с автостартом и зацикливанием.</a:t>
            </a:r>
            <a:endParaRPr sz="150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