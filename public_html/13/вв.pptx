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DM Sans Medium" pitchFamily="2" charset="0"/>
      <p:regular r:id="rId18"/>
    </p:embeddedFont>
    <p:embeddedFont>
      <p:font typeface="Inter" panose="020B060402020202020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78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69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73972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Продвинутые техники CSS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Мощные инструменты для создания сложной верстки без JavaScript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Докладчики: Барабанов Илья, Волков Иван</a:t>
            </a:r>
            <a:endParaRPr lang="en-US" sz="17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4638FF-4EE8-D73F-5C63-324CECFB8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4879" y="7624726"/>
            <a:ext cx="1714739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618" y="1375529"/>
            <a:ext cx="8010763" cy="1012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CSS-счётчики: автоматическая нумерация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66618" y="2560915"/>
            <a:ext cx="8010763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CSS-счётчики позволяют управлять нумерацией элементов автоматически, без использования JavaScript. Это особенно полезно для создания оглавлений, нумерованных списков и сложной документации.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66618" y="3356729"/>
            <a:ext cx="3947636" cy="1912858"/>
          </a:xfrm>
          <a:prstGeom prst="roundRect">
            <a:avLst>
              <a:gd name="adj" fmla="val 1270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728424" y="3518535"/>
            <a:ext cx="485656" cy="485656"/>
          </a:xfrm>
          <a:prstGeom prst="roundRect">
            <a:avLst>
              <a:gd name="adj" fmla="val 18826259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012" y="3652004"/>
            <a:ext cx="218480" cy="218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8424" y="4119682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counter-reset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28424" y="4441984"/>
            <a:ext cx="3624024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 или сбрасывает счётчик. Принимает имя счётчика и начальное значение (по умолчанию 0).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629745" y="3356729"/>
            <a:ext cx="3947636" cy="1912858"/>
          </a:xfrm>
          <a:prstGeom prst="roundRect">
            <a:avLst>
              <a:gd name="adj" fmla="val 1270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/>
          <p:cNvSpPr/>
          <p:nvPr/>
        </p:nvSpPr>
        <p:spPr>
          <a:xfrm>
            <a:off x="4791551" y="3518535"/>
            <a:ext cx="485656" cy="485656"/>
          </a:xfrm>
          <a:prstGeom prst="roundRect">
            <a:avLst>
              <a:gd name="adj" fmla="val 18826259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25139" y="3652004"/>
            <a:ext cx="218480" cy="218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91551" y="4119682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counter-increment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791551" y="4441984"/>
            <a:ext cx="3624024" cy="443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Увеличивает значение счётчика. Принимает имя счётчика и шаг (по умолчанию 1).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66618" y="5385078"/>
            <a:ext cx="8010763" cy="1468993"/>
          </a:xfrm>
          <a:prstGeom prst="roundRect">
            <a:avLst>
              <a:gd name="adj" fmla="val 1653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1"/>
          <p:cNvSpPr/>
          <p:nvPr/>
        </p:nvSpPr>
        <p:spPr>
          <a:xfrm>
            <a:off x="728424" y="5546884"/>
            <a:ext cx="485656" cy="485656"/>
          </a:xfrm>
          <a:prstGeom prst="roundRect">
            <a:avLst>
              <a:gd name="adj" fmla="val 18826259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012" y="5680353"/>
            <a:ext cx="218480" cy="218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8424" y="6148030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counter()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28424" y="6470333"/>
            <a:ext cx="7687151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значения через свойство content в псевдоэлементах ::before или ::after.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920" y="1203603"/>
            <a:ext cx="7752159" cy="124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Вложенные счётчики: иерархия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346835" y="2881908"/>
            <a:ext cx="2982635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Как это работает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95920" y="3429000"/>
            <a:ext cx="3633549" cy="149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Вложенные счётчики позволяют создавать сложную иерархическую нумерацию, подобную той, что используется в документации: </a:t>
            </a:r>
            <a:r>
              <a:rPr lang="en-US" sz="15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1.1, 1.2, 1.2.1</a:t>
            </a: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5920" y="5078254"/>
            <a:ext cx="3633549" cy="179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Используется функция </a:t>
            </a: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counters(имя_счётчика, "разделитель")</a:t>
            </a: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вместо обычного counter(). Она автоматически собирает значения всех вложенных счётчиков с указанным именем.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822150" y="2881908"/>
            <a:ext cx="2982635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Пример кода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4822150" y="3450788"/>
            <a:ext cx="3633549" cy="2686050"/>
          </a:xfrm>
          <a:prstGeom prst="roundRect">
            <a:avLst>
              <a:gd name="adj" fmla="val 1110"/>
            </a:avLst>
          </a:prstGeom>
          <a:solidFill>
            <a:srgbClr val="3A3E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4812268" y="3450788"/>
            <a:ext cx="3653314" cy="2686050"/>
          </a:xfrm>
          <a:prstGeom prst="roundRect">
            <a:avLst>
              <a:gd name="adj" fmla="val 1110"/>
            </a:avLst>
          </a:prstGeom>
          <a:solidFill>
            <a:srgbClr val="3A3E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5011103" y="3599855"/>
            <a:ext cx="3255645" cy="23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{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counter-reset: subsection;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h3::before {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counter-increment: subsection;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content: counters(subsection, ".") " ";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519" y="833557"/>
            <a:ext cx="6275189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Многоколоночный текст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26519" y="1767126"/>
            <a:ext cx="7690961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Разбивка блочного контента на несколько колонок для создания газетной верстки.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26519" y="2928461"/>
            <a:ext cx="3750469" cy="2142173"/>
          </a:xfrm>
          <a:prstGeom prst="roundRect">
            <a:avLst>
              <a:gd name="adj" fmla="val 5122"/>
            </a:avLst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726519" y="2905601"/>
            <a:ext cx="3750469" cy="91440"/>
          </a:xfrm>
          <a:prstGeom prst="roundRect">
            <a:avLst>
              <a:gd name="adj" fmla="val 34056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2290405" y="2617113"/>
            <a:ext cx="622697" cy="622697"/>
          </a:xfrm>
          <a:prstGeom prst="roundRect">
            <a:avLst>
              <a:gd name="adj" fmla="val 146845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2477214" y="2772727"/>
            <a:ext cx="249079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56905" y="3447455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column-count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56905" y="3885843"/>
            <a:ext cx="3289697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Задает количество колонок. Принимает целые числа или auto.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66893" y="2928461"/>
            <a:ext cx="3750588" cy="2142173"/>
          </a:xfrm>
          <a:prstGeom prst="roundRect">
            <a:avLst>
              <a:gd name="adj" fmla="val 5122"/>
            </a:avLst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4666893" y="2905601"/>
            <a:ext cx="3750588" cy="91440"/>
          </a:xfrm>
          <a:prstGeom prst="roundRect">
            <a:avLst>
              <a:gd name="adj" fmla="val 34056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230779" y="2617113"/>
            <a:ext cx="622697" cy="622697"/>
          </a:xfrm>
          <a:prstGeom prst="roundRect">
            <a:avLst>
              <a:gd name="adj" fmla="val 146845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417588" y="2772727"/>
            <a:ext cx="249079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4897279" y="3447455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column-gap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897279" y="3885843"/>
            <a:ext cx="3289816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Расстояние между колонками. Единицы измерения: px, em, % или normal.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6519" y="5571887"/>
            <a:ext cx="7690961" cy="1824038"/>
          </a:xfrm>
          <a:prstGeom prst="roundRect">
            <a:avLst>
              <a:gd name="adj" fmla="val 6016"/>
            </a:avLst>
          </a:prstGeom>
          <a:solidFill>
            <a:srgbClr val="2D31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726519" y="5549027"/>
            <a:ext cx="7690961" cy="91440"/>
          </a:xfrm>
          <a:prstGeom prst="roundRect">
            <a:avLst>
              <a:gd name="adj" fmla="val 34056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4260652" y="5260538"/>
            <a:ext cx="622697" cy="622697"/>
          </a:xfrm>
          <a:prstGeom prst="roundRect">
            <a:avLst>
              <a:gd name="adj" fmla="val 146845"/>
            </a:avLst>
          </a:prstGeom>
          <a:solidFill>
            <a:srgbClr val="AC9E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4447461" y="5416153"/>
            <a:ext cx="249079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56905" y="6090880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columns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56905" y="6529268"/>
            <a:ext cx="723018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Короткая запись, объединяющая column-width и column-count (например, columns: 200px 3).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724138"/>
            <a:ext cx="8194596" cy="64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Клиппинг: обрезание элементов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447" y="1741051"/>
            <a:ext cx="13189506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Свойство </a:t>
            </a:r>
            <a:r>
              <a:rPr 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clip-path</a:t>
            </a: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скрывает часть элемента, оставляя видимой только определенную область или фигуру. Это мощный инструмент для создания нестандартных форм без использования изображений.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447" y="2579370"/>
            <a:ext cx="411718" cy="4117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447" y="3224570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circle()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20447" y="3658195"/>
            <a:ext cx="647795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Круглая область обрезания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881" y="2579370"/>
            <a:ext cx="411718" cy="4117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1881" y="3224570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ellipse()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31881" y="3658195"/>
            <a:ext cx="64780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Эллиптическая область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447" y="4345900"/>
            <a:ext cx="411718" cy="4117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0447" y="4991100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polygon()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20447" y="5424726"/>
            <a:ext cx="647795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Многоугольная область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1881" y="4345900"/>
            <a:ext cx="411718" cy="4117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1881" y="4991100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inset()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431881" y="5424726"/>
            <a:ext cx="64780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Внутреннее обрезание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0447" y="6112431"/>
            <a:ext cx="411718" cy="4117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0447" y="6757630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path()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720447" y="7191256"/>
            <a:ext cx="647795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Сложные SVG-контуры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1881" y="6112431"/>
            <a:ext cx="411718" cy="4117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31881" y="6757630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url()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7431881" y="7191256"/>
            <a:ext cx="64780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Ссылка на SVG-маску</a:t>
            </a:r>
            <a:endParaRPr lang="en-US" sz="16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4EDB371-4FF1-3805-DA13-2291FC4DC4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75503" y="7638163"/>
            <a:ext cx="1714739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4930" y="1527334"/>
            <a:ext cx="7906941" cy="110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4300"/>
              </a:lnSpc>
              <a:buNone/>
            </a:pPr>
            <a:r>
              <a:rPr lang="en-US" sz="3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Маскирование: творческое обрезание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4930" y="2975967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Как работает mask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104930" y="3444954"/>
            <a:ext cx="4988481" cy="1257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Свойство </a:t>
            </a: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использует изображение (обычно с прозрачным фоном или градиент) для скрытия части элемента. В отличие от clip-path, где видимость определяется формой, здесь видимость зависит от прозрачности маски.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04930" y="4826794"/>
            <a:ext cx="4988481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Там, где маска непрозрачна — элемент виден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Там, где маска прозрачна — элемент скрыт.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32275" y="2975967"/>
            <a:ext cx="2487097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Значения mask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1532275" y="3444954"/>
            <a:ext cx="2487097" cy="215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url() — путь к изображению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linear-gradient() — линейный градиент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radial-gradient() — радиальный градиент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— отсутствие маски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4930" y="5804892"/>
            <a:ext cx="7906941" cy="897255"/>
          </a:xfrm>
          <a:prstGeom prst="roundRect">
            <a:avLst>
              <a:gd name="adj" fmla="val 2955"/>
            </a:avLst>
          </a:prstGeom>
          <a:solidFill>
            <a:srgbClr val="11074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618" y="6053971"/>
            <a:ext cx="220861" cy="1766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9168" y="5986701"/>
            <a:ext cx="7156013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Мощность: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mask — это шорткат, объединяющий mask-image, mask-mode, mask-repeat, mask-position и другие свойства.</a:t>
            </a:r>
            <a:endParaRPr lang="en-US" sz="13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1A5B1D-E990-7FAA-5E55-9431E247B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5661" y="7705652"/>
            <a:ext cx="1714739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79" y="1324570"/>
            <a:ext cx="675060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Кастомизация маркера списка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5079" y="2109192"/>
            <a:ext cx="787384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контроль над внешним видом "буллитов" в списках </a:t>
            </a: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79" y="2541270"/>
            <a:ext cx="907256" cy="10887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87473" y="272272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::marker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687473" y="3093244"/>
            <a:ext cx="682144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Псевдоэлемент для прямой стилизации маркера (цвет, шрифт, размер)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79" y="3629978"/>
            <a:ext cx="907256" cy="10887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87473" y="381142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list-style-type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687473" y="4181951"/>
            <a:ext cx="682144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 маркера: disc, circle, square, decimal и другие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79" y="4718685"/>
            <a:ext cx="907256" cy="10887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87473" y="490013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list-style-image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687473" y="5270659"/>
            <a:ext cx="682144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Пользовательское изображение вместо стандартного маркера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35079" y="5970627"/>
            <a:ext cx="7873841" cy="934283"/>
          </a:xfrm>
          <a:prstGeom prst="roundRect">
            <a:avLst>
              <a:gd name="adj" fmla="val 2913"/>
            </a:avLst>
          </a:prstGeom>
          <a:solidFill>
            <a:srgbClr val="11074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31" y="6229112"/>
            <a:ext cx="226814" cy="18145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24796" y="6161127"/>
            <a:ext cx="71026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list-style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короткая запись, объединяющая list-style-type, list-style-position и list-style-image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2216" y="925116"/>
            <a:ext cx="75343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Практическое применение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87523"/>
            <a:ext cx="3048000" cy="30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62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Документация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52755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Автоматическая нумерация разделов и подразделов с помощью счётчиков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087523"/>
            <a:ext cx="3048119" cy="30481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5362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Публикации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85287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Многоколоночная верстка для газетных и журнальных макетов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087523"/>
            <a:ext cx="3048119" cy="30481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362456"/>
            <a:ext cx="30370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Современный дизайн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85287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Необычные формы через clip-path и маски для визуального выделения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087523"/>
            <a:ext cx="3048119" cy="30481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5362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UI-компоненты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85287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Стилизованные списки для интерфейсов и пользовательских форм</a:t>
            </a:r>
            <a:endParaRPr lang="en-US" sz="17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DF999E3-5F41-FC7C-E821-51785CE647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15661" y="7596469"/>
            <a:ext cx="1714739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035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Сравнение свойств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793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clip-path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831431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 геометрические формы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Поддержка базовых фигур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SVG-контуры через path()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Анимация не всегда поддерживается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1793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mask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4856321" y="3831431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Использует изображения и градиенты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Гибкость в дизайне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Анимация через градиенты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Требует прозрачности в изображении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8133"/>
            <a:ext cx="7180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Благодарим за внимание!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70540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20604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Ключевые навыки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08777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нумерацией, многоколоночная верстка, создание нестандартных форм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370540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443776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Следующий шаг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08777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применения этих техник в реальных проектах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370540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866948" y="35973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Документация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08777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MDN Web Docs — полное описание всех CSS-свойств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584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Докладчики: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Барабанов Илья, Волков Иван</a:t>
            </a:r>
            <a:endParaRPr lang="en-US" sz="17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AA5587C-E42D-19A3-47FF-DB41B852D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141" y="6594359"/>
            <a:ext cx="5074259" cy="15504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CCAF1B0D-6219-20EB-30A2-D8E3488E6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09" y="656974"/>
            <a:ext cx="12349655" cy="706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Блок 4. Практика: Задания для самостоятельной работы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Согласно требованиям, здесь мы готовим заготовки и описываем задачи на 5–15 минут. Ответы к ним в репозиторий добавлять не нужно, но вы должны уметь их решить «без шпаргалок».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Задание №1: "Фигурные изображения"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Задача: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Используя свойство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clip-path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превратите обычное квадратное изображение в восьмиугольник (октагон).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Заготовка: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Создайте файл task1.html с тегом &lt;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img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Требование: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Использовать функцию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polygon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Время: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10 минут.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Задание №2: "Газетная колонка"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Задача: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Реализовать адаптивную раскладку текста. Текст должен автоматически разбиваться на колонки шириной не менее 250px, а между колонками должна появиться разделительная линия.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Заготовка: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Файл task2.html с длинным текстом в теге &lt;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article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Требование: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Использовать короткую запись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columns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 свойство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column-rule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Время: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5 минут.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Задание №3: "Автоматическое оглавление"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Задача: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Настроить стили так, чтобы перед каждым заголовком &lt;h2&gt; автоматически выводился номер раздела в формате "Раздел №".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Заготовка: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Файл task3.html с несколькими заголовками &lt;h2&gt;.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Требование: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Использовать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counter-reset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counter-increment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псевдоэлемент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::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before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Время: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15 минут.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7800F0-A264-19B8-C678-107FF9FF0927}"/>
              </a:ext>
            </a:extLst>
          </p:cNvPr>
          <p:cNvSpPr/>
          <p:nvPr/>
        </p:nvSpPr>
        <p:spPr>
          <a:xfrm>
            <a:off x="12349655" y="7284028"/>
            <a:ext cx="2130136" cy="872836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19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90</TotalTime>
  <Words>787</Words>
  <Application>Microsoft Office PowerPoint</Application>
  <PresentationFormat>Произвольный</PresentationFormat>
  <Paragraphs>125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DM Sans Medium</vt:lpstr>
      <vt:lpstr>Arial</vt:lpstr>
      <vt:lpstr>Consolas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Илья Барабанов</cp:lastModifiedBy>
  <cp:revision>7</cp:revision>
  <dcterms:created xsi:type="dcterms:W3CDTF">2026-03-05T11:46:21Z</dcterms:created>
  <dcterms:modified xsi:type="dcterms:W3CDTF">2026-03-05T13:17:16Z</dcterms:modified>
</cp:coreProperties>
</file>